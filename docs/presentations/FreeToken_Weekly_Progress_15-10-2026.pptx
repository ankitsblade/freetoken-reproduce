
<file path=[Content_Types].xml><?xml version="1.0" encoding="utf-8"?>
<ns0:Types xmlns:ns0="http://schemas.openxmlformats.org/package/2006/content-types">
  <ns0:Default Extension="fntdata" ContentType="application/x-fontdata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  <ns0:Override PartName="/ppt/slides/slide16.xml" ContentType="application/vnd.openxmlformats-officedocument.presentationml.slide+xml"/>
  <ns0:Override PartName="/ppt/notesSlides/notesSlide16.xml" ContentType="application/vnd.openxmlformats-officedocument.presentationml.notesSlide+xml"/>
  <ns0:Override PartName="/ppt/slides/slide17.xml" ContentType="application/vnd.openxmlformats-officedocument.presentationml.slide+xml"/>
  <ns0:Override PartName="/ppt/notesSlides/notesSlide17.xml" ContentType="application/vnd.openxmlformats-officedocument.presentationml.notesSlide+xml"/>
  <ns0:Override PartName="/ppt/slides/slide18.xml" ContentType="application/vnd.openxmlformats-officedocument.presentationml.slide+xml"/>
  <ns0:Override PartName="/ppt/notesSlides/notesSlide18.xml" ContentType="application/vnd.openxmlformats-officedocument.presentationml.notesSlide+xml"/>
  <ns0:Override PartName="/ppt/slides/slide19.xml" ContentType="application/vnd.openxmlformats-officedocument.presentationml.slide+xml"/>
  <ns0:Override PartName="/ppt/notesSlides/notesSlide19.xml" ContentType="application/vnd.openxmlformats-officedocument.presentationml.notesSlide+xml"/>
  <ns0:Override PartName="/ppt/slides/slide20.xml" ContentType="application/vnd.openxmlformats-officedocument.presentationml.slide+xml"/>
  <ns0:Override PartName="/ppt/notesSlides/notesSlide20.xml" ContentType="application/vnd.openxmlformats-officedocument.presentationml.notesSlide+xml"/>
  <ns0:Override PartName="/ppt/slides/slide21.xml" ContentType="application/vnd.openxmlformats-officedocument.presentationml.slide+xml"/>
  <ns0:Override PartName="/ppt/notesSlides/notesSlide21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2.xml" ContentType="application/vnd.openxmlformats-officedocument.presentationml.notesSlide+xml"/>
  <ns0:Override PartName="/ppt/slides/slide23.xml" ContentType="application/vnd.openxmlformats-officedocument.presentationml.slide+xml"/>
  <ns0:Override PartName="/ppt/notesSlides/notesSlide23.xml" ContentType="application/vnd.openxmlformats-officedocument.presentationml.notesSlide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embedTrueTypeFonts="1">
  <p:sldMasterIdLst>
    <p:sldMasterId id="2147483648" r:id="rId1"/>
  </p:sldMasterIdLst>
  <p:notesMasterIdLst>
    <p:notesMasterId r:id="rId19"/>
  </p:notesMasterIdLst>
  <p:sldIdLst>
    <p:sldId id="301" r:id="rIdWeekSlide1"/>
    <p:sldId id="302" r:id="rIdWeekSlide2"/>
    <p:sldId id="303" r:id="rIdWeekSlide3"/>
    <p:sldId id="304" r:id="rIdWeekSlide4"/>
    <p:sldId id="305" r:id="rIdWeekSlide5"/>
    <p:sldId id="306" r:id="rIdWeekSlide6"/>
    <p:sldId id="307" r:id="rIdWeekSlide7"/>
    <p:sldId id="308" r:id="rIdWeekSlide8"/>
    <p:sldId id="309" r:id="rIdWeekSlide9"/>
    <p:sldId id="310" r:id="rIdWeekSlide10"/>
    <p:sldId id="311" r:id="rIdWeekSlide11"/>
    <p:sldId id="312" r:id="rIdWeekSlide12"/>
    <p:sldId id="313" r:id="rIdWeekSlide13"/>
    <p:sldId id="314" r:id="rIdWeekSlide14"/>
    <p:sldId id="315" r:id="rIdWeekSlide15"/>
    <p:sldId id="316" r:id="rIdWeekSlide16"/>
    <p:sldId id="317" r:id="rIdWeekSlide17"/>
    <p:sldId id="318" r:id="rIdWeekSlide18"/>
    <p:sldId id="319" r:id="rIdWeekSlide19"/>
    <p:sldId id="320" r:id="rIdWeekSlide20"/>
    <p:sldId id="321" r:id="rIdWeekSlide21"/>
    <p:sldId id="322" r:id="rIdWeekSlide22"/>
    <p:sldId id="323" r:id="rIdWeekSlide23"/>
  </p:sldIdLst>
  <p:sldSz cx="12192000" cy="6858000"/>
  <p:notesSz cx="6858000" cy="9144000"/>
  <p:embeddedFontLst>
    <p:embeddedFont>
      <p:font typeface="Geist" panose="020B0604020202020204" charset="0"/>
      <p:regular r:id="rId20"/>
    </p:embeddedFont>
    <p:embeddedFont>
      <p:font typeface="Geist SemiBold" panose="020B0604020202020204" charset="0"/>
      <p:regular r:id="rId21"/>
    </p:embeddedFont>
    <p:embeddedFont>
      <p:font typeface="Newsreader" panose="020B0604020202020204" charset="0"/>
      <p:regular r:id="rId22"/>
    </p:embeddedFont>
    <p:embeddedFont>
      <p:font typeface="Newsreader Medium" panose="020B0604020202020204" charset="0"/>
      <p:regular r:id="rId23"/>
    </p:embeddedFont>
  </p:embeddedFont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26" Type="http://schemas.openxmlformats.org/officeDocument/2006/relationships/theme" Target="theme/theme1.xml" /><ns0:Relationship Id="rId21" Type="http://schemas.openxmlformats.org/officeDocument/2006/relationships/font" Target="fonts/font2.fntdata" /><ns0:Relationship Id="rId25" Type="http://schemas.openxmlformats.org/officeDocument/2006/relationships/viewProps" Target="viewProps.xml" /><ns0:Relationship Id="rId20" Type="http://schemas.openxmlformats.org/officeDocument/2006/relationships/font" Target="fonts/font1.fntdata" /><ns0:Relationship Id="rId1" Type="http://schemas.openxmlformats.org/officeDocument/2006/relationships/slideMaster" Target="slideMasters/slideMaster1.xml" /><ns0:Relationship Id="rId24" Type="http://schemas.openxmlformats.org/officeDocument/2006/relationships/presProps" Target="presProps.xml" /><ns0:Relationship Id="rId23" Type="http://schemas.openxmlformats.org/officeDocument/2006/relationships/font" Target="fonts/font4.fntdata" /><ns0:Relationship Id="rId19" Type="http://schemas.openxmlformats.org/officeDocument/2006/relationships/notesMaster" Target="notesMasters/notesMaster1.xml" /><ns0:Relationship Id="rId22" Type="http://schemas.openxmlformats.org/officeDocument/2006/relationships/font" Target="fonts/font3.fntdata" /><ns0:Relationship Id="rId27" Type="http://schemas.openxmlformats.org/officeDocument/2006/relationships/tableStyles" Target="tableStyles.xml" />  <ns0:Relationship Id="rIdWeekSlide1" Type="http://schemas.openxmlformats.org/officeDocument/2006/relationships/slide" Target="slides/slide1.xml" /><ns0:Relationship Id="rIdWeekSlide2" Type="http://schemas.openxmlformats.org/officeDocument/2006/relationships/slide" Target="slides/slide2.xml" /><ns0:Relationship Id="rIdWeekSlide3" Type="http://schemas.openxmlformats.org/officeDocument/2006/relationships/slide" Target="slides/slide3.xml" /><ns0:Relationship Id="rIdWeekSlide4" Type="http://schemas.openxmlformats.org/officeDocument/2006/relationships/slide" Target="slides/slide4.xml" /><ns0:Relationship Id="rIdWeekSlide5" Type="http://schemas.openxmlformats.org/officeDocument/2006/relationships/slide" Target="slides/slide5.xml" /><ns0:Relationship Id="rIdWeekSlide6" Type="http://schemas.openxmlformats.org/officeDocument/2006/relationships/slide" Target="slides/slide6.xml" /><ns0:Relationship Id="rIdWeekSlide7" Type="http://schemas.openxmlformats.org/officeDocument/2006/relationships/slide" Target="slides/slide7.xml" /><ns0:Relationship Id="rIdWeekSlide8" Type="http://schemas.openxmlformats.org/officeDocument/2006/relationships/slide" Target="slides/slide8.xml" /><ns0:Relationship Id="rIdWeekSlide9" Type="http://schemas.openxmlformats.org/officeDocument/2006/relationships/slide" Target="slides/slide9.xml" /><ns0:Relationship Id="rIdWeekSlide10" Type="http://schemas.openxmlformats.org/officeDocument/2006/relationships/slide" Target="slides/slide10.xml" /><ns0:Relationship Id="rIdWeekSlide11" Type="http://schemas.openxmlformats.org/officeDocument/2006/relationships/slide" Target="slides/slide11.xml" /><ns0:Relationship Id="rIdWeekSlide12" Type="http://schemas.openxmlformats.org/officeDocument/2006/relationships/slide" Target="slides/slide12.xml" /><ns0:Relationship Id="rIdWeekSlide13" Type="http://schemas.openxmlformats.org/officeDocument/2006/relationships/slide" Target="slides/slide13.xml" /><ns0:Relationship Id="rIdWeekSlide14" Type="http://schemas.openxmlformats.org/officeDocument/2006/relationships/slide" Target="slides/slide14.xml" /><ns0:Relationship Id="rIdWeekSlide15" Type="http://schemas.openxmlformats.org/officeDocument/2006/relationships/slide" Target="slides/slide15.xml" /><ns0:Relationship Id="rIdWeekSlide16" Type="http://schemas.openxmlformats.org/officeDocument/2006/relationships/slide" Target="slides/slide16.xml" /><ns0:Relationship Id="rIdWeekSlide17" Type="http://schemas.openxmlformats.org/officeDocument/2006/relationships/slide" Target="slides/slide17.xml" /><ns0:Relationship Id="rIdWeekSlide18" Type="http://schemas.openxmlformats.org/officeDocument/2006/relationships/slide" Target="slides/slide18.xml" /><ns0:Relationship Id="rIdWeekSlide19" Type="http://schemas.openxmlformats.org/officeDocument/2006/relationships/slide" Target="slides/slide19.xml" /><ns0:Relationship Id="rIdWeekSlide20" Type="http://schemas.openxmlformats.org/officeDocument/2006/relationships/slide" Target="slides/slide20.xml" /><ns0:Relationship Id="rIdWeekSlide21" Type="http://schemas.openxmlformats.org/officeDocument/2006/relationships/slide" Target="slides/slide21.xml" /><ns0:Relationship Id="rIdWeekSlide22" Type="http://schemas.openxmlformats.org/officeDocument/2006/relationships/slide" Target="slides/slide22.xml" /><ns0:Relationship Id="rIdWeekSlide23" Type="http://schemas.openxmlformats.org/officeDocument/2006/relationships/slide" Target="slides/slide23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slide" Target="../slides/slide1.xml" /><ns0:Relationship Id="rId1" Type="http://schemas.openxmlformats.org/officeDocument/2006/relationships/notesMaster" Target="../notesMasters/notesMaster1.xml" /></ns0:Relationships>
</file>

<file path=ppt/notesSlides/_rels/notesSlide2.xml.rels><?xml version='1.0' encoding='utf-8'?>
<ns0:Relationships xmlns:ns0="http://schemas.openxmlformats.org/package/2006/relationships"><ns0:Relationship Id="rId2" Type="http://schemas.openxmlformats.org/officeDocument/2006/relationships/slide" Target="../slides/slide2.xml" /><ns0:Relationship Id="rId1" Type="http://schemas.openxmlformats.org/officeDocument/2006/relationships/notesMaster" Target="../notesMasters/notesMaster1.xml" /></ns0:Relationships>
</file>

<file path=ppt/notesSlides/_rels/notesSlide3.xml.rels><?xml version='1.0' encoding='utf-8'?>
<ns0:Relationships xmlns:ns0="http://schemas.openxmlformats.org/package/2006/relationships"><ns0:Relationship Id="rId2" Type="http://schemas.openxmlformats.org/officeDocument/2006/relationships/slide" Target="../slides/slide3.xml" /><ns0:Relationship Id="rId1" Type="http://schemas.openxmlformats.org/officeDocument/2006/relationships/notesMaster" Target="../notesMasters/notesMaster1.xml" /></ns0:Relationships>
</file>

<file path=ppt/notesSlides/_rels/notesSlide4.xml.rels><?xml version='1.0' encoding='utf-8'?>
<ns0:Relationships xmlns:ns0="http://schemas.openxmlformats.org/package/2006/relationships"><ns0:Relationship Id="rId2" Type="http://schemas.openxmlformats.org/officeDocument/2006/relationships/slide" Target="../slides/slide4.xml" /><ns0:Relationship Id="rId1" Type="http://schemas.openxmlformats.org/officeDocument/2006/relationships/notesMaster" Target="../notesMasters/notesMaster1.xml" /></ns0:Relationships>
</file>

<file path=ppt/notesSlides/_rels/notesSlide5.xml.rels><?xml version='1.0' encoding='utf-8'?>
<ns0:Relationships xmlns:ns0="http://schemas.openxmlformats.org/package/2006/relationships"><ns0:Relationship Id="rId2" Type="http://schemas.openxmlformats.org/officeDocument/2006/relationships/slide" Target="../slides/slide5.xml" /><ns0:Relationship Id="rId1" Type="http://schemas.openxmlformats.org/officeDocument/2006/relationships/notesMaster" Target="../notesMasters/notesMaster1.xml" /></ns0:Relationships>
</file>

<file path=ppt/notesSlides/_rels/notesSlide6.xml.rels><?xml version='1.0' encoding='utf-8'?>
<ns0:Relationships xmlns:ns0="http://schemas.openxmlformats.org/package/2006/relationships"><ns0:Relationship Id="rId2" Type="http://schemas.openxmlformats.org/officeDocument/2006/relationships/slide" Target="../slides/slide6.xml" /><ns0:Relationship Id="rId1" Type="http://schemas.openxmlformats.org/officeDocument/2006/relationships/notesMaster" Target="../notesMasters/notesMaster1.xml" /></ns0:Relationships>
</file>

<file path=ppt/notesSlides/_rels/notesSlide7.xml.rels><?xml version='1.0' encoding='utf-8'?>
<ns0:Relationships xmlns:ns0="http://schemas.openxmlformats.org/package/2006/relationships"><ns0:Relationship Id="rId2" Type="http://schemas.openxmlformats.org/officeDocument/2006/relationships/slide" Target="../slides/slide7.xml" /><ns0:Relationship Id="rId1" Type="http://schemas.openxmlformats.org/officeDocument/2006/relationships/notesMaster" Target="../notesMasters/notesMaster1.xml" /></ns0:Relationships>
</file>

<file path=ppt/notesSlides/_rels/notesSlide8.xml.rels><?xml version='1.0' encoding='utf-8'?>
<ns0:Relationships xmlns:ns0="http://schemas.openxmlformats.org/package/2006/relationships"><ns0:Relationship Id="rId2" Type="http://schemas.openxmlformats.org/officeDocument/2006/relationships/slide" Target="../slides/slide8.xml" /><ns0:Relationship Id="rId1" Type="http://schemas.openxmlformats.org/officeDocument/2006/relationships/notesMaster" Target="../notesMasters/notesMaster1.xml" /></ns0:Relationships>
</file>

<file path=ppt/notesSlides/_rels/notesSlide9.xml.rels><?xml version='1.0' encoding='utf-8'?>
<ns0:Relationships xmlns:ns0="http://schemas.openxmlformats.org/package/2006/relationships"><ns0:Relationship Id="rId2" Type="http://schemas.openxmlformats.org/officeDocument/2006/relationships/slide" Target="../slides/slide9.xml" /><ns0:Relationship Id="rId1" Type="http://schemas.openxmlformats.org/officeDocument/2006/relationships/notesMaster" Target="../notesMasters/notesMaster1.xml" /></ns0:Relationships>
</file>

<file path=ppt/notesSlides/_rels/notesSlide10.xml.rels><?xml version='1.0' encoding='utf-8'?>
<ns0:Relationships xmlns:ns0="http://schemas.openxmlformats.org/package/2006/relationships"><ns0:Relationship Id="rId2" Type="http://schemas.openxmlformats.org/officeDocument/2006/relationships/slide" Target="../slides/slide10.xml" /><ns0:Relationship Id="rId1" Type="http://schemas.openxmlformats.org/officeDocument/2006/relationships/notesMaster" Target="../notesMasters/notesMaster1.xml" /></ns0:Relationships>
</file>

<file path=ppt/notesSlides/_rels/notesSlide11.xml.rels><?xml version='1.0' encoding='utf-8'?>
<ns0:Relationships xmlns:ns0="http://schemas.openxmlformats.org/package/2006/relationships"><ns0:Relationship Id="rId2" Type="http://schemas.openxmlformats.org/officeDocument/2006/relationships/slide" Target="../slides/slide11.xml" /><ns0:Relationship Id="rId1" Type="http://schemas.openxmlformats.org/officeDocument/2006/relationships/notesMaster" Target="../notesMasters/notesMaster1.xml" /></ns0:Relationships>
</file>

<file path=ppt/notesSlides/_rels/notesSlide12.xml.rels><?xml version='1.0' encoding='utf-8'?>
<ns0:Relationships xmlns:ns0="http://schemas.openxmlformats.org/package/2006/relationships"><ns0:Relationship Id="rId2" Type="http://schemas.openxmlformats.org/officeDocument/2006/relationships/slide" Target="../slides/slide12.xml" /><ns0:Relationship Id="rId1" Type="http://schemas.openxmlformats.org/officeDocument/2006/relationships/notesMaster" Target="../notesMasters/notesMaster1.xml" /></ns0:Relationships>
</file>

<file path=ppt/notesSlides/_rels/notesSlide13.xml.rels><?xml version='1.0' encoding='utf-8'?>
<ns0:Relationships xmlns:ns0="http://schemas.openxmlformats.org/package/2006/relationships"><ns0:Relationship Id="rId2" Type="http://schemas.openxmlformats.org/officeDocument/2006/relationships/slide" Target="../slides/slide13.xml" /><ns0:Relationship Id="rId1" Type="http://schemas.openxmlformats.org/officeDocument/2006/relationships/notesMaster" Target="../notesMasters/notesMaster1.xml" /></ns0:Relationships>
</file>

<file path=ppt/notesSlides/_rels/notesSlide14.xml.rels><?xml version='1.0' encoding='utf-8'?>
<ns0:Relationships xmlns:ns0="http://schemas.openxmlformats.org/package/2006/relationships"><ns0:Relationship Id="rId2" Type="http://schemas.openxmlformats.org/officeDocument/2006/relationships/slide" Target="../slides/slide14.xml" /><ns0:Relationship Id="rId1" Type="http://schemas.openxmlformats.org/officeDocument/2006/relationships/notesMaster" Target="../notesMasters/notesMaster1.xml" /></ns0:Relationships>
</file>

<file path=ppt/notesSlides/_rels/notesSlide15.xml.rels><?xml version='1.0' encoding='utf-8'?>
<ns0:Relationships xmlns:ns0="http://schemas.openxmlformats.org/package/2006/relationships"><ns0:Relationship Id="rId2" Type="http://schemas.openxmlformats.org/officeDocument/2006/relationships/slide" Target="../slides/slide15.xml" /><ns0:Relationship Id="rId1" Type="http://schemas.openxmlformats.org/officeDocument/2006/relationships/notesMaster" Target="../notesMasters/notesMaster1.xml" /></ns0:Relationships>
</file>

<file path=ppt/notesSlides/_rels/notesSlide16.xml.rels><?xml version='1.0' encoding='utf-8'?>
<ns0:Relationships xmlns:ns0="http://schemas.openxmlformats.org/package/2006/relationships"><ns0:Relationship Id="rId2" Type="http://schemas.openxmlformats.org/officeDocument/2006/relationships/slide" Target="../slides/slide16.xml" /><ns0:Relationship Id="rId1" Type="http://schemas.openxmlformats.org/officeDocument/2006/relationships/notesMaster" Target="../notesMasters/notesMaster1.xml" /></ns0:Relationships>
</file>

<file path=ppt/notesSlides/_rels/notesSlide17.xml.rels><?xml version='1.0' encoding='utf-8'?>
<ns0:Relationships xmlns:ns0="http://schemas.openxmlformats.org/package/2006/relationships"><ns0:Relationship Id="rId2" Type="http://schemas.openxmlformats.org/officeDocument/2006/relationships/slide" Target="../slides/slide17.xml" /><ns0:Relationship Id="rId1" Type="http://schemas.openxmlformats.org/officeDocument/2006/relationships/notesMaster" Target="../notesMasters/notesMaster1.xml" /></ns0:Relationships>
</file>

<file path=ppt/notesSlides/_rels/notesSlide18.xml.rels><?xml version='1.0' encoding='utf-8'?>
<ns0:Relationships xmlns:ns0="http://schemas.openxmlformats.org/package/2006/relationships"><ns0:Relationship Id="rId2" Type="http://schemas.openxmlformats.org/officeDocument/2006/relationships/slide" Target="../slides/slide18.xml" /><ns0:Relationship Id="rId1" Type="http://schemas.openxmlformats.org/officeDocument/2006/relationships/notesMaster" Target="../notesMasters/notesMaster1.xml" /></ns0:Relationships>
</file>

<file path=ppt/notesSlides/_rels/notesSlide19.xml.rels><?xml version='1.0' encoding='utf-8'?>
<ns0:Relationships xmlns:ns0="http://schemas.openxmlformats.org/package/2006/relationships"><ns0:Relationship Id="rId2" Type="http://schemas.openxmlformats.org/officeDocument/2006/relationships/slide" Target="../slides/slide19.xml" /><ns0:Relationship Id="rId1" Type="http://schemas.openxmlformats.org/officeDocument/2006/relationships/notesMaster" Target="../notesMasters/notesMaster1.xml" /></ns0:Relationships>
</file>

<file path=ppt/notesSlides/_rels/notesSlide20.xml.rels><?xml version='1.0' encoding='utf-8'?>
<ns0:Relationships xmlns:ns0="http://schemas.openxmlformats.org/package/2006/relationships"><ns0:Relationship Id="rId2" Type="http://schemas.openxmlformats.org/officeDocument/2006/relationships/slide" Target="../slides/slide20.xml" /><ns0:Relationship Id="rId1" Type="http://schemas.openxmlformats.org/officeDocument/2006/relationships/notesMaster" Target="../notesMasters/notesMaster1.xml" /></ns0:Relationships>
</file>

<file path=ppt/notesSlides/_rels/notesSlide21.xml.rels><?xml version='1.0' encoding='utf-8'?>
<ns0:Relationships xmlns:ns0="http://schemas.openxmlformats.org/package/2006/relationships"><ns0:Relationship Id="rId2" Type="http://schemas.openxmlformats.org/officeDocument/2006/relationships/slide" Target="../slides/slide21.xml" /><ns0:Relationship Id="rId1" Type="http://schemas.openxmlformats.org/officeDocument/2006/relationships/notesMaster" Target="../notesMasters/notesMaster1.xml" /></ns0:Relationships>
</file>

<file path=ppt/notesSlides/_rels/notesSlide22.xml.rels><?xml version='1.0' encoding='utf-8'?>
<ns0:Relationships xmlns:ns0="http://schemas.openxmlformats.org/package/2006/relationships"><ns0:Relationship Id="rId2" Type="http://schemas.openxmlformats.org/officeDocument/2006/relationships/slide" Target="../slides/slide22.xml" /><ns0:Relationship Id="rId1" Type="http://schemas.openxmlformats.org/officeDocument/2006/relationships/notesMaster" Target="../notesMasters/notesMaster1.xml" /></ns0:Relationships>
</file>

<file path=ppt/notesSlides/_rels/notesSlide23.xml.rels><?xml version='1.0' encoding='utf-8'?>
<ns0:Relationships xmlns:ns0="http://schemas.openxmlformats.org/package/2006/relationships"><ns0:Relationship Id="rId2" Type="http://schemas.openxmlformats.org/officeDocument/2006/relationships/slide" Target="../slides/slide23.xml" /><ns0:Relationship Id="rId1" Type="http://schemas.openxmlformats.org/officeDocument/2006/relationships/notesMaster" Target="../notesMasters/notesMaster1.xml" /></ns0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Recap of the 8 October deck in one slide; no new numbers here.</a:t>
            </a:r>
          </a:p>
          <a:p>
            <a:r>
              <a:t>• Reuse-Aware: analytic rule that fetches a missing expert when its expected future reuse beats the marginal transfer cost; 1.52× was GPT-OSS only, one host, eager decode.</a:t>
            </a:r>
          </a:p>
          <a:p>
            <a:r>
              <a:t>• Learned cost models (Ridge, Linear) degraded on unseen prompts and cache sizes, which is why we keep the analytic rule.</a:t>
            </a:r>
          </a:p>
          <a:p>
            <a:r>
              <a:t>• Static pruning: coverage looked good per task, but no checkpoint passed all activation gates; fixed-cache rerouting gave Qwen 0.87-2.24%, GPT-OSS 0%, Gemma 0.46% fewer misses.</a:t>
            </a:r>
          </a:p>
          <a:p>
            <a:r>
              <a:t>• The two open questions map directly onto this week's two directions.</a:t>
            </a:r>
          </a:p>
          <a:p>
            <a:r>
              <a:t>Sources: 8 October deck slides 3-10 and 27-30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Direction 1 = how many misses to fetch (q) on different hardware; Direction 2 = how to have fewer misses (m) in the first place.</a:t>
            </a:r>
          </a:p>
          <a:p>
            <a:r>
              <a:t>• q decides how existing misses are served (PCIe fetch vs CPU execution); m is the number of misses.</a:t>
            </a:r>
          </a:p>
          <a:p>
            <a:r>
              <a:t>• Direction 1 slides explain the planned cross-architecture experiment (plan document pages 3-4); nothing is collected yet on other GPUs.</a:t>
            </a:r>
          </a:p>
          <a:p>
            <a:r>
              <a:t>• Direction 2 slides first summarise every planned experiment (P1-P9), then show the results that are ready.</a:t>
            </a:r>
          </a:p>
          <a:p>
            <a:r>
              <a:t>Sources: exp_plan.pdf pages 3-4; docs/PLAN.md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Only the RTX 4070 has data today; every other row is planned.</a:t>
            </a:r>
          </a:p>
          <a:p>
            <a:r>
              <a:t>• Our host link is PCIe 4.0 but negotiated at x4, so measured B_P is 6.7 GB/s, far below a desktop x16 slot.</a:t>
            </a:r>
          </a:p>
          <a:p>
            <a:r>
              <a:t>• The q rule depends on rho = B_P/B_H; a 4090 or 5090 at x16 changes rho a lot, which is the point of testing them.</a:t>
            </a:r>
          </a:p>
          <a:p>
            <a:r>
              <a:t>• More VRAM means a larger expert cache, so fewer misses and a different reuse horizon.</a:t>
            </a:r>
          </a:p>
          <a:p>
            <a:r>
              <a:t>• B_P and B_H are always measured on the machine, never taken from vendor numbers.</a:t>
            </a:r>
          </a:p>
          <a:p>
            <a:r>
              <a:t>• Same GPU with a different CPU counts as a different cell because B_H changes.</a:t>
            </a:r>
          </a:p>
          <a:p>
            <a:r>
              <a:t>Sources: exp_plan.pdf page 3, Table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Same three checkpoints as the m-reduction study, so both directions share models.</a:t>
            </a:r>
          </a:p>
          <a:p>
            <a:r>
              <a:t>• top_k/E is the fraction of experts used per token: GPT-OSS 4 of 32 (12.5%), Qwen 8 of 256 (3.1%), Gemma 8 of 128 (6.3%).</a:t>
            </a:r>
          </a:p>
          <a:p>
            <a:r>
              <a:t>• Expert size: GPT-OSS 13.2 MB, Qwen 1.8 MB, a 7× spread; one GPT-OSS fetch costs much more PCIe time.</a:t>
            </a:r>
          </a:p>
          <a:p>
            <a:r>
              <a:t>• Gemma's 3.4 MB comes from the m-reduction plan's recorded geometry; the experiment plan table leaves it blank.</a:t>
            </a:r>
          </a:p>
          <a:p>
            <a:r>
              <a:t>• Prefer dimensionless features so a rule fitted on one cell can be tested on another.</a:t>
            </a:r>
          </a:p>
          <a:p>
            <a:r>
              <a:t>Sources: exp_plan.pdf page 3, Table 5; docs/PLAN.md section 2.2 (Gemma expert bytes)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12 cells in total; only GPT-OSS on the RTX 4070 is done (last week's runtime-q study).</a:t>
            </a:r>
          </a:p>
          <a:p>
            <a:r>
              <a:t>• Qwen on the 4070 depends on host RAM holding the pinned expert bank (about 21 GB server RSS on our 30 GB host).</a:t>
            </a:r>
          </a:p>
          <a:p>
            <a:r>
              <a:t>• Cache size is not a fixed slot count across models: three fractions of each model's own pool, giving low/medium/high miss pressure.</a:t>
            </a:r>
          </a:p>
          <a:p>
            <a:r>
              <a:t>• Floor: two full layers of experts for prefill overlap; ceiling: what fits in that GPU's VRAM.</a:t>
            </a:r>
          </a:p>
          <a:p>
            <a:r>
              <a:t>• Stage 0 failure (kernels, VRAM, RAM, loader) is recorded as a failed cell, not silently skipped.</a:t>
            </a:r>
          </a:p>
          <a:p>
            <a:r>
              <a:t>Sources: exp_plan.pdf page 3, Table 6 and cache-size paragraph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Commands: scripts/setup.sh --analysis-only, scripts/doctor.sh (before runtime), scripts/setup.sh (builds pinned runtime), doctor --require-runtime, then source scripts/env.sh under bash.</a:t>
            </a:r>
          </a:p>
          <a:p>
            <a:r>
              <a:t>• doctor writes machine_before_runtime.json and machine_after_runtime.json, the hardware record for the cell.</a:t>
            </a:r>
          </a:p>
          <a:p>
            <a:r>
              <a:t>• Calibration measures B_P (PCIe) and B_H (host CPU) per expert format on that machine.</a:t>
            </a:r>
          </a:p>
          <a:p>
            <a:r>
              <a:t>• Baseline: scripts/baseline.sh --profile gpt_oss_mxfp4 --model $MODEL --gpu 0 --repeats 3.</a:t>
            </a:r>
          </a:p>
          <a:p>
            <a:r>
              <a:t>• The pilot check proves the hook does not change the engine: same q* decisions and the same throughput.</a:t>
            </a:r>
          </a:p>
          <a:p>
            <a:r>
              <a:t>• The repository (ankitsblade/FreeToken-Reproduce) packages all of this so collection is identical on every machine.</a:t>
            </a:r>
          </a:p>
          <a:p>
            <a:r>
              <a:t>Sources: exp_plan.pdf pages 3-4, Stage 0; section 7 opening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Stage 1 command: bash scripts/run.sh runtime_q run --plan configs/runtime_q/&lt;plan&gt;.json --model $MODEL --gpu 0, for collect, round2, main and generalization plans.</a:t>
            </a:r>
          </a:p>
          <a:p>
            <a:r>
              <a:t>• Each invocation writes results/runs/runtime_q/UTC_UUID/ with run.json (command, times, status) and environment.json (CPU, RAM, GPU, driver, packages, Git state, engine hashes).</a:t>
            </a:r>
          </a:p>
          <a:p>
            <a:r>
              <a:t>• Interrupted runs resume because the driver skips episodes already present.</a:t>
            </a:r>
          </a:p>
          <a:p>
            <a:r>
              <a:t>• Stage 2: archive, verify, transfer to the shared store, import into a fresh study root; nothing edited after collection.</a:t>
            </a:r>
          </a:p>
          <a:p>
            <a:r>
              <a:t>• Stage 3 per cell repeats last week's single-machine tables; across cells, pool decisions with machine/model IDs and hold out one architecture or one model at a time.</a:t>
            </a:r>
          </a:p>
          <a:p>
            <a:r>
              <a:t>• Key test: does the rule's predicted fetch cost match each GPU's measured wall(m, q) table?</a:t>
            </a:r>
          </a:p>
          <a:p>
            <a:r>
              <a:t>Sources: exp_plan.pdf page 4, Stages 1-3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These rules make cells comparable; they do not make the machines identical.</a:t>
            </a:r>
          </a:p>
          <a:p>
            <a:r>
              <a:t>• Date in template: GPT-OSS renders today's date into the prompt, so re-rendering on another day changes tokens and routing; we send frozen token IDs instead.</a:t>
            </a:r>
          </a:p>
          <a:p>
            <a:r>
              <a:t>• One GPU job at a time: concurrent servers or heavy CPU work distort timing; we also had an out-of-memory incident from a CPU job beside a GPU run.</a:t>
            </a:r>
          </a:p>
          <a:p>
            <a:r>
              <a:t>• Memory: runs execute inside a no-swap scope; swap or memory pressure rejects the whole paired unit, which is then repeated.</a:t>
            </a:r>
          </a:p>
          <a:p>
            <a:r>
              <a:t>• Any change of quantization, cache size, driver or runtime is a new arm, never pooled with old repeats.</a:t>
            </a:r>
          </a:p>
          <a:p>
            <a:r>
              <a:t>• CPU and GPU expert kernels are not bit-identical, so output divergence between policies is recorded rather than hidden.</a:t>
            </a:r>
          </a:p>
          <a:p>
            <a:r>
              <a:t>Sources: exp_plan.pdf page 4, Table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m is counted before admission: unique routed experts for that token and layer minus those already in the GPU cache.</a:t>
            </a:r>
          </a:p>
          <a:p>
            <a:r>
              <a:t>• q is the number of those misses fetched over PCIe; the other m − q run on the CPU.</a:t>
            </a:r>
          </a:p>
          <a:p>
            <a:r>
              <a:t>• Direction 1 optimises q for a given m; Direction 2 tries to make m smaller.</a:t>
            </a:r>
          </a:p>
          <a:p>
            <a:r>
              <a:t>• Levers 1-3 (admission, replacement, allocation) never change model outputs, so they only need m and latency evidence.</a:t>
            </a:r>
          </a:p>
          <a:p>
            <a:r>
              <a:t>• Levers 4-5 (routing, pruning/merging) change which experts compute, so they also need quality evidence.</a:t>
            </a:r>
          </a:p>
          <a:p>
            <a:r>
              <a:t>• m × expert bytes is missing demand, not measured PCIe traffic.</a:t>
            </a:r>
          </a:p>
          <a:p>
            <a:r>
              <a:t>Sources: docs/PLAN.md sections 1 and 4.1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All values from the recorded model geometry; C is about 20% of each model's layer × expert pool.</a:t>
            </a:r>
          </a:p>
          <a:p>
            <a:r>
              <a:t>• GPT-OSS has only 154 slots (about 6.4 per layer) for 32 experts per layer, so its cache is tight.</a:t>
            </a:r>
          </a:p>
          <a:p>
            <a:r>
              <a:t>• Qwen holds 2,048 small experts, Gemma 768.</a:t>
            </a:r>
          </a:p>
          <a:p>
            <a:r>
              <a:t>• Gemma's sequence cap is 1,280 tokens because of memory; prompts are capped at 1,024 and generation at 256 for all.</a:t>
            </a:r>
          </a:p>
          <a:p>
            <a:r>
              <a:t>• Resource gates: at least 4 GiB free RAM, at most 128 MiB swap during inference, at most 1% memory pressure; a failed gate rejects and repeats the whole batch.</a:t>
            </a:r>
          </a:p>
          <a:p>
            <a:r>
              <a:t>• All three models are mandatory for every experiment.</a:t>
            </a:r>
          </a:p>
          <a:p>
            <a:r>
              <a:t>Sources: docs/PLAN.md sections 1.1, 2.2 and 2.3; offline_stage1 */p3/summary.json geometry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D0 is the original routing corpus from the static pruning study, rendered to frozen token IDs per model.</a:t>
            </a:r>
          </a:p>
          <a:p>
            <a:r>
              <a:t>• Five grouped outer folds: each holds out 18 requests (6 per domain); inside each, four inner folds pick parameters.</a:t>
            </a:r>
          </a:p>
          <a:p>
            <a:r>
              <a:t>• Nine repeat IDs (3 per domain) form the live timing cohort, five paired repetitions each.</a:t>
            </a:r>
          </a:p>
          <a:p>
            <a:r>
              <a:t>• D1 is a known regression screen (we have seen its earlier outcomes), so it is not fresh confirmation.</a:t>
            </a:r>
          </a:p>
          <a:p>
            <a:r>
              <a:t>• D2: opencompass/AIME2025 at a pinned revision; all 15 problems fit the input budget for all three models.</a:t>
            </a:r>
          </a:p>
          <a:p>
            <a:r>
              <a:t>• D3 needs a pinned OpenCode + SWE-bench harness, still open; it may not fit Gemma's 1,280-token cap.</a:t>
            </a:r>
          </a:p>
          <a:p>
            <a:r>
              <a:t>• Small D2/D3 samples are directional only, never pooled into D0.</a:t>
            </a:r>
          </a:p>
          <a:p>
            <a:r>
              <a:t>Sources: docs/PLAN.md sections 3.1-3.5 and 4.3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P1: the paper says at least one fill per miss event; the shipped code can round q to zero. floor1 adds the one-expert floor; seeding warms the cache from prompt routes.</a:t>
            </a:r>
          </a:p>
          <a:p>
            <a:r>
              <a:t>• P2: we need exact replay so offline results transfer to live serving; teacher forcing lets us measure quality on fixed token histories.</a:t>
            </a:r>
          </a:p>
          <a:p>
            <a:r>
              <a:t>• P3 classifies each actual miss: first touch, admission-sensitive, capacity-like, replacement-sensitive; MIN is the optimal-eviction bound.</a:t>
            </a:r>
          </a:p>
          <a:p>
            <a:r>
              <a:t>• P4 compares q rules: paper fraction, the measured-overlap fraction (native), fixed 25%, and Reuse-Aware with a uniform or recent-frequency reuse prior.</a:t>
            </a:r>
          </a:p>
          <a:p>
            <a:r>
              <a:t>• P5 fixes slots per layer instead of one global LRU, at the same total bytes; utility quotas come from training-request miss curves.</a:t>
            </a:r>
          </a:p>
          <a:p>
            <a:r>
              <a:t>Sources: docs/PLAN.md sections 5-8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P6: bias routing toward experts already in cache; the top-J original experts are protected (J=1 GPT-OSS, J=2 Qwen/Gemma); gate weights stay from the original logits.</a:t>
            </a:r>
          </a:p>
          <a:p>
            <a:r>
              <a:t>• P7 retains 75% of experts per layer (remove 64/8/32 for Qwen/GPT-OSS/Gemma). Arm 1 masks the experts with most misses and least saliency at decode only; arm 2 merges similar experts and aliases router IDs.</a:t>
            </a:r>
          </a:p>
          <a:p>
            <a:r>
              <a:t>• R75 = keep the 75% most frequent; F75 = delete the dropped accesses (diagnostic only); 200 random masks as a sensitivity band.</a:t>
            </a:r>
          </a:p>
          <a:p>
            <a:r>
              <a:t>• P8 asks whether routing and q improvements add up; it needs a qualified P6 finalist.</a:t>
            </a:r>
          </a:p>
          <a:p>
            <a:r>
              <a:t>• P9 protects re-used experts from eviction (segmented LRU) or pins thrashing experts.</a:t>
            </a:r>
          </a:p>
          <a:p>
            <a:r>
              <a:t>Sources: docs/PLAN.md sections 9-10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G0 (Stage 0): kernels and resources qualified on all three models; observation off/on gives identical output; replay matches live exactly.</a:t>
            </a:r>
          </a:p>
          <a:p>
            <a:r>
              <a:t>• G1 (after P3) only reorders work: e.g. many replacement misses would prioritise P9; all experiments still run on all models.</a:t>
            </a:r>
          </a:p>
          <a:p>
            <a:r>
              <a:t>• G2 exact components: at least 5% mean-m reduction with a positive lower 95% bound (or 10% on P95), no output change, timing ratio upper bound ≤ 1.02.</a:t>
            </a:r>
          </a:p>
          <a:p>
            <a:r>
              <a:t>• G2 output-changing: at least 10% mean-m reduction plus quality: KL upper bound ≤ 0.02 nats/token per workload, top-1 agreement lower bound ≥ 98%, D1 task loss ≤ 2 points, Qwen/Gemma perplexity ≤ +2%.</a:t>
            </a:r>
          </a:p>
          <a:p>
            <a:r>
              <a:t>• Also: positive reduction in at least 4 of 5 folds and no confidently negative domain.</a:t>
            </a:r>
          </a:p>
          <a:p>
            <a:r>
              <a:t>Sources: docs/PLAN.md sections 4, 7, 10.1 and 10.2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This was the first blocker: the plan requires identical outputs across exact arms, and they were not.</a:t>
            </a:r>
          </a:p>
          <a:p>
            <a:r>
              <a:t>• Cause: CPU and GPU expert kernels round differently; a 0.0078 router-logit difference at decode flipped a later token (first difference at token 47 on math_000).</a:t>
            </a:r>
          </a:p>
          <a:p>
            <a:r>
              <a:t>• GPT-OSS fix (dot64): FP64 accumulation of split-K partial sums, same activation evaluation order, BF16 rounding at the same boundaries on both paths.</a:t>
            </a:r>
          </a:p>
          <a:p>
            <a:r>
              <a:t>• Qwen/Gemma fix: NVFP4 precision path with FP64 accumulation and matched BF16 boundaries; disabling activation quantization alone was not enough.</a:t>
            </a:r>
          </a:p>
          <a:p>
            <a:r>
              <a:t>• After the fix, all pilot arms matched; 270 primary captures (90 per model) plus 54 repeat captures were accepted.</a:t>
            </a:r>
          </a:p>
          <a:p>
            <a:r>
              <a:t>• Slower CPU path is charged honestly: fresh calibration, not the faster arm's numbers.</a:t>
            </a:r>
          </a:p>
          <a:p>
            <a:r>
              <a:t>• Host memory was the other recurring blocker (Qwen needs about 21 GB); retries and pausing background processes were logged.</a:t>
            </a:r>
          </a:p>
          <a:p>
            <a:r>
              <a:t>Sources: docs/EXPERIMENT_LOG.md, 13-14 October entries; docs/PLAN.md section 5.1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Qwen3.6: m 2.30; first touch 27.7%, admission 18.3%, capacity-like 23.4%, replacement-sensitive 30.7%; fetch-all LRU 2.24, MIN 1.17.</a:t>
            </a:r>
          </a:p>
          <a:p>
            <a:r>
              <a:t>• GPT-OSS: m 1.88; first touch 5.8%, admission 9.5%, capacity-like 46.0%, replacement-sensitive 38.7%; fetch-all LRU 2.04, MIN 0.97.</a:t>
            </a:r>
          </a:p>
          <a:p>
            <a:r>
              <a:t>• Gemma 4: m 2.20; first touch 14.6%, admission 17.3%, capacity-like 35.0%, replacement-sensitive 33.2%; fetch-all LRU 2.19, MIN 1.09.</a:t>
            </a:r>
          </a:p>
          <a:p>
            <a:r>
              <a:t>• Classes are assigned in order: first touch; admission-sensitive if fetch-all LRU would hit; capacity-like if both LRU and MIN miss; replacement-sensitive if only LRU misses.</a:t>
            </a:r>
          </a:p>
          <a:p>
            <a:r>
              <a:t>• MIN (Belady) is an offline optimum with future knowledge: a bound, not an achievable policy at fixed q.</a:t>
            </a:r>
          </a:p>
          <a:p>
            <a:r>
              <a:t>• All 270 captures enter decode with zero cached experts (prefill uses separate staging), so cold and native starts are identical.</a:t>
            </a:r>
          </a:p>
          <a:p>
            <a:r>
              <a:t>• G1 outcome on all three: run P4/P5 first; P9 and P6 not prioritised (thrash concentration about 19%, below the 50% trigger); P7 not deprioritised.</a:t>
            </a:r>
          </a:p>
          <a:p>
            <a:r>
              <a:t>Sources: offline_stage1 */p3/summary.json, cell primary/native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Bars are mean-m reduction against the native overlap_floor1 arm; error bars are paired request-bootstrap 95% CIs.</a:t>
            </a:r>
          </a:p>
          <a:p>
            <a:r>
              <a:t>• P4 inner-fold selection: GPT-OSS fixed 25% (5/5 folds), Gemma Reuse-Aware frequency, Qwen Reuse-Aware uniform (5/5).</a:t>
            </a:r>
          </a:p>
          <a:p>
            <a:r>
              <a:t>• Qwen: fixed 25% is worse (-12.1%); Reuse-Aware uniform 3.4% fewer misses.</a:t>
            </a:r>
          </a:p>
          <a:p>
            <a:r>
              <a:t>• P5 GPT-OSS: uniform quotas 9.1%, utility 9.9%; the only material offline gain. Qwen quotas do not help.</a:t>
            </a:r>
          </a:p>
          <a:p>
            <a:r>
              <a:t>• None of these change outputs, so the live latency gate decides adoption; m alone is not latency.</a:t>
            </a:r>
          </a:p>
          <a:p>
            <a:r>
              <a:t>• Live fidelity for all these arms on GPT-OSS is done (identical outputs); timing repetitions are running.</a:t>
            </a:r>
          </a:p>
          <a:p>
            <a:r>
              <a:t>Sources: offline_stage1 */p4/summary.json (primary/native); offline_stage1 */p5/summary.json (vs_global_seeded_mean_m)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Mass kept = share of the original router probability on the experts actually used; it measures how far routing moved.</a:t>
            </a:r>
          </a:p>
          <a:p>
            <a:r>
              <a:t>• B with alpha 0.1 is the gentlest swap and still loses 2.5-4% of mass on average and 10-20% on the worst requests.</a:t>
            </a:r>
          </a:p>
          <a:p>
            <a:r>
              <a:t>• A λ 0.1 (cache bonus) cuts m by 31-58% but keeps only 87-93% of mass: it effectively routes to whatever is cached.</a:t>
            </a:r>
          </a:p>
          <a:p>
            <a:r>
              <a:t>• All 11 nonzero settings (A, B, C) fail on all three models; zero-change controls reproduced native routes exactly.</a:t>
            </a:r>
          </a:p>
          <a:p>
            <a:r>
              <a:t>• Consequence: no P6 teacher forcing, and P8's 2 × 2 interaction is recorded as missing rather than replaced.</a:t>
            </a:r>
          </a:p>
          <a:p>
            <a:r>
              <a:t>Sources: offline_stage1 */p6/summary.json, cells.native.settings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Each request is evaluated with masks fitted without it (out-of-fold); the identity alias reproduces native exactly.</a:t>
            </a:r>
          </a:p>
          <a:p>
            <a:r>
              <a:t>• R75 (keep the 75% most used) barely helps: about 2-5% fewer misses, consistent with last week's static result.</a:t>
            </a:r>
          </a:p>
          <a:p>
            <a:r>
              <a:t>• Arm 1 removes experts with many misses and low saliency (gate weight × output norm); arm 2 clusters experts and aliases router IDs to one physical expert.</a:t>
            </a:r>
          </a:p>
          <a:p>
            <a:r>
              <a:t>• Arm 1: Qwen 25.2%, GPT-OSS 18.8%, Gemma 33.0%.</a:t>
            </a:r>
          </a:p>
          <a:p>
            <a:r>
              <a:t>• Arm 2: Qwen 32.6%, GPT-OSS 22.3%, Gemma 50.3%.</a:t>
            </a:r>
          </a:p>
          <a:p>
            <a:r>
              <a:t>• These change routing, so they must also pass the KL/top-1/task gates; the screen holds upstream hidden states fixed and is not a quality measure.</a:t>
            </a:r>
          </a:p>
          <a:p>
            <a:r>
              <a:t>• F75 just deletes dropped accesses; it is a diagnostic, not a real model.</a:t>
            </a:r>
          </a:p>
          <a:p>
            <a:r>
              <a:t>Sources: offline_stage1 */p7/summary.json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Teacher forcing: feed the baseline's own token history, let the candidate compute its own hidden states, and compare full-vocabulary next-token distributions.</a:t>
            </a:r>
          </a:p>
          <a:p>
            <a:r>
              <a:t>• Gate is 0.02 nats/token; the smoke shows about 20× that. Top-1 agreement 74% vs a 98% gate.</a:t>
            </a:r>
          </a:p>
          <a:p>
            <a:r>
              <a:t>• The m reduction transfers from the offline screen (18.8% offline vs 18.5% teacher forced on the first history).</a:t>
            </a:r>
          </a:p>
          <a:p>
            <a:r>
              <a:t>• These are smoke runs on two histories, not the accepted 90-history batch; treat as an early signal.</a:t>
            </a:r>
          </a:p>
          <a:p>
            <a:r>
              <a:t>• GPT-OSS has only 32 experts per layer, so 25% removal is coarse; Qwen (256) and Gemma (128) may behave differently; no result yet.</a:t>
            </a:r>
          </a:p>
          <a:p>
            <a:r>
              <a:t>• Arm 2 needs merged and requantized weights; the merge code reproduces the original weights exactly in identity mode (requantization check passed).</a:t>
            </a:r>
          </a:p>
          <a:p>
            <a:r>
              <a:t>Sources: docs/EXPERIMENT_LOG.md, Stage 2 entry (development checks)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P9 segmented LRU: new experts enter probation; a second hit promotes them to a protected segment that is evicted last.</a:t>
            </a:r>
          </a:p>
          <a:p>
            <a:r>
              <a:t>• GPT-OSS SLRU 50% gives 5.1%: passes the m criteria, so its G2 decision is defer_timing (needs the live ≤1.02× timing bound).</a:t>
            </a:r>
          </a:p>
          <a:p>
            <a:r>
              <a:t>• Pinning hurts or does nothing; Qwen and Gemma SLRU stay below 5%.</a:t>
            </a:r>
          </a:p>
          <a:p>
            <a:r>
              <a:t>• P1 seeding: fill the empty decode cache with the most-routed experts from the prompt; whole-prompt and last-64-token seeds coincide because D0 prompts are short.</a:t>
            </a:r>
          </a:p>
          <a:p>
            <a:r>
              <a:t>• Seeding mainly removes early misses (Qwen −22% in the first 64 tokens), but costs real copies (2-3.6 GB per request) and TTFT, which offline replay does not charge.</a:t>
            </a:r>
          </a:p>
          <a:p>
            <a:r>
              <a:t>• Only Qwen reaches the 5% offline bar for seeding, so only Qwen gets a timed live seeding arm.</a:t>
            </a:r>
          </a:p>
          <a:p>
            <a:r>
              <a:t>Sources: offline_stage1 */p9/summary.json; stage2_live_20261015T042628Z/p1_seed/*/summary.json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New live runtime: the GPU admission kernel gained per-layer quota and segmented-LRU modes, plus a decode-only P7 mask hook.</a:t>
            </a:r>
          </a:p>
          <a:p>
            <a:r>
              <a:t>• Fidelity run = observed live serving; every decode event (m, q, admitted IDs, victims) is compared with the offline simulator: zero mismatches on all 8 arms.</a:t>
            </a:r>
          </a:p>
          <a:p>
            <a:r>
              <a:t>• Outputs identical to the native capture for every request, so these arms really are exact (no output change).</a:t>
            </a:r>
          </a:p>
          <a:p>
            <a:r>
              <a:t>• Rejected attempts (host swap gate), repeated in a fresh directory: reuse_uniform_floor1 x1; rejected batches are kept, never used.</a:t>
            </a:r>
          </a:p>
          <a:p>
            <a:r>
              <a:t>• Timing: 5 repetitions, fresh server per arm, arm order shuffled per repetition, geometric latency ratios with request-cluster bootstrap.</a:t>
            </a:r>
          </a:p>
          <a:p>
            <a:r>
              <a:t>• So the offline m results on the previous slides carry over to live serving for these arms; what remains is whether fewer misses turns into lower latency.</a:t>
            </a:r>
          </a:p>
          <a:p>
            <a:r>
              <a:t>Sources: stage2_live_20261015T042628Z/runs_live/gpt_oss_mxfp4/fidelity/*/completion.json; stage2_live_20261015T042628Z/queue.log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Direction 2 has passed all of Stage 0 and Stage 1 for all three models; Stage 2 is running unattended in a serial GPU queue.</a:t>
            </a:r>
          </a:p>
          <a:p>
            <a:r>
              <a:t>• Exact wins are small and model-specific; no exact component is adopted until the live timing bound passes.</a:t>
            </a:r>
          </a:p>
          <a:p>
            <a:r>
              <a:t>• Output-changing arms give big m cuts offline, but the first GPT-OSS quality check is far outside the gate.</a:t>
            </a:r>
          </a:p>
          <a:p>
            <a:r>
              <a:t>• Arm 2 merging runs after the main queue on its own runtime copy; its requantization path reproduces the original weights exactly.</a:t>
            </a:r>
          </a:p>
          <a:p>
            <a:r>
              <a:t>• Open items: D3 SWE-bench harness pinning; live Qwen seeding arm; P8 records a missing interaction because P6 has no finalist.</a:t>
            </a:r>
          </a:p>
          <a:p>
            <a:r>
              <a:t>• Direction 1 needs access to a 4090/5090 or other GPUs; the repository already packages Stage 0-3.</a:t>
            </a:r>
          </a:p>
          <a:p>
            <a:r>
              <a:t>Sources: docs/PLAN.md status; docs/EXPERIMENT_LOG.md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7B0874-63F5-409F-9981-EE43C5415E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3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C376AB-13D5-4231-978C-F0168C1239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</p:spPr>
        <p:txBody>
          <a:bodyPr/>
          <a:lstStyle/>
          <a:p>
            <a:endParaRPr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2.xml" /></ns0:Relationships>
</file>

<file path=ppt/slides/_rels/slide2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2.xml" /></ns0:Relationships>
</file>

<file path=ppt/slides/_rels/slide3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2.xml" /></ns0: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4.xml" /><ns0:Relationship Id="rId1" Type="http://schemas.openxmlformats.org/officeDocument/2006/relationships/slideLayout" Target="../slideLayouts/slideLayout2.xml" /></ns0:Relationships>
</file>

<file path=ppt/slides/_rels/slide5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5.xml" /><ns0:Relationship Id="rId1" Type="http://schemas.openxmlformats.org/officeDocument/2006/relationships/slideLayout" Target="../slideLayouts/slideLayout2.xml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6.xml" /><ns0:Relationship Id="rId1" Type="http://schemas.openxmlformats.org/officeDocument/2006/relationships/slideLayout" Target="../slideLayouts/slideLayout2.xml" /></ns0:Relationships>
</file>

<file path=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7.xml" /><ns0:Relationship Id="rId1" Type="http://schemas.openxmlformats.org/officeDocument/2006/relationships/slideLayout" Target="../slideLayouts/slideLayout2.xml" /></ns0:Relationships>
</file>

<file path=ppt/slides/_rels/slide8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8.xml" /><ns0:Relationship Id="rId1" Type="http://schemas.openxmlformats.org/officeDocument/2006/relationships/slideLayout" Target="../slideLayouts/slideLayout2.xml" /></ns0:Relationships>
</file>

<file path=ppt/slides/_rels/slide9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9.xml" /><ns0:Relationship Id="rId1" Type="http://schemas.openxmlformats.org/officeDocument/2006/relationships/slideLayout" Target="../slideLayouts/slideLayout2.xml" /></ns0:Relationships>
</file>

<file path=ppt/slides/_rels/slide10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0.xml" /><ns0:Relationship Id="rId1" Type="http://schemas.openxmlformats.org/officeDocument/2006/relationships/slideLayout" Target="../slideLayouts/slideLayout2.xml" /></ns0:Relationships>
</file>

<file path=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1.xml" /><ns0:Relationship Id="rId1" Type="http://schemas.openxmlformats.org/officeDocument/2006/relationships/slideLayout" Target="../slideLayouts/slideLayout2.xml" /></ns0:Relationships>
</file>

<file path=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2.xml" /><ns0:Relationship Id="rId1" Type="http://schemas.openxmlformats.org/officeDocument/2006/relationships/slideLayout" Target="../slideLayouts/slideLayout2.xml" /></ns0:Relationships>
</file>

<file path=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3.xml" /><ns0:Relationship Id="rId1" Type="http://schemas.openxmlformats.org/officeDocument/2006/relationships/slideLayout" Target="../slideLayouts/slideLayout2.xml" /></ns0:Relationships>
</file>

<file path=ppt/slides/_rels/slide14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4.xml" /><ns0:Relationship Id="rId1" Type="http://schemas.openxmlformats.org/officeDocument/2006/relationships/slideLayout" Target="../slideLayouts/slideLayout2.xml" /></ns0:Relationships>
</file>

<file path=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5.xml" /><ns0:Relationship Id="rId1" Type="http://schemas.openxmlformats.org/officeDocument/2006/relationships/slideLayout" Target="../slideLayouts/slideLayout2.xml" /></ns0:Relationships>
</file>

<file path=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6.xml" /><ns0:Relationship Id="rId1" Type="http://schemas.openxmlformats.org/officeDocument/2006/relationships/slideLayout" Target="../slideLayouts/slideLayout2.xml" /><ns0:Relationship Id="rIdWeekFigure" Type="http://schemas.openxmlformats.org/officeDocument/2006/relationships/image" Target="../media/p3_miss_classes.png" /></ns0:Relationships>
</file>

<file path=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7.xml" /><ns0:Relationship Id="rId1" Type="http://schemas.openxmlformats.org/officeDocument/2006/relationships/slideLayout" Target="../slideLayouts/slideLayout2.xml" /><ns0:Relationship Id="rIdWeekFigure" Type="http://schemas.openxmlformats.org/officeDocument/2006/relationships/image" Target="../media/p4_p5_exact_policies.png" /></ns0:Relationships>
</file>

<file path=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8.xml" /><ns0:Relationship Id="rId1" Type="http://schemas.openxmlformats.org/officeDocument/2006/relationships/slideLayout" Target="../slideLayouts/slideLayout2.xml" /></ns0:Relationships>
</file>

<file path=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9.xml" /><ns0:Relationship Id="rId1" Type="http://schemas.openxmlformats.org/officeDocument/2006/relationships/slideLayout" Target="../slideLayouts/slideLayout2.xml" /><ns0:Relationship Id="rIdWeekFigure" Type="http://schemas.openxmlformats.org/officeDocument/2006/relationships/image" Target="../media/p7_routing_screen.png" /></ns0:Relationships>
</file>

<file path=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20.xml" /><ns0:Relationship Id="rId1" Type="http://schemas.openxmlformats.org/officeDocument/2006/relationships/slideLayout" Target="../slideLayouts/slideLayout2.xml" /></ns0:Relationships>
</file>

<file path=ppt/slides/_rels/slide21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21.xml" /><ns0:Relationship Id="rId1" Type="http://schemas.openxmlformats.org/officeDocument/2006/relationships/slideLayout" Target="../slideLayouts/slideLayout2.xml" /></ns0:Relationships>
</file>

<file path=ppt/slides/_rels/slide22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22.xml" /><ns0:Relationship Id="rId1" Type="http://schemas.openxmlformats.org/officeDocument/2006/relationships/slideLayout" Target="../slideLayouts/slideLayout2.xml" /></ns0:Relationships>
</file>

<file path=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23.xml" /><ns0:Relationship Id="rId1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LAST WEEK · CONTEXT 01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Where the project stood on 8 October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sp>
        <p:nvSpPr>
          <p:cNvPr id="6" name="Reproduction complete"/>
          <p:cNvSpPr>
            <a:spLocks noGrp="1"/>
          </p:cNvSpPr>
          <p:nvPr/>
        </p:nvSpPr>
        <p:spPr>
          <a:xfrm>
            <a:off x="457200" y="1810512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Runtime-aware q on one host</a:t>
            </a:r>
          </a:p>
        </p:txBody>
      </p:sp>
      <p:sp>
        <p:nvSpPr>
          <p:cNvPr id="7" name="Read the paper, reproduced t"/>
          <p:cNvSpPr>
            <a:spLocks noGrp="1"/>
          </p:cNvSpPr>
          <p:nvPr/>
        </p:nvSpPr>
        <p:spPr>
          <a:xfrm>
            <a:off x="457200" y="2173529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Reuse-Aware gave a 1.52× geometric-mean decode speedup over q* for GPT-OSS-20B on the RTX 4070. The learned Ridge and Linear cost models did not generalise.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29718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Static 75% expert retention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3334817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Task-specific masks kept most decode accesses, but no checkpoint passed every activation check, and rerouting cut misses by at most 2.24%.</a:t>
            </a:r>
          </a:p>
        </p:txBody>
      </p:sp>
      <p:sp>
        <p:nvSpPr>
          <p:cNvPr id="10" name="Reproduction complete"/>
          <p:cNvSpPr>
            <a:spLocks noGrp="1"/>
          </p:cNvSpPr>
          <p:nvPr/>
        </p:nvSpPr>
        <p:spPr>
          <a:xfrm>
            <a:off x="457200" y="4133088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Two open questions</a:t>
            </a:r>
          </a:p>
        </p:txBody>
      </p:sp>
      <p:sp>
        <p:nvSpPr>
          <p:cNvPr id="11" name="Read the paper, reproduced t"/>
          <p:cNvSpPr>
            <a:spLocks noGrp="1"/>
          </p:cNvSpPr>
          <p:nvPr/>
        </p:nvSpPr>
        <p:spPr>
          <a:xfrm>
            <a:off x="457200" y="4496105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Does the q rule hold on other GPUs and models? Can we lower m, the number of routed experts missing from the GPU cache, without losing quality?</a:t>
            </a:r>
          </a:p>
        </p:txBody>
      </p:sp>
      <p:sp>
        <p:nvSpPr>
          <p:cNvPr id="12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3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4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This week</a:t>
            </a:r>
          </a:p>
        </p:txBody>
      </p:sp>
      <p:sp>
        <p:nvSpPr>
          <p:cNvPr id="15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15 October 2026: plan the cross-architecture study and run the m-reduction study.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WEEKLY OBJECTIVES · 15 OCTOBER 2026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Two directions for this week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sp>
        <p:nvSpPr>
          <p:cNvPr id="6" name="1"/>
          <p:cNvSpPr>
            <a:spLocks noGrp="1"/>
          </p:cNvSpPr>
          <p:nvPr/>
        </p:nvSpPr>
        <p:spPr>
          <a:xfrm>
            <a:off x="533400" y="1914525"/>
            <a:ext cx="5524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0">
                <a:solidFill>
                  <a:srgbClr val="4A5B70"/>
                </a:solidFill>
                <a:latin typeface="Newsreader"/>
                <a:ea typeface="Newsreader"/>
                <a:cs typeface="Newsreader"/>
              </a:defRPr>
            </a:pPr>
            <a:r>
              <a:rPr sz="3375" b="0">
                <a:solidFill>
                  <a:srgbClr val="4A5B70"/>
                </a:solidFill>
                <a:latin typeface="Newsreader"/>
                <a:ea typeface="Newsreader"/>
                <a:cs typeface="Newsreader"/>
              </a:rPr>
              <a:t>1</a:t>
            </a:r>
          </a:p>
        </p:txBody>
      </p:sp>
      <p:sp>
        <p:nvSpPr>
          <p:cNvPr id="7" name="Runtime-aware q selection"/>
          <p:cNvSpPr>
            <a:spLocks noGrp="1"/>
          </p:cNvSpPr>
          <p:nvPr/>
        </p:nvSpPr>
        <p:spPr>
          <a:xfrm>
            <a:off x="1190625" y="1885950"/>
            <a:ext cx="105441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Runtime-aware q across architectures</a:t>
            </a:r>
          </a:p>
        </p:txBody>
      </p:sp>
      <p:sp>
        <p:nvSpPr>
          <p:cNvPr id="8" name="Choose the CPU/GPU expert sp"/>
          <p:cNvSpPr>
            <a:spLocks noGrp="1"/>
          </p:cNvSpPr>
          <p:nvPr/>
        </p:nvSpPr>
        <p:spPr>
          <a:xfrm>
            <a:off x="1190625" y="2247900"/>
            <a:ext cx="105441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Collect the same decision episodes on more GPUs and MoE models, so the q rule is fitted and tested across hardware rather than on one host.</a:t>
            </a:r>
          </a:p>
        </p:txBody>
      </p:sp>
      <p:sp>
        <p:nvSpPr>
          <p:cNvPr id="9" name="2"/>
          <p:cNvSpPr>
            <a:spLocks noGrp="1"/>
          </p:cNvSpPr>
          <p:nvPr/>
        </p:nvSpPr>
        <p:spPr>
          <a:xfrm>
            <a:off x="533400" y="3905250"/>
            <a:ext cx="5524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0">
                <a:solidFill>
                  <a:srgbClr val="4A5B70"/>
                </a:solidFill>
                <a:latin typeface="Newsreader"/>
                <a:ea typeface="Newsreader"/>
                <a:cs typeface="Newsreader"/>
              </a:defRPr>
            </a:pPr>
            <a:r>
              <a:rPr sz="3375" b="0">
                <a:solidFill>
                  <a:srgbClr val="4A5B70"/>
                </a:solidFill>
                <a:latin typeface="Newsreader"/>
                <a:ea typeface="Newsreader"/>
                <a:cs typeface="Newsreader"/>
              </a:rPr>
              <a:t>2</a:t>
            </a:r>
          </a:p>
        </p:txBody>
      </p:sp>
      <p:sp>
        <p:nvSpPr>
          <p:cNvPr id="10" name="Adaptive reduction of m"/>
          <p:cNvSpPr>
            <a:spLocks noGrp="1"/>
          </p:cNvSpPr>
          <p:nvPr/>
        </p:nvSpPr>
        <p:spPr>
          <a:xfrm>
            <a:off x="1190625" y="3876675"/>
            <a:ext cx="105441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Family-adaptive reduction of m</a:t>
            </a:r>
          </a:p>
        </p:txBody>
      </p:sp>
      <p:sp>
        <p:nvSpPr>
          <p:cNvPr id="11" name="Study selective expert pruni"/>
          <p:cNvSpPr>
            <a:spLocks noGrp="1"/>
          </p:cNvSpPr>
          <p:nvPr/>
        </p:nvSpPr>
        <p:spPr>
          <a:xfrm>
            <a:off x="1190625" y="4238625"/>
            <a:ext cx="105441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Test cache admission, replacement, per-layer allocation, routing, and 75% pruning or merging on GPT-OSS, Qwen and Gemma, then confirm survivors live.</a:t>
            </a:r>
          </a:p>
        </p:txBody>
      </p:sp>
      <p:sp>
        <p:nvSpPr>
          <p:cNvPr id="12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3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4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Today</a:t>
            </a:r>
          </a:p>
        </p:txBody>
      </p:sp>
      <p:sp>
        <p:nvSpPr>
          <p:cNvPr id="15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Direction 1 is a plan. Direction 2 has qualified baselines, offline results and live runs in progress.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1 · GPU ARCHITECTURES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Target GPUs differ in PCIe speed and VRAM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755648"/>
          <a:ext cx="11277295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005840"/>
                <a:gridCol w="3413455"/>
                <a:gridCol w="23774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GPU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VRAM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Host link (nominal)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Status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RTX 4070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Ada Lovelace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12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PCIe 4.0; measured x4 (B_P = 6.7 GB/s)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Reference: data exists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RTX 4090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Ada Lovelace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24 GB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PCIe 4.0 x16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RTX 5090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Blackwell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32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PCIe 5.0 x16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RTX 3090, L40S, A100, H100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As available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-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-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Added when access exists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4133088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Nominal link speeds are vendor specifications; the actual link, B_P and B_H are measured on each host at Stage 0.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45720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These GPUs differ in exactly what the rule depends on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4928616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A faster PCIe link raises B_P and so rho; more VRAM holds a larger expert cache. CPU model, cores and memory are recorded; the same GPU with a different CPU is a separate cell.</a:t>
            </a:r>
          </a:p>
        </p:txBody>
      </p:sp>
      <p:sp>
        <p:nvSpPr>
          <p:cNvPr id="10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Key ratio</a:t>
            </a:r>
          </a:p>
        </p:txBody>
      </p:sp>
      <p:sp>
        <p:nvSpPr>
          <p:cNvPr id="13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rho = B_P / B_H: PCIe expert-fetch bandwidth relative to host CPU expert bandwidth.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1 · MOE MODELS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Three models span 4× in top_k/E and 7× in expert size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755648"/>
          <a:ext cx="11277295" cy="18288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914400"/>
                <a:gridCol w="1005840"/>
                <a:gridCol w="868680"/>
                <a:gridCol w="1005840"/>
                <a:gridCol w="2453335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Profile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Checkpoint (pinned revision)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Layers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Experts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top_k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top_k/E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Expert format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gpt_oss_mxfp4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openai/gpt-oss-20b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0.125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MXFP4, 13.2 MB/expert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qwen_nvfp4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nvidia/Qwen3.6-35B-A3B-NVFP4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40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256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8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0.031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NVFP4, 1.8 MB/expert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gemma_nvfp4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nvidia/Gemma-4-26B-A4B-NVFP4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0.063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NVFP4, 3.4 MB/expert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3675888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Pins in configs/pruning/models.json. Layers are MoE layers; experts are per layer.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41148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Why these three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4471416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top_k/E sets how often an expert is reused; expert size sets the price of one fetch. Both change which misses are worth fetching.</a:t>
            </a:r>
          </a:p>
        </p:txBody>
      </p:sp>
      <p:sp>
        <p:nvSpPr>
          <p:cNvPr id="10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Fitting</a:t>
            </a:r>
          </a:p>
        </p:txBody>
      </p:sp>
      <p:sp>
        <p:nvSpPr>
          <p:cNvPr id="13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Cross-cell models use dimensionless inputs: rho, top_k/E, residency in tokens and miss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1 · CELL MATRIX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Each GPU and model pair is a separate cell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755648"/>
          <a:ext cx="11277295" cy="228600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4144975"/>
                <a:gridCol w="246888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GPU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gpt-oss-20b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Qwen3.6-35B-A3B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Gemma-4-26B-A4B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RTX 4070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Done (reference)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Planned, if host RAM holds the expert bank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RTX 4090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RTX 5090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Others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Planned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4133088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A cell is attempted only after it passes Stage 0 qualification.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45720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Cache sizes are set relative to each model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4928616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Three rates of the layer × expert pool give low, medium and high miss pressure. Each is at least the engine minimum (2 × experts per layer with prefill overlap) and fits the GPU's VRAM.</a:t>
            </a:r>
          </a:p>
        </p:txBody>
      </p:sp>
      <p:sp>
        <p:nvSpPr>
          <p:cNvPr id="10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Recorded</a:t>
            </a:r>
          </a:p>
        </p:txBody>
      </p:sp>
      <p:sp>
        <p:nvSpPr>
          <p:cNvPr id="13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The chosen cache rates go into each cell's plan file, so every cell can be rebuilt.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1 · PROTOCOL 1 OF 2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Stage 0 qualifies every machine first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sp>
        <p:nvSpPr>
          <p:cNvPr id="6" name="Reproduction complete"/>
          <p:cNvSpPr>
            <a:spLocks noGrp="1"/>
          </p:cNvSpPr>
          <p:nvPr/>
        </p:nvSpPr>
        <p:spPr>
          <a:xfrm>
            <a:off x="457200" y="1810512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Install and check the host</a:t>
            </a:r>
          </a:p>
        </p:txBody>
      </p:sp>
      <p:sp>
        <p:nvSpPr>
          <p:cNvPr id="7" name="Read the paper, reproduced t"/>
          <p:cNvSpPr>
            <a:spLocks noGrp="1"/>
          </p:cNvSpPr>
          <p:nvPr/>
        </p:nvSpPr>
        <p:spPr>
          <a:xfrm>
            <a:off x="457200" y="2173529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Clone the repository, run setup and doctor before and after building the pinned FreeToken runtime, and download each pinned checkpoint.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29718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Measure the machine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3334817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Run the bandwidth calibration to measure B_P and B_H for each expert format, then the unpruned baseline for each model with three repeats.</a:t>
            </a:r>
          </a:p>
        </p:txBody>
      </p:sp>
      <p:sp>
        <p:nvSpPr>
          <p:cNvPr id="10" name="Reproduction complete"/>
          <p:cNvSpPr>
            <a:spLocks noGrp="1"/>
          </p:cNvSpPr>
          <p:nvPr/>
        </p:nvSpPr>
        <p:spPr>
          <a:xfrm>
            <a:off x="457200" y="4133088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Reproduce the reference</a:t>
            </a:r>
          </a:p>
        </p:txBody>
      </p:sp>
      <p:sp>
        <p:nvSpPr>
          <p:cNvPr id="11" name="Read the paper, reproduced t"/>
          <p:cNvSpPr>
            <a:spLocks noGrp="1"/>
          </p:cNvSpPr>
          <p:nvPr/>
        </p:nvSpPr>
        <p:spPr>
          <a:xfrm>
            <a:off x="457200" y="4496105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Run the runtime-q pilot plan and confirm the hook reproduces the engine's q*: identical decisions and matching throughput.</a:t>
            </a:r>
          </a:p>
        </p:txBody>
      </p:sp>
      <p:sp>
        <p:nvSpPr>
          <p:cNvPr id="12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3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4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Failed cell</a:t>
            </a:r>
          </a:p>
        </p:txBody>
      </p:sp>
      <p:sp>
        <p:nvSpPr>
          <p:cNvPr id="15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Missing kernels, too little VRAM or host RAM, or loader errors: kept with logs, not collected.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1 · PROTOCOL 2 OF 2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Collect, transfer, then analyse within and across cells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sp>
        <p:nvSpPr>
          <p:cNvPr id="6" name="Reproduction complete"/>
          <p:cNvSpPr>
            <a:spLocks noGrp="1"/>
          </p:cNvSpPr>
          <p:nvPr/>
        </p:nvSpPr>
        <p:spPr>
          <a:xfrm>
            <a:off x="457200" y="1810512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Stage 1 · episode collection</a:t>
            </a:r>
          </a:p>
        </p:txBody>
      </p:sp>
      <p:sp>
        <p:nvSpPr>
          <p:cNvPr id="7" name="Read the paper, reproduced t"/>
          <p:cNvSpPr>
            <a:spLocks noGrp="1"/>
          </p:cNvSpPr>
          <p:nvPr/>
        </p:nvSpPr>
        <p:spPr>
          <a:xfrm>
            <a:off x="457200" y="2173529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Four plans per model: collect, round 2, main and generalisation. Each run saves run.json, environment.json, logs, episodes and decisions; reruns skip finished episodes.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29718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Stage 2 · transfer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3334817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Results stay out of Git. Each machine archives and verifies its run directories; the analysis machine imports them into a fresh study root. Raw runs are never edited.</a:t>
            </a:r>
          </a:p>
        </p:txBody>
      </p:sp>
      <p:sp>
        <p:nvSpPr>
          <p:cNvPr id="10" name="Reproduction complete"/>
          <p:cNvSpPr>
            <a:spLocks noGrp="1"/>
          </p:cNvSpPr>
          <p:nvPr/>
        </p:nvSpPr>
        <p:spPr>
          <a:xfrm>
            <a:off x="457200" y="4133088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Stage 3 · analysis</a:t>
            </a:r>
          </a:p>
        </p:txBody>
      </p:sp>
      <p:sp>
        <p:nvSpPr>
          <p:cNvPr id="11" name="Read the paper, reproduced t"/>
          <p:cNvSpPr>
            <a:spLocks noGrp="1"/>
          </p:cNvSpPr>
          <p:nvPr/>
        </p:nvSpPr>
        <p:spPr>
          <a:xfrm>
            <a:off x="457200" y="4496105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Per cell: policy comparison with paired 95% intervals, the wall(m, q) cost table, reuse analysis and ablations. Across cells: leave-one-architecture-out and leave-one-model-out.</a:t>
            </a:r>
          </a:p>
        </p:txBody>
      </p:sp>
      <p:sp>
        <p:nvSpPr>
          <p:cNvPr id="12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3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4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Cross-cell fit</a:t>
            </a:r>
          </a:p>
        </p:txBody>
      </p:sp>
      <p:sp>
        <p:nvSpPr>
          <p:cNvPr id="15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Compare the rule's predicted fetch cost with each GPU's measured cost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1 · CONTROLS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Controls that keep cells comparable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691640"/>
          <a:ext cx="11277295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8899855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Control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Rule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Held constant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Batch 1, greedy, 128 measured tokens, one warmup, eager decode, naive KV cache, same protocol and policies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Prompts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Frozen token-ID prompts: the GPT-OSS chat template embeds the local date, which changes prompt and routing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One GPU job at a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Concurrent servers corrupt timings; no heavy CPU work, such as checkpoint-scale tensor jobs, beside a GPU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Burn-in and order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Three discarded burn-in episodes per server; policy order rotated across repeats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Runs execute in a scope without swap; RAM or swap pressure rejects the whole paired unit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Separate arms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 change of quantization, cache size, driver, runtime source or execution mode is a new arm, not a repeat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Correctness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Output hashes per episode; divergent text is documented, since CPU and GPU kernels are not bit-identical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5440680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Measurement hygiene carried over from the single-machine study.</a:t>
            </a:r>
          </a:p>
        </p:txBody>
      </p:sp>
      <p:sp>
        <p:nvSpPr>
          <p:cNvPr id="8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Origin</a:t>
            </a:r>
          </a:p>
        </p:txBody>
      </p:sp>
      <p:sp>
        <p:nvSpPr>
          <p:cNvPr id="11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The date, memory and CPU/GPU rounding rules each come from a failure seen in our own runs.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2 · MOTIVATION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Lower the number of experts that miss the cache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sp>
        <p:nvSpPr>
          <p:cNvPr id="6" name="Reproduction complete"/>
          <p:cNvSpPr>
            <a:spLocks noGrp="1"/>
          </p:cNvSpPr>
          <p:nvPr/>
        </p:nvSpPr>
        <p:spPr>
          <a:xfrm>
            <a:off x="457200" y="1810512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What m measures</a:t>
            </a:r>
          </a:p>
        </p:txBody>
      </p:sp>
      <p:sp>
        <p:nvSpPr>
          <p:cNvPr id="7" name="Read the paper, reproduced t"/>
          <p:cNvSpPr>
            <a:spLocks noGrp="1"/>
          </p:cNvSpPr>
          <p:nvPr/>
        </p:nvSpPr>
        <p:spPr>
          <a:xfrm>
            <a:off x="457200" y="2173529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For each decode token and MoE layer, m counts routed experts not resident in the GPU expert cache. Each miss is fetched over PCIe (q of them) or run on the CPU (m − q).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29718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Why reduce it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3334817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The q rule only decides how misses are served. Fewer misses means less PCIe and CPU work per token on the same hardware and cache bytes.</a:t>
            </a:r>
          </a:p>
        </p:txBody>
      </p:sp>
      <p:sp>
        <p:nvSpPr>
          <p:cNvPr id="10" name="Reproduction complete"/>
          <p:cNvSpPr>
            <a:spLocks noGrp="1"/>
          </p:cNvSpPr>
          <p:nvPr/>
        </p:nvSpPr>
        <p:spPr>
          <a:xfrm>
            <a:off x="457200" y="4133088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Five levers</a:t>
            </a:r>
          </a:p>
        </p:txBody>
      </p:sp>
      <p:sp>
        <p:nvSpPr>
          <p:cNvPr id="11" name="Read the paper, reproduced t"/>
          <p:cNvSpPr>
            <a:spLocks noGrp="1"/>
          </p:cNvSpPr>
          <p:nvPr/>
        </p:nvSpPr>
        <p:spPr>
          <a:xfrm>
            <a:off x="457200" y="4496105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Admission (which misses to fetch), replacement (what to evict), allocation (slots per layer), routing (prefer resident experts), and removing or merging 25% of experts.</a:t>
            </a:r>
          </a:p>
        </p:txBody>
      </p:sp>
      <p:sp>
        <p:nvSpPr>
          <p:cNvPr id="12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3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4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Boundary</a:t>
            </a:r>
          </a:p>
        </p:txBody>
      </p:sp>
      <p:sp>
        <p:nvSpPr>
          <p:cNvPr id="15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Lower m alone is not fewer transfers, lower latency or kept quality; each is measured.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2 · SETUP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Three models at a fixed 20% expert cache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755648"/>
          <a:ext cx="11277295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822960"/>
                <a:gridCol w="1463040"/>
                <a:gridCol w="1234440"/>
                <a:gridCol w="1463040"/>
                <a:gridCol w="1538935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Model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Layers × experts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top-k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Cache slots C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C / pool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Expert size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Sequence cap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Qwen3.6-35B-A3B NVFP4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40 × 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1.8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GPT-OSS-20B MXFP4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24 × 32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4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154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20.1%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13.2 MB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2,048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Gemma-4-26B-A4B NVFP4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30 × 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768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3.4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1,280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3675888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Capacity sensitivity uses 10% and 40% of the pool offline; equal-budget comparisons keep C and cache bytes fixed.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41148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RTX 4070 (12 GB, PCIe Gen4 x4) + Ryzen 5 8500G, 30 GB RAM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4471416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FreeToken hybrid, batch 1, greedy, eager decode, five CPU expert workers. Every run is in a no-swap scope with host-memory, swap and pressure gates.</a:t>
            </a:r>
          </a:p>
        </p:txBody>
      </p:sp>
      <p:sp>
        <p:nvSpPr>
          <p:cNvPr id="10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Rule</a:t>
            </a:r>
          </a:p>
        </p:txBody>
      </p:sp>
      <p:sp>
        <p:nvSpPr>
          <p:cNvPr id="13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Every experiment runs on all three models; a blocked cell is recorded and repaired.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2 · DATASETS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Four datasets, each with one job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755648"/>
          <a:ext cx="11277295" cy="2776118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962095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Dataset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Content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Role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D0 routing corpus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90 requests per model: 30 math, 30 code, 30 incident; 5 grouped folds; 9 repeat IDs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Fit and select every policy; replay; the 9-request live timing cohort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D1 synthetic quality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300 tasks (10 families × 10 variants per domain) and 100 sequences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Task-score and KL regression screen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D2 AIME 2025-I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15 problems, one greedy sample each, 512-token input budget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Independent math confirmation (W1-style)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D3 SWE-bench Verified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5 psf/requests issues, 3 scripted OpenCode turns each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Agentic confirmation (W2-style); harness not pinned yet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4623206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D1-D3 never choose a candidate; they confirm or reject a frozen one.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5062118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Nested selection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5418734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Parameters are chosen on the inner folds of the 72 training requests and reported on the 18 untouched outer requests of each fold.</a:t>
            </a:r>
          </a:p>
        </p:txBody>
      </p:sp>
      <p:sp>
        <p:nvSpPr>
          <p:cNvPr id="10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Statistics</a:t>
            </a:r>
          </a:p>
        </p:txBody>
      </p:sp>
      <p:sp>
        <p:nvSpPr>
          <p:cNvPr id="13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10,000-resample paired bootstrap over requests; each workload weighs one third.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2 · EXPERIMENTS 1 OF 2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P1-P5: baseline, traces and exact cache policies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691640"/>
          <a:ext cx="11277295" cy="3154680"/>
        </p:xfrm>
        <a:graphic>
          <a:graphicData uri="http://schemas.openxmlformats.org/drawingml/2006/table">
            <a:tbl>
              <a:tblPr/>
              <a:tblGrid>
                <a:gridCol w="731520"/>
                <a:gridCol w="3383280"/>
                <a:gridCol w="5699455"/>
                <a:gridCol w="146304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Exp.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Question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Arms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Outputs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Does q* fill, and what baseline is valid?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Native q with and without a one-expert floor; Reuse-Aware; prefill-informed cache seeding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Unchanged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P2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Does replay reproduce live serving?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Full router logits, cache events, teacher forcing, zero-change controls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Unchanged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Why do experts miss?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Miss classes; fully admitting LRU vs Belady MIN; deletion estimates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Diagnosis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P4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Which misses should be fetched?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Paper, overlap (native), fixed 25%, Reuse-Aware with uniform or frequency prior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Unchanged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How many cache slots per layer?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Global LRU vs uniform vs utility per-layer quotas at equal total bytes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Unchanged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4937760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Exact components: outputs must stay token-identical; m and latency decide adoption.</a:t>
            </a:r>
          </a:p>
        </p:txBody>
      </p:sp>
      <p:sp>
        <p:nvSpPr>
          <p:cNvPr id="8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Baseline</a:t>
            </a:r>
          </a:p>
        </p:txBody>
      </p:sp>
      <p:sp>
        <p:nvSpPr>
          <p:cNvPr id="11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overlap_floor1, the native q with a one-expert fetch floor, is the reference arm throughout.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2 · EXPERIMENTS 2 OF 2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P6-P9: routing, pruning, composition, replacement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691640"/>
          <a:ext cx="11277295" cy="2607869"/>
        </p:xfrm>
        <a:graphic>
          <a:graphicData uri="http://schemas.openxmlformats.org/drawingml/2006/table">
            <a:tbl>
              <a:tblPr/>
              <a:tblGrid>
                <a:gridCol w="731520"/>
                <a:gridCol w="3383280"/>
                <a:gridCol w="5699455"/>
                <a:gridCol w="146304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Exp.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Question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Arms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Outputs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Can routing prefer cached experts?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A: cache-prior bonus, λ 0.1-0.4; B: low-score swap, alpha 0.1 or 0.3; C: A then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Changed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P7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Does removing or merging 25% help?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Arm 1: miss-targeted decode exclusion; arm 2: cluster merge + router alias; R75, F75, random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Changed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Do routing and q gains compound?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 × 2: native or P6 routing × native or Reuse-Aware q; interaction term I_m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Depends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P9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Does protection against thrashing help?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Segmented LRU with 25% or 50% protected; pinning 10% or 25% of slots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Unchanged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4390949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Output-changing components (P6, P7) need the quality gate before any timing result counts.</a:t>
            </a:r>
          </a:p>
        </p:txBody>
      </p:sp>
      <p:sp>
        <p:nvSpPr>
          <p:cNvPr id="8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Controls</a:t>
            </a:r>
          </a:p>
        </p:txBody>
      </p:sp>
      <p:sp>
        <p:nvSpPr>
          <p:cNvPr id="11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Every changed-routing arm has a zero-change control that must reproduce native routes exactly.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DIRECTION 2 · STAGES AND GATES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Each stage passes a gate before the next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sp>
        <p:nvSpPr>
          <p:cNvPr id="6" name="Reproduction complete"/>
          <p:cNvSpPr>
            <a:spLocks noGrp="1"/>
          </p:cNvSpPr>
          <p:nvPr/>
        </p:nvSpPr>
        <p:spPr>
          <a:xfrm>
            <a:off x="457200" y="1810512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Stage 0 · qualify (P1, P2)</a:t>
            </a:r>
          </a:p>
        </p:txBody>
      </p:sp>
      <p:sp>
        <p:nvSpPr>
          <p:cNvPr id="7" name="Read the paper, reproduced t"/>
          <p:cNvSpPr>
            <a:spLocks noGrp="1"/>
          </p:cNvSpPr>
          <p:nvPr/>
        </p:nvSpPr>
        <p:spPr>
          <a:xfrm>
            <a:off x="457200" y="2173529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Fresh baseline captures; observation must not change outputs; replay must match live event by event; teacher forcing must reproduce baseline logits.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29718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Stage 1 · offline screens (P3-P9)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3334817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Replay all 90 requests per model at three cache sizes and select parameters on inner folds. G1 sets priority but never skips a model.</a:t>
            </a:r>
          </a:p>
        </p:txBody>
      </p:sp>
      <p:sp>
        <p:nvSpPr>
          <p:cNvPr id="10" name="Reproduction complete"/>
          <p:cNvSpPr>
            <a:spLocks noGrp="1"/>
          </p:cNvSpPr>
          <p:nvPr/>
        </p:nvSpPr>
        <p:spPr>
          <a:xfrm>
            <a:off x="457200" y="4133088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Stage 2 · live and quality</a:t>
            </a:r>
          </a:p>
        </p:txBody>
      </p:sp>
      <p:sp>
        <p:nvSpPr>
          <p:cNvPr id="11" name="Read the paper, reproduced t"/>
          <p:cNvSpPr>
            <a:spLocks noGrp="1"/>
          </p:cNvSpPr>
          <p:nvPr/>
        </p:nvSpPr>
        <p:spPr>
          <a:xfrm>
            <a:off x="457200" y="4496105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Fresh-server timing on 9 requests × 5 paired repeats; teacher-forced KL; D1 and D2 task quality; merged-weight execution for P7 arm 2.</a:t>
            </a:r>
          </a:p>
        </p:txBody>
      </p:sp>
      <p:sp>
        <p:nvSpPr>
          <p:cNvPr id="12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3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4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G2 adoption</a:t>
            </a:r>
          </a:p>
        </p:txBody>
      </p:sp>
      <p:sp>
        <p:nvSpPr>
          <p:cNvPr id="15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Exact: ≥5% m cut, same outputs, time ≤1.02×. Output-changing: ≥10% m, KL ≤0.02, top-1 ≥98%.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RESULTS · STAGE 0 QUALIFICATION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CPU and GPU expert paths had to agree first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sp>
        <p:nvSpPr>
          <p:cNvPr id="6" name="Reproduction complete"/>
          <p:cNvSpPr>
            <a:spLocks noGrp="1"/>
          </p:cNvSpPr>
          <p:nvPr/>
        </p:nvSpPr>
        <p:spPr>
          <a:xfrm>
            <a:off x="457200" y="1810512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Outputs diverged when q changed</a:t>
            </a:r>
          </a:p>
        </p:txBody>
      </p:sp>
      <p:sp>
        <p:nvSpPr>
          <p:cNvPr id="7" name="Read the paper, reproduced t"/>
          <p:cNvSpPr>
            <a:spLocks noGrp="1"/>
          </p:cNvSpPr>
          <p:nvPr/>
        </p:nvSpPr>
        <p:spPr>
          <a:xfrm>
            <a:off x="457200" y="2173529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Changing q moves experts between CPU and GPU. GPT-OSS pilot outputs differed in 12-13 of 15 requests; the first router-logit gap was only 0.0078.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29718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Numerical alignment fixed it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3334817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GPT-OSS: FP64 split-K accumulation with matched BF16 boundaries. Qwen and Gemma: an NVFP4 precision path. Every pilot arm then matched token for token.</a:t>
            </a:r>
          </a:p>
        </p:txBody>
      </p:sp>
      <p:sp>
        <p:nvSpPr>
          <p:cNvPr id="10" name="Reproduction complete"/>
          <p:cNvSpPr>
            <a:spLocks noGrp="1"/>
          </p:cNvSpPr>
          <p:nvPr/>
        </p:nvSpPr>
        <p:spPr>
          <a:xfrm>
            <a:off x="457200" y="4133088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Collection and P2 qualified</a:t>
            </a:r>
          </a:p>
        </p:txBody>
      </p:sp>
      <p:sp>
        <p:nvSpPr>
          <p:cNvPr id="11" name="Read the paper, reproduced t"/>
          <p:cNvSpPr>
            <a:spLocks noGrp="1"/>
          </p:cNvSpPr>
          <p:nvPr/>
        </p:nvSpPr>
        <p:spPr>
          <a:xfrm>
            <a:off x="457200" y="4496105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90 primary and 18 repeat captures per model. Teacher forcing reproduced all 270 histories exactly; the zero-change control gave KL = 0.</a:t>
            </a:r>
          </a:p>
        </p:txBody>
      </p:sp>
      <p:sp>
        <p:nvSpPr>
          <p:cNvPr id="12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3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4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Cost</a:t>
            </a:r>
          </a:p>
        </p:txBody>
      </p:sp>
      <p:sp>
        <p:nvSpPr>
          <p:cNvPr id="15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The aligned CPU path is slower (GPT-OSS concurrent CPU 34.9 → 4.3 GB/s); it is the new baseline.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RESULTS · P3 MISS DIAGNOSIS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Capacity and replacement cause most misses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pic>
        <p:nvPicPr>
          <p:cNvPr id="6" name="Figure 18" descr="Capacity and replacement cause most misses"/>
          <p:cNvPicPr>
            <a:picLocks noChangeAspect="1"/>
          </p:cNvPicPr>
          <p:nvPr/>
        </p:nvPicPr>
        <p:blipFill>
          <a:blip r:embed="rIdWeekFigure"/>
          <a:stretch>
            <a:fillRect/>
          </a:stretch>
        </p:blipFill>
        <p:spPr>
          <a:xfrm>
            <a:off x="1995842" y="1620000"/>
            <a:ext cx="8200315" cy="4340000"/>
          </a:xfrm>
          <a:prstGeom prst="rect">
            <a:avLst/>
          </a:prstGeom>
        </p:spPr>
      </p:pic>
      <p:sp>
        <p:nvSpPr>
          <p:cNvPr id="7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Reading</a:t>
            </a:r>
          </a:p>
        </p:txBody>
      </p:sp>
      <p:sp>
        <p:nvSpPr>
          <p:cNvPr id="10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Decode starts with an empty cache, so first touches are 6-28% of misses.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RESULTS · P4/P5 EXACT CACHE POLICIES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Exact cache policies give modest, model-specific gains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pic>
        <p:nvPicPr>
          <p:cNvPr id="6" name="Figure 18" descr="Exact cache policies give modest, model-specific gains"/>
          <p:cNvPicPr>
            <a:picLocks noChangeAspect="1"/>
          </p:cNvPicPr>
          <p:nvPr/>
        </p:nvPicPr>
        <p:blipFill>
          <a:blip r:embed="rIdWeekFigure"/>
          <a:stretch>
            <a:fillRect/>
          </a:stretch>
        </p:blipFill>
        <p:spPr>
          <a:xfrm>
            <a:off x="1995842" y="1620000"/>
            <a:ext cx="8200315" cy="4340000"/>
          </a:xfrm>
          <a:prstGeom prst="rect">
            <a:avLst/>
          </a:prstGeom>
        </p:spPr>
      </p:pic>
      <p:sp>
        <p:nvSpPr>
          <p:cNvPr id="7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Reading</a:t>
            </a:r>
          </a:p>
        </p:txBody>
      </p:sp>
      <p:sp>
        <p:nvSpPr>
          <p:cNvPr id="10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Only GPT-OSS quotas clear 5% offline; no q rule beats native by more than 3.4%.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RESULTS · P6 RESIDENT-BIASED ROUTING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Routing toward cached experts drifts too far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755648"/>
          <a:ext cx="11277295" cy="2688336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1737360"/>
                <a:gridCol w="2011680"/>
                <a:gridCol w="2194560"/>
                <a:gridCol w="1493215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Model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Setting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m reduction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Mass kept, mean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Mass kept, 5th pct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Eligible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Qwen3.6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B swap, alpha 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84.2%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Qwen3.6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 bonus, λ 0.1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57.6%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86.9%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65.4%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No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GPT-OSS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B swap, alpha 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80.4%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GPT-OSS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 bonus, λ 0.1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31.0%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91.0%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73.8%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No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Gemma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B swap, alpha 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97.4%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89.8%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Gemma 4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A bonus, λ 0.1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42.0%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92.7%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78.9%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No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4535424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Fixed-logit screen, all 90 requests. Eligible needs ≥98% mean and ≥95% 5th-percentile original probability mass.</a:t>
            </a:r>
          </a:p>
        </p:txBody>
      </p:sp>
      <p:sp>
        <p:nvSpPr>
          <p:cNvPr id="8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Verdict</a:t>
            </a:r>
          </a:p>
        </p:txBody>
      </p:sp>
      <p:sp>
        <p:nvSpPr>
          <p:cNvPr id="11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No setting is eligible on any model, so P6 has no finalist and P8 cannot be formed.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RESULTS · P7 ROUTING SCREEN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Targeted 75% arms cut m far more than frequency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pic>
        <p:nvPicPr>
          <p:cNvPr id="6" name="Figure 18" descr="Targeted 75% arms cut m far more than frequency"/>
          <p:cNvPicPr>
            <a:picLocks noChangeAspect="1"/>
          </p:cNvPicPr>
          <p:nvPr/>
        </p:nvPicPr>
        <p:blipFill>
          <a:blip r:embed="rIdWeekFigure"/>
          <a:stretch>
            <a:fillRect/>
          </a:stretch>
        </p:blipFill>
        <p:spPr>
          <a:xfrm>
            <a:off x="1995842" y="1620000"/>
            <a:ext cx="8200315" cy="4340000"/>
          </a:xfrm>
          <a:prstGeom prst="rect">
            <a:avLst/>
          </a:prstGeom>
        </p:spPr>
      </p:pic>
      <p:sp>
        <p:nvSpPr>
          <p:cNvPr id="7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Caveat</a:t>
            </a:r>
          </a:p>
        </p:txBody>
      </p:sp>
      <p:sp>
        <p:nvSpPr>
          <p:cNvPr id="10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Fixed-logit routing screen; quality and merged weights are measured in Stage 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RESULTS · P7 FIRST QUALITY CHECK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Arm 1 lowers m but changes outputs too much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755648"/>
          <a:ext cx="11277295" cy="2194560"/>
        </p:xfrm>
        <a:graphic>
          <a:graphicData uri="http://schemas.openxmlformats.org/drawingml/2006/table">
            <a:tbl>
              <a:tblPr/>
              <a:tblGrid>
                <a:gridCol w="4206240"/>
                <a:gridCol w="3474720"/>
                <a:gridCol w="3596335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Metric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Gate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GPT-OSS arm 1 (smoke)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Teacher-forced m reduction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≥10%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18.5% (first history)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Mean KL(baseline || arm 1), nats/token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≤0.02 (upper 95% bound)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0.37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Top-1 agreement with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≥98% (lower 95% bound)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D1 sequence KL, nats/token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≤0.02 (upper 95% bound)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0.57 and 0.97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4041648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Development smoke runs: two D0 histories and two D1 sequences; not accepted evidence.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448056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Far outside the quality gate on GPT-OSS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4837176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Masking 8 of 32 experts per layer at decode changes about one next-token choice in four. Qwen and Gemma, and merged arm 2, are still to be measured.</a:t>
            </a:r>
          </a:p>
        </p:txBody>
      </p:sp>
      <p:sp>
        <p:nvSpPr>
          <p:cNvPr id="10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2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Status</a:t>
            </a:r>
          </a:p>
        </p:txBody>
      </p:sp>
      <p:sp>
        <p:nvSpPr>
          <p:cNvPr id="13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Full 90-history teacher forcing, D1 and D2 are queued for all three models.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RESULTS · P9 AND P1 SEEDING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Replacement and seeding help only in a few cells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755648"/>
          <a:ext cx="11277295" cy="3218688"/>
        </p:xfrm>
        <a:graphic>
          <a:graphicData uri="http://schemas.openxmlformats.org/drawingml/2006/table">
            <a:tbl>
              <a:tblPr/>
              <a:tblGrid>
                <a:gridCol w="3962095"/>
                <a:gridCol w="2438705"/>
                <a:gridCol w="2438705"/>
                <a:gridCol w="2437790"/>
              </a:tblGrid>
              <a:tr h="4023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Arm (mean-m reduction)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Qwen3.6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GPT-OSS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Gemma 4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SLRU, 25% protected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SLRU, 50% protected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2.2%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5.1%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3.0%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Pin 10% of slots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Pin 25% of slots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0.3%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-1.7%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-2.9%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Prefill seeding, all 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Prefill seeding, tokens 0-63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22.3%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2.9%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14.3%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Seed copies per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3.6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2.0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2.6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5065776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Offline replay. P9 against LRU; seeding against the empty native decode start. Positive = fewer misses.</a:t>
            </a:r>
          </a:p>
        </p:txBody>
      </p:sp>
      <p:sp>
        <p:nvSpPr>
          <p:cNvPr id="8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Verdict</a:t>
            </a:r>
          </a:p>
        </p:txBody>
      </p:sp>
      <p:sp>
        <p:nvSpPr>
          <p:cNvPr id="11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GPT-OSS SLRU 50% awaits timing; Qwen seeding needs a timed live arm.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RESULTS · LIVE CONFIRMATION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Live kernels reproduce the simulator exactly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graphicFrame>
        <p:nvGraphicFramePr>
          <p:cNvPr id="6" name="Table 30"/>
          <p:cNvGraphicFramePr/>
          <p:nvPr/>
        </p:nvGraphicFramePr>
        <p:xfrm>
          <a:off x="457200" y="1755648"/>
          <a:ext cx="11277295" cy="3456432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2194560"/>
                <a:gridCol w="2133295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Arm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Outputs identical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ist"/>
                          <a:ea typeface="Geist"/>
                          <a:cs typeface="Geist"/>
                        </a:rPr>
                        <a:t>Event mismatches</a:t>
                      </a:r>
                    </a:p>
                  </a:txBody>
                  <a:tcPr anchor="ctr">
                    <a:solidFill>
                      <a:srgbClr val="4A5B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overlap_floor1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Native q fraction (baseline)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paper_floor1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Paper q fraction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9/9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fixed25_floor1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Fixed 25% fetch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reuse_uniform_floor1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Reuse-Aware, uniform prior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9/9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reuse_freq_floor1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Reuse-Aware, frequency prior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quota_uniform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Uniform per-layer quotas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9/9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quota_utility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Utility per-layer quotas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slru_0.5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Segmented LRU, 50% protected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9/9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139"/>
                          </a:solidFill>
                          <a:latin typeface="Geist"/>
                          <a:ea typeface="Geist"/>
                          <a:cs typeface="Geist"/>
                        </a:rPr>
                        <a:t>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7" name="Latency: ms/token in eager m"/>
          <p:cNvSpPr>
            <a:spLocks noGrp="1"/>
          </p:cNvSpPr>
          <p:nvPr/>
        </p:nvSpPr>
        <p:spPr>
          <a:xfrm>
            <a:off x="457200" y="5303520"/>
            <a:ext cx="11277295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A5B70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4A5B70"/>
                </a:solidFill>
                <a:latin typeface="Geist"/>
                <a:ea typeface="Geist"/>
                <a:cs typeface="Geist"/>
              </a:rPr>
              <a:t>GPT-OSS fidelity runs: 9 cohort requests × 256 tokens per arm, against native captures and the offline simulator.</a:t>
            </a:r>
          </a:p>
        </p:txBody>
      </p:sp>
      <p:sp>
        <p:nvSpPr>
          <p:cNvPr id="8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Running</a:t>
            </a:r>
          </a:p>
        </p:txBody>
      </p:sp>
      <p:sp>
        <p:nvSpPr>
          <p:cNvPr id="11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Five paired fresh-server timing repetitions per arm; Gemma and Qwen follow.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150" spc="92">
                <a:solidFill>
                  <a:srgbClr val="4A5B70"/>
                </a:solidFill>
                <a:latin typeface="Geist SemiBold"/>
                <a:ea typeface="Geist SemiBold"/>
                <a:cs typeface="Geist SemiBold"/>
              </a:rPr>
              <a:t>SUMMARY · STATUS AND NEXT STEPS</a:t>
            </a: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sz="3100" spc="-31">
                <a:solidFill>
                  <a:srgbClr val="1B2638"/>
                </a:solidFill>
                <a:latin typeface="Newsreader Medium"/>
                <a:ea typeface="Newsreader Medium"/>
                <a:cs typeface="Newsreader Medium"/>
              </a:rPr>
              <a:t>What we know and what runs next</a:t>
            </a:r>
          </a:p>
        </p:txBody>
      </p:sp>
      <p:sp>
        <p:nvSpPr>
          <p:cNvPr id="5" name="Shape 2"/>
          <p:cNvSpPr>
            <a:spLocks noGrp="1"/>
          </p:cNvSpPr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</p:spPr>
        <p:txBody>
          <a:bodyPr/>
          <a:lstStyle/>
          <a:p>
            <a:endParaRPr/>
          </a:p>
        </p:txBody>
      </p:sp>
      <p:sp>
        <p:nvSpPr>
          <p:cNvPr id="6" name="Reproduction complete"/>
          <p:cNvSpPr>
            <a:spLocks noGrp="1"/>
          </p:cNvSpPr>
          <p:nvPr/>
        </p:nvSpPr>
        <p:spPr>
          <a:xfrm>
            <a:off x="457200" y="1810512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Established</a:t>
            </a:r>
          </a:p>
        </p:txBody>
      </p:sp>
      <p:sp>
        <p:nvSpPr>
          <p:cNvPr id="7" name="Read the paper, reproduced t"/>
          <p:cNvSpPr>
            <a:spLocks noGrp="1"/>
          </p:cNvSpPr>
          <p:nvPr/>
        </p:nvSpPr>
        <p:spPr>
          <a:xfrm>
            <a:off x="457200" y="2173529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Qualified baselines on three models, exact replay and teacher forcing, offline P3-P9 screens, and live kernels that match the simulator event for event.</a:t>
            </a:r>
          </a:p>
        </p:txBody>
      </p:sp>
      <p:sp>
        <p:nvSpPr>
          <p:cNvPr id="8" name="Reproduction complete"/>
          <p:cNvSpPr>
            <a:spLocks noGrp="1"/>
          </p:cNvSpPr>
          <p:nvPr/>
        </p:nvSpPr>
        <p:spPr>
          <a:xfrm>
            <a:off x="457200" y="2971800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Most promising</a:t>
            </a:r>
          </a:p>
        </p:txBody>
      </p:sp>
      <p:sp>
        <p:nvSpPr>
          <p:cNvPr id="9" name="Read the paper, reproduced t"/>
          <p:cNvSpPr>
            <a:spLocks noGrp="1"/>
          </p:cNvSpPr>
          <p:nvPr/>
        </p:nvSpPr>
        <p:spPr>
          <a:xfrm>
            <a:off x="457200" y="3334817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GPT-OSS per-layer quotas (−9.9% m) and SLRU (−5.1%); Qwen prefill seeding (−6.8%). P7 arms cut m by 19-50% offline but must pass quality.</a:t>
            </a:r>
          </a:p>
        </p:txBody>
      </p:sp>
      <p:sp>
        <p:nvSpPr>
          <p:cNvPr id="10" name="Reproduction complete"/>
          <p:cNvSpPr>
            <a:spLocks noGrp="1"/>
          </p:cNvSpPr>
          <p:nvPr/>
        </p:nvSpPr>
        <p:spPr>
          <a:xfrm>
            <a:off x="457200" y="4133088"/>
            <a:ext cx="11277295" cy="304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2B3139"/>
                </a:solidFill>
                <a:latin typeface="Geist"/>
                <a:ea typeface="Geist"/>
                <a:cs typeface="Geist"/>
              </a:rPr>
              <a:t>Next</a:t>
            </a:r>
          </a:p>
        </p:txBody>
      </p:sp>
      <p:sp>
        <p:nvSpPr>
          <p:cNvPr id="11" name="Read the paper, reproduced t"/>
          <p:cNvSpPr>
            <a:spLocks noGrp="1"/>
          </p:cNvSpPr>
          <p:nvPr/>
        </p:nvSpPr>
        <p:spPr>
          <a:xfrm>
            <a:off x="457200" y="4496105"/>
            <a:ext cx="11277295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600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Live timing for every arm, P7 teacher forcing, D1 and D2 quality, merged-weight arm 2, then P8 closeout. Direction 1 starts as new GPUs become available.</a:t>
            </a:r>
          </a:p>
        </p:txBody>
      </p:sp>
      <p:sp>
        <p:nvSpPr>
          <p:cNvPr id="12" name="Rectangle 22"/>
          <p:cNvSpPr>
            <a:spLocks noGrp="1"/>
          </p:cNvSpPr>
          <p:nvPr/>
        </p:nvSpPr>
        <p:spPr>
          <a:xfrm>
            <a:off x="457200" y="6096000"/>
            <a:ext cx="11277600" cy="523875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3" name="Rectangle 23"/>
          <p:cNvSpPr>
            <a:spLocks noGrp="1"/>
          </p:cNvSpPr>
          <p:nvPr/>
        </p:nvSpPr>
        <p:spPr>
          <a:xfrm>
            <a:off x="457200" y="6096000"/>
            <a:ext cx="28575" cy="523875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4" name="Validation scope"/>
          <p:cNvSpPr>
            <a:spLocks noGrp="1"/>
          </p:cNvSpPr>
          <p:nvPr/>
        </p:nvSpPr>
        <p:spPr>
          <a:xfrm>
            <a:off x="647700" y="62198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7A2331"/>
                </a:solidFill>
                <a:latin typeface="Geist"/>
                <a:ea typeface="Geist"/>
                <a:cs typeface="Geist"/>
              </a:defRPr>
            </a:pPr>
            <a:r>
              <a:rPr sz="1425" b="1">
                <a:solidFill>
                  <a:srgbClr val="7A2331"/>
                </a:solidFill>
                <a:latin typeface="Geist"/>
                <a:ea typeface="Geist"/>
                <a:cs typeface="Geist"/>
              </a:rPr>
              <a:t>Bottom line</a:t>
            </a:r>
          </a:p>
        </p:txBody>
      </p:sp>
      <p:sp>
        <p:nvSpPr>
          <p:cNvPr id="15" name="gpt-oss-20b, RTX 4070 + Ryze"/>
          <p:cNvSpPr>
            <a:spLocks noGrp="1"/>
          </p:cNvSpPr>
          <p:nvPr/>
        </p:nvSpPr>
        <p:spPr>
          <a:xfrm>
            <a:off x="2076450" y="6219825"/>
            <a:ext cx="9458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2B3139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2B3139"/>
                </a:solidFill>
                <a:latin typeface="Geist"/>
                <a:ea typeface="Geist"/>
                <a:cs typeface="Geist"/>
              </a:rPr>
              <a:t>Exact cache policies give modest gains; the large m cuts so far change model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4587</ns0:Words>
  <ns0:Application>Microsoft Office PowerPoint</ns0:Application>
  <ns0:DocSecurity>0</ns0:DocSecurity>
  <ns0:PresentationFormat>Widescreen</ns0:PresentationFormat>
  <ns0:Paragraphs>323</ns0:Paragraphs>
  <ns0:Slides>23</ns0:Slides>
  <ns0:Notes>23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6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23</ns1:i4>
      </ns1:variant>
    </ns1:vector>
  </ns0:HeadingPairs>
  <ns0:TitlesOfParts>
    <ns1:vector size="30" baseType="lpstr">
      <ns1:lpstr>Geist</ns1:lpstr>
      <ns1:lpstr>Calibri</ns1:lpstr>
      <ns1:lpstr>Geist SemiBold</ns1:lpstr>
      <ns1:lpstr>Newsreader</ns1:lpstr>
      <ns1:lpstr>Newsreader Medium</ns1:lpstr>
      <ns1:lpstr>Arial</ns1:lpstr>
      <ns1:lpstr>Office Theme</ns1:lpstr>
      <ns1:lpstr>Where the project stood on 8 October</ns1:lpstr>
      <ns1:lpstr>Two directions for this week</ns1:lpstr>
      <ns1:lpstr>Target GPUs differ in PCIe speed and VRAM</ns1:lpstr>
      <ns1:lpstr>Three models span 4× in top_k/E and 7× in expert size</ns1:lpstr>
      <ns1:lpstr>Each GPU and model pair is a separate cell</ns1:lpstr>
      <ns1:lpstr>Stage 0 qualifies every machine first</ns1:lpstr>
      <ns1:lpstr>Collect, transfer, then analyse within and across cells</ns1:lpstr>
      <ns1:lpstr>Controls that keep cells comparable</ns1:lpstr>
      <ns1:lpstr>Lower the number of experts that miss the cache</ns1:lpstr>
      <ns1:lpstr>Three models at a fixed 20% expert cache</ns1:lpstr>
      <ns1:lpstr>Four datasets, each with one job</ns1:lpstr>
      <ns1:lpstr>P1-P5: baseline, traces and exact cache policies</ns1:lpstr>
      <ns1:lpstr>P6-P9: routing, pruning, composition, replacement</ns1:lpstr>
      <ns1:lpstr>Each stage passes a gate before the next</ns1:lpstr>
      <ns1:lpstr>CPU and GPU expert paths had to agree first</ns1:lpstr>
      <ns1:lpstr>Capacity and replacement cause most misses</ns1:lpstr>
      <ns1:lpstr>Exact cache policies give modest, model-specific gains</ns1:lpstr>
      <ns1:lpstr>Routing toward cached experts drifts too far</ns1:lpstr>
      <ns1:lpstr>Targeted 75% arms cut m far more than frequency</ns1:lpstr>
      <ns1:lpstr>Arm 1 lowers m but changes outputs too much</ns1:lpstr>
      <ns1:lpstr>Replacement and seeding help only in a few cells</ns1:lpstr>
      <ns1:lpstr>Live kernels reproduce the simulator exactly</ns1:lpstr>
      <ns1:lpstr>What we know and what runs next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APPANA SAKETH</cp:lastModifiedBy>
  <cp:revision>1</cp:revision>
  <dcterms:created xsi:type="dcterms:W3CDTF">2026-10-08T03:33:13Z</dcterms:created>
  <dcterms:modified xsi:type="dcterms:W3CDTF">2026-10-08T03:50:34Z</dcterms:modified>
</cp:coreProperties>
</file>