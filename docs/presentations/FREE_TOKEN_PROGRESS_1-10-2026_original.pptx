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72" r:id="rId13"/>
    <p:sldId id="273" r:id="rId14"/>
    <p:sldId id="274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12192000"/>
  <p:embeddedFontLst>
    <p:embeddedFont>
      <p:font typeface="Geist" panose="020B0604020202020204" charset="0"/>
      <p:regular r:id="rId22"/>
    </p:embeddedFont>
    <p:embeddedFont>
      <p:font typeface="Geist Bold" panose="020B0604020202020204" charset="0"/>
      <p:regular r:id="rId23"/>
    </p:embeddedFont>
    <p:embeddedFont>
      <p:font typeface="Geist SemiBold" panose="020B0604020202020204" charset="0"/>
      <p:regular r:id="rId24"/>
    </p:embeddedFont>
    <p:embeddedFont>
      <p:font typeface="Newsreader" panose="020B0604020202020204" charset="0"/>
      <p:regular r:id="rId25"/>
    </p:embeddedFont>
    <p:embeddedFont>
      <p:font typeface="Newsreader Medium" panose="020B0604020202020204" charset="0"/>
      <p:regular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7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91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10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update around the reproduced experiment and the gap between the bandwidth-derived q* prediction and measured latency.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four numbered rows as the progress report. The final strip transitions from reproduction to the next investigation.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questions define the next phase: first understand overlap, then test the q* policy, isolate routing locality, and compare model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shape of the curves: overlap ON stays comparatively stable as prompt length increases, while overlap OFF rises. The benefit grows from approximately 9% to 42%.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Overlap hides more work as prompts grow, but concurrency has a cost: peak GPU power rises from about 128 W to about 185 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balances the GPU transfer branch against the CPU branch. q* determines how many cache-missing experts should go to the GPU so both branches finish at approximately the same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CPU/GPU split changes. The workload moves from low_miss to high_miss, and the measurements expose how CPU traffic, branch times, latency, throughput, and balance respond.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preserving the distinction: the bandwidth model predicts q* approximately 0, but measured end-to-end latency favors q=25% across workloads. The conclusion is specific to this hardware, model, and workload; the research gap is a richer policy that includes execution, transfer, GPU, and overlap costs.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original routing with the frequency-preserved shuffled order. The three figures show lower miss rates, a temporal-locality benefit of about 30% around cache size 16, and earlier expert reuse under the original routing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per-layer view shows that locality is not uniform across the network. Most layers benefit, but the strongest layer-level benefit at cache size 8 is around 25%.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scoped research directions and limitations, not claims of definitive novelty. Each extends a current FreeToken design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FreeToken assumes the complete expert pool remains resident in host RAM. A tier below RAM could preserve the source-of-truth model while adding a cold tier for larger pools.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direction extends FreeToken’s existing GPU-cache elasticity to the host-memory tier, rather than treating host RAM as an immutable pool.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5 MB expert and an 18 MB expert should not necessarily be equivalent cache units. The right accounting unit may be bytes, transfer work, or execution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result is scoped: in the tested configuration, the bandwidth-derived q* did not correspond to the lowest measured end-to-end latency. A runtime-aware policy could incorporate utilization, overlap, memory pressure, and current workload.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0D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6857828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FREETOKEN · PROGRESS UPDATE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189" y="731837"/>
            <a:ext cx="6400640" cy="128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r>
              <a:rPr lang="en-US" sz="4800" dirty="0" err="1">
                <a:latin typeface="Newsreader Medium" panose="020B0604020202020204" charset="0"/>
              </a:rPr>
              <a:t>FreeToken</a:t>
            </a:r>
            <a:r>
              <a:rPr lang="en-US" sz="4800" dirty="0">
                <a:latin typeface="Newsreader Medium" panose="020B0604020202020204" charset="0"/>
              </a:rPr>
              <a:t>: Reproduction, Experimental Analysis &amp; Research Directions</a:t>
            </a:r>
          </a:p>
        </p:txBody>
      </p:sp>
      <p:sp>
        <p:nvSpPr>
          <p:cNvPr id="4" name="Shape 2"/>
          <p:cNvSpPr/>
          <p:nvPr/>
        </p:nvSpPr>
        <p:spPr>
          <a:xfrm>
            <a:off x="457189" y="2286595"/>
            <a:ext cx="6400640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2754908"/>
            <a:ext cx="640064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What we completed since 10 September 2026, what prefill overlap reveals, and where the bandwidth-derived q* policy diverges from measured latency.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189" y="6203652"/>
            <a:ext cx="6857828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5B667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Research review · September 2026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8" name="Text 6"/>
          <p:cNvSpPr/>
          <p:nvPr/>
        </p:nvSpPr>
        <p:spPr>
          <a:xfrm>
            <a:off x="7696007" y="1915021"/>
            <a:ext cx="4495688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00000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PROJECT FOCUS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696007" y="2189659"/>
            <a:ext cx="4114697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r>
              <a:rPr lang="en-US" sz="4000" i="1" dirty="0">
                <a:latin typeface="Newsreader" panose="020B0604020202020204" charset="0"/>
              </a:rPr>
              <a:t>Reproducing </a:t>
            </a:r>
            <a:r>
              <a:rPr lang="en-US" sz="4000" i="1" dirty="0" err="1">
                <a:latin typeface="Newsreader" panose="020B0604020202020204" charset="0"/>
              </a:rPr>
              <a:t>FreeToken</a:t>
            </a:r>
            <a:r>
              <a:rPr lang="en-US" sz="4000" i="1" dirty="0">
                <a:latin typeface="Newsreader" panose="020B0604020202020204" charset="0"/>
              </a:rPr>
              <a:t> and investigating its </a:t>
            </a:r>
            <a:r>
              <a:rPr lang="en-US" sz="4000" i="1" dirty="0" err="1">
                <a:latin typeface="Newsreader" panose="020B0604020202020204" charset="0"/>
              </a:rPr>
              <a:t>behaviour</a:t>
            </a:r>
            <a:r>
              <a:rPr lang="en-US" sz="4000" i="1" dirty="0">
                <a:latin typeface="Newsreader" panose="020B0604020202020204" charset="0"/>
              </a:rPr>
              <a:t> across overlap, q execution, and routing locality.</a:t>
            </a:r>
            <a:r>
              <a:rPr lang="en-US" sz="4000" dirty="0">
                <a:latin typeface="Newsreader" panose="020B0604020202020204" charset="0"/>
              </a:rPr>
              <a:t>*</a:t>
            </a:r>
          </a:p>
          <a:p>
            <a:pPr marL="0" indent="0" algn="l">
              <a:lnSpc>
                <a:spcPct val="88000"/>
              </a:lnSpc>
              <a:buNone/>
            </a:pPr>
            <a:endParaRPr lang="en-US" sz="40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B239FE6A-A04C-F203-F0BD-2E424F5CA0C8}"/>
              </a:ext>
            </a:extLst>
          </p:cNvPr>
          <p:cNvSpPr/>
          <p:nvPr/>
        </p:nvSpPr>
        <p:spPr>
          <a:xfrm>
            <a:off x="381296" y="4347408"/>
            <a:ext cx="640064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r>
              <a:rPr lang="en-US" sz="2000" i="1" dirty="0">
                <a:latin typeface="Geist SemiBold" panose="020B0604020202020204" charset="0"/>
                <a:ea typeface="Geist SemiBold" panose="020B0604020202020204" charset="0"/>
                <a:cs typeface="Geist SemiBold" panose="020B0604020202020204" charset="0"/>
              </a:rPr>
              <a:t>paper reproduction → edge-device experiments → Prefill Overlap → q Policy → Routing Locality &amp; LRU → Qwen vs GPT-OSS → proposed future investigations</a:t>
            </a:r>
            <a:r>
              <a:rPr lang="en-US" sz="2000" dirty="0">
                <a:latin typeface="Geist SemiBold" panose="020B0604020202020204" charset="0"/>
                <a:ea typeface="Geist SemiBold" panose="020B0604020202020204" charset="0"/>
                <a:cs typeface="Geist SemiBold" panose="020B0604020202020204" charset="0"/>
              </a:rPr>
              <a:t>*</a:t>
            </a:r>
            <a:endParaRPr lang="en-US" sz="1900" dirty="0">
              <a:latin typeface="Geist SemiBold" panose="020B0604020202020204" charset="0"/>
              <a:ea typeface="Geist SemiBold" panose="020B0604020202020204" charset="0"/>
              <a:cs typeface="Geist SemiBold" panose="020B06040202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C187F60-7417-6633-BE84-288243E0D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189" y="457200"/>
            <a:ext cx="11277318" cy="432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100" kern="0" spc="-31" dirty="0">
                <a:solidFill>
                  <a:srgbClr val="1B2638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Since the last meeting, the core experiment is reproduced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457189" y="1164828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/>
        </p:spPr>
      </p:sp>
      <p:sp>
        <p:nvSpPr>
          <p:cNvPr id="4" name="Text 2"/>
          <p:cNvSpPr/>
          <p:nvPr/>
        </p:nvSpPr>
        <p:spPr>
          <a:xfrm>
            <a:off x="646989" y="1444526"/>
            <a:ext cx="851573" cy="427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350" dirty="0">
                <a:solidFill>
                  <a:srgbClr val="4A5B7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</a:t>
            </a:r>
            <a:endParaRPr lang="en-US" sz="3350" dirty="0"/>
          </a:p>
        </p:txBody>
      </p:sp>
      <p:sp>
        <p:nvSpPr>
          <p:cNvPr id="5" name="Text 3"/>
          <p:cNvSpPr/>
          <p:nvPr/>
        </p:nvSpPr>
        <p:spPr>
          <a:xfrm>
            <a:off x="1066773" y="1448991"/>
            <a:ext cx="10667733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2B3139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Last meeting:</a:t>
            </a: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10 September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6989" y="2512814"/>
            <a:ext cx="851573" cy="427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350" dirty="0">
                <a:solidFill>
                  <a:srgbClr val="4A5B7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</a:t>
            </a:r>
            <a:endParaRPr lang="en-US" sz="3350" dirty="0"/>
          </a:p>
        </p:txBody>
      </p:sp>
      <p:sp>
        <p:nvSpPr>
          <p:cNvPr id="7" name="Text 5"/>
          <p:cNvSpPr/>
          <p:nvPr/>
        </p:nvSpPr>
        <p:spPr>
          <a:xfrm>
            <a:off x="1066773" y="2517279"/>
            <a:ext cx="10667733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Completed detailed reading and understanding of the FreeToken paper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6989" y="3581102"/>
            <a:ext cx="851573" cy="427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350" dirty="0">
                <a:solidFill>
                  <a:srgbClr val="4A5B7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3</a:t>
            </a:r>
            <a:endParaRPr lang="en-US" sz="3350" dirty="0"/>
          </a:p>
        </p:txBody>
      </p:sp>
      <p:sp>
        <p:nvSpPr>
          <p:cNvPr id="9" name="Text 7"/>
          <p:cNvSpPr/>
          <p:nvPr/>
        </p:nvSpPr>
        <p:spPr>
          <a:xfrm>
            <a:off x="1066773" y="3585567"/>
            <a:ext cx="10667733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Reproduced the key experiments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6989" y="4649391"/>
            <a:ext cx="851573" cy="427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350" dirty="0">
                <a:solidFill>
                  <a:srgbClr val="4A5B7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4</a:t>
            </a:r>
            <a:endParaRPr lang="en-US" sz="3350" dirty="0"/>
          </a:p>
        </p:txBody>
      </p:sp>
      <p:sp>
        <p:nvSpPr>
          <p:cNvPr id="11" name="Text 9"/>
          <p:cNvSpPr/>
          <p:nvPr/>
        </p:nvSpPr>
        <p:spPr>
          <a:xfrm>
            <a:off x="1066773" y="4653855"/>
            <a:ext cx="10667733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Implemented and experimented with FreeToken on our edge devices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189" y="5468144"/>
            <a:ext cx="11277318" cy="932656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189" y="5468144"/>
            <a:ext cx="38099" cy="932656"/>
          </a:xfrm>
          <a:prstGeom prst="rect">
            <a:avLst/>
          </a:prstGeom>
          <a:solidFill>
            <a:srgbClr val="7A2331"/>
          </a:solidFill>
          <a:ln/>
        </p:spPr>
      </p:sp>
      <p:sp>
        <p:nvSpPr>
          <p:cNvPr id="14" name="Text 12"/>
          <p:cNvSpPr/>
          <p:nvPr/>
        </p:nvSpPr>
        <p:spPr>
          <a:xfrm>
            <a:off x="749281" y="5645944"/>
            <a:ext cx="10731232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7A233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Next focus:</a:t>
            </a: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turn the reproduced measurements into decisions about overlap, routing, locality, and model-specific behavior.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189" y="2282329"/>
            <a:ext cx="11277318" cy="12700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189" y="3350617"/>
            <a:ext cx="11277318" cy="12700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189" y="4418905"/>
            <a:ext cx="11277318" cy="12700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F4BE1C3-68A2-2C17-6A24-96C8F1A1E9B4}"/>
              </a:ext>
            </a:extLst>
          </p:cNvPr>
          <p:cNvSpPr/>
          <p:nvPr/>
        </p:nvSpPr>
        <p:spPr>
          <a:xfrm>
            <a:off x="11028784" y="6578600"/>
            <a:ext cx="1163216" cy="229896"/>
          </a:xfrm>
          <a:prstGeom prst="roundRect">
            <a:avLst/>
          </a:prstGeom>
          <a:solidFill>
            <a:srgbClr val="FAF7F0"/>
          </a:solidFill>
          <a:ln>
            <a:solidFill>
              <a:srgbClr val="FAF7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15D0E8B5-B101-A4FA-2867-B6C6A98E2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0849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189" y="457200"/>
            <a:ext cx="11277318" cy="432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100" kern="0" spc="-31" dirty="0">
                <a:solidFill>
                  <a:srgbClr val="1B2638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Four follow-ups frame the next investigation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457189" y="1164828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/>
        </p:spPr>
      </p:sp>
      <p:sp>
        <p:nvSpPr>
          <p:cNvPr id="4" name="Text 2"/>
          <p:cNvSpPr/>
          <p:nvPr/>
        </p:nvSpPr>
        <p:spPr>
          <a:xfrm>
            <a:off x="646989" y="1626295"/>
            <a:ext cx="851573" cy="427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350" dirty="0">
                <a:solidFill>
                  <a:srgbClr val="4A5B7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</a:t>
            </a:r>
            <a:endParaRPr lang="en-US" sz="3350" dirty="0"/>
          </a:p>
        </p:txBody>
      </p:sp>
      <p:sp>
        <p:nvSpPr>
          <p:cNvPr id="5" name="Text 3"/>
          <p:cNvSpPr/>
          <p:nvPr/>
        </p:nvSpPr>
        <p:spPr>
          <a:xfrm>
            <a:off x="1066773" y="1721545"/>
            <a:ext cx="10667733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2B3139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Prefill overlap:</a:t>
            </a: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look for patterns beyond throughput and TTFT improvements.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6989" y="2917230"/>
            <a:ext cx="851573" cy="427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350" dirty="0">
                <a:solidFill>
                  <a:srgbClr val="4A5B7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</a:t>
            </a:r>
            <a:endParaRPr lang="en-US" sz="3350" dirty="0"/>
          </a:p>
        </p:txBody>
      </p:sp>
      <p:sp>
        <p:nvSpPr>
          <p:cNvPr id="7" name="Text 5"/>
          <p:cNvSpPr/>
          <p:nvPr/>
        </p:nvSpPr>
        <p:spPr>
          <a:xfrm>
            <a:off x="1066773" y="3012480"/>
            <a:ext cx="10667733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2B3139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q* policy and CPU bandwidth:</a:t>
            </a: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measure host-bandwidth use when q* is removed or replaced by fixed execution.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6989" y="4208264"/>
            <a:ext cx="851573" cy="427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350" dirty="0">
                <a:solidFill>
                  <a:srgbClr val="4A5B7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3</a:t>
            </a:r>
            <a:endParaRPr lang="en-US" sz="3350" dirty="0"/>
          </a:p>
        </p:txBody>
      </p:sp>
      <p:sp>
        <p:nvSpPr>
          <p:cNvPr id="9" name="Text 7"/>
          <p:cNvSpPr/>
          <p:nvPr/>
        </p:nvSpPr>
        <p:spPr>
          <a:xfrm>
            <a:off x="1066773" y="4303514"/>
            <a:ext cx="10667733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2B3139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Routing locality and LRU:</a:t>
            </a: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compare original versus shuffled routing order to isolate temporal-locality benefit.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6989" y="5477570"/>
            <a:ext cx="851573" cy="427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350" dirty="0">
                <a:solidFill>
                  <a:srgbClr val="4A5B7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4</a:t>
            </a:r>
            <a:endParaRPr lang="en-US" sz="3350" dirty="0"/>
          </a:p>
        </p:txBody>
      </p:sp>
      <p:sp>
        <p:nvSpPr>
          <p:cNvPr id="11" name="Text 9"/>
          <p:cNvSpPr/>
          <p:nvPr/>
        </p:nvSpPr>
        <p:spPr>
          <a:xfrm>
            <a:off x="1066773" y="5572820"/>
            <a:ext cx="10667733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2B3139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Qwen vs. GPT-OSS:</a:t>
            </a: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investigate whether expert geometry or active-expert ratio explains measured bandwidth and execution differences, and whether the execution formula or pruning strategy should adapt.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189" y="2504976"/>
            <a:ext cx="11277318" cy="12700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189" y="3795911"/>
            <a:ext cx="11277318" cy="12700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189" y="5086945"/>
            <a:ext cx="11277318" cy="12700"/>
          </a:xfrm>
          <a:prstGeom prst="rect">
            <a:avLst/>
          </a:prstGeom>
          <a:solidFill>
            <a:srgbClr val="D8D1C4"/>
          </a:solidFill>
          <a:ln/>
        </p:spPr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B0F8AB4-9623-1395-EB9D-C3BA6E7591A9}"/>
              </a:ext>
            </a:extLst>
          </p:cNvPr>
          <p:cNvSpPr/>
          <p:nvPr/>
        </p:nvSpPr>
        <p:spPr>
          <a:xfrm>
            <a:off x="11028784" y="6578600"/>
            <a:ext cx="1163216" cy="229896"/>
          </a:xfrm>
          <a:prstGeom prst="roundRect">
            <a:avLst/>
          </a:prstGeom>
          <a:solidFill>
            <a:srgbClr val="FAF7F0"/>
          </a:solidFill>
          <a:ln>
            <a:solidFill>
              <a:srgbClr val="FAF7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6654634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PREFILL OVERLAP · EVIDENCE 01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189" y="731837"/>
            <a:ext cx="6197445" cy="865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100" kern="0" spc="-31" dirty="0">
                <a:solidFill>
                  <a:srgbClr val="1B2638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1. Prefill overlap keeps TTFT stable as prompts grow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189" y="1872456"/>
            <a:ext cx="6197445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2156619"/>
            <a:ext cx="6197445" cy="1027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Overlap ON remains comparatively stable while overlap OFF rises sharply with prompt length. The gap widens from 1,041 to 7,899 tokens.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189" y="5468144"/>
            <a:ext cx="6197445" cy="932656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7" name="Shape 5"/>
          <p:cNvSpPr/>
          <p:nvPr/>
        </p:nvSpPr>
        <p:spPr>
          <a:xfrm>
            <a:off x="457189" y="5468144"/>
            <a:ext cx="38099" cy="932656"/>
          </a:xfrm>
          <a:prstGeom prst="rect">
            <a:avLst/>
          </a:prstGeom>
          <a:solidFill>
            <a:srgbClr val="7A2331"/>
          </a:solidFill>
          <a:ln/>
        </p:spPr>
      </p:sp>
      <p:sp>
        <p:nvSpPr>
          <p:cNvPr id="8" name="Text 6"/>
          <p:cNvSpPr/>
          <p:nvPr/>
        </p:nvSpPr>
        <p:spPr>
          <a:xfrm>
            <a:off x="749281" y="5645944"/>
            <a:ext cx="5651359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7A233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Takeaway:</a:t>
            </a: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overlap hides an increasingly larger fraction of transfer/compute time as prompt length increases.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11822" y="0"/>
            <a:ext cx="5079873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416" y="1789509"/>
            <a:ext cx="4190895" cy="269418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40416" y="4674195"/>
            <a:ext cx="4622684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Benefit: ≈ 9% at 1,041 tokens · ≈ 15% at 2,032 · ≈ 26% at 4,095 · ≈ 42% at 7,899</a:t>
            </a:r>
            <a:endParaRPr lang="en-US" sz="11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AB40105-27A5-2821-3F23-F7A0BEE769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4997" y="1367168"/>
            <a:ext cx="4768103" cy="30652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63B6963-4737-4EF1-506A-D57AC0EA1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PREFILL OVERLAP · EVIDENCE 02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100" kern="0" spc="-31" dirty="0">
                <a:solidFill>
                  <a:srgbClr val="1B2638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1. Prefill overlap hides more work, with a power trade-off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1723628"/>
            <a:ext cx="11277318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Hidden transfer/compute time grows from approximately 0.17 s at 1,041 tokens to 1.35 s at 7,899 tokens, while the corresponding benefit rises from 9% to 42%.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189" y="2503884"/>
            <a:ext cx="5486263" cy="31003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60383" y="2773759"/>
            <a:ext cx="5283068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Hidden work grows with prompt length.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48244" y="2503884"/>
            <a:ext cx="5486263" cy="31003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51439" y="2773759"/>
            <a:ext cx="5283068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Peak GPU power: about 185 W ON versus 128 W OFF.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189" y="5807472"/>
            <a:ext cx="11277318" cy="593328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11" name="Shape 9"/>
          <p:cNvSpPr/>
          <p:nvPr/>
        </p:nvSpPr>
        <p:spPr>
          <a:xfrm>
            <a:off x="457189" y="5807472"/>
            <a:ext cx="38099" cy="593328"/>
          </a:xfrm>
          <a:prstGeom prst="rect">
            <a:avLst/>
          </a:prstGeom>
          <a:solidFill>
            <a:srgbClr val="7A2331"/>
          </a:solidFill>
          <a:ln/>
        </p:spPr>
      </p:sp>
      <p:sp>
        <p:nvSpPr>
          <p:cNvPr id="12" name="Text 10"/>
          <p:cNvSpPr/>
          <p:nvPr/>
        </p:nvSpPr>
        <p:spPr>
          <a:xfrm>
            <a:off x="749281" y="5959872"/>
            <a:ext cx="10985225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7A233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finding:</a:t>
            </a: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concurrent copy + compute increases peak GPU power demand.</a:t>
            </a:r>
            <a:endParaRPr lang="en-US" sz="16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85F5916-D4FE-3A75-F601-67B4383A5FB0}"/>
              </a:ext>
            </a:extLst>
          </p:cNvPr>
          <p:cNvSpPr/>
          <p:nvPr/>
        </p:nvSpPr>
        <p:spPr>
          <a:xfrm>
            <a:off x="11028784" y="6578600"/>
            <a:ext cx="1163216" cy="229896"/>
          </a:xfrm>
          <a:prstGeom prst="roundRect">
            <a:avLst/>
          </a:prstGeom>
          <a:solidFill>
            <a:srgbClr val="FAF7F0"/>
          </a:solidFill>
          <a:ln>
            <a:solidFill>
              <a:srgbClr val="FAF7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BDD279C-B055-24BB-D1A6-3B3CAC1C53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707" y="3042530"/>
            <a:ext cx="3873518" cy="249011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D9DFD9C-308C-4E44-239C-35C939AB97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2823" y="3042530"/>
            <a:ext cx="4271233" cy="25327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5DD650D0-DEA6-8376-0CE6-B29DC88C8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Q* POLICY · MODEL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100" kern="0" spc="-31" dirty="0">
                <a:solidFill>
                  <a:srgbClr val="1B2638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2.FreeToken chooses q* by balancing two concurrent branches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1723628"/>
            <a:ext cx="11277318" cy="865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For m cache-missing experts, q go to GPU and m−q execute on CPU; q* determines how many go to GPU so CPU execution and GPU transfer/execution finish at approximately the same time. Let S = expert size; BP = host-to-GPU bandwidth; BH = host-side CPU expert-processing bandwidth.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189" y="2792413"/>
            <a:ext cx="3657509" cy="1824831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7" name="Text 5"/>
          <p:cNvSpPr/>
          <p:nvPr/>
        </p:nvSpPr>
        <p:spPr>
          <a:xfrm>
            <a:off x="660383" y="2970213"/>
            <a:ext cx="3251119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0" kern="0" spc="-60" dirty="0">
                <a:solidFill>
                  <a:srgbClr val="1B2638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60383" y="3729037"/>
            <a:ext cx="3454314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cache-missing experts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0383" y="4150916"/>
            <a:ext cx="3454314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split into two concurrent branches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67093" y="2792413"/>
            <a:ext cx="3657509" cy="1824831"/>
          </a:xfrm>
          <a:prstGeom prst="rect">
            <a:avLst/>
          </a:prstGeom>
          <a:noFill/>
          <a:ln w="25399">
            <a:solidFill>
              <a:srgbClr val="4A5B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5688" y="2995613"/>
            <a:ext cx="3428914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GPU BRANCH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495688" y="3270250"/>
            <a:ext cx="320032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q → GPU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95688" y="3749675"/>
            <a:ext cx="3428914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T_fill(q) ≈ qS / BP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76998" y="2792413"/>
            <a:ext cx="3657509" cy="1824831"/>
          </a:xfrm>
          <a:prstGeom prst="rect">
            <a:avLst/>
          </a:prstGeom>
          <a:noFill/>
          <a:ln w="25399">
            <a:solidFill>
              <a:srgbClr val="4A5B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5592" y="2995613"/>
            <a:ext cx="3428914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CPU BRANCH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305592" y="3270250"/>
            <a:ext cx="320032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m−q → CPU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05592" y="3749675"/>
            <a:ext cx="3428914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T_CPU(m−q) ≈ (m−q)S / (BH−BP)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2396" y="4820444"/>
            <a:ext cx="11886903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2B3139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Concurrent execution:</a:t>
            </a: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 = max(T_fill, T_CPU); balance T_fill = T_CPU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189" y="5312172"/>
            <a:ext cx="11277318" cy="593328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189" y="5312172"/>
            <a:ext cx="38099" cy="593328"/>
          </a:xfrm>
          <a:prstGeom prst="rect">
            <a:avLst/>
          </a:prstGeom>
          <a:solidFill>
            <a:srgbClr val="7A2331"/>
          </a:solidFill>
          <a:ln/>
        </p:spPr>
      </p:sp>
      <p:sp>
        <p:nvSpPr>
          <p:cNvPr id="21" name="Text 19"/>
          <p:cNvSpPr/>
          <p:nvPr/>
        </p:nvSpPr>
        <p:spPr>
          <a:xfrm>
            <a:off x="749281" y="5464572"/>
            <a:ext cx="10985225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7A233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Derivation:</a:t>
            </a: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qS/BP = (m−q)S/(BH−BP) → qBH = mBP → </a:t>
            </a:r>
            <a:r>
              <a:rPr lang="en-US" sz="16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q* = m × BP/BH</a:t>
            </a:r>
            <a:endParaRPr lang="en-US" sz="16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00E67A3-3D3F-EC8D-7620-FB15991F1D14}"/>
              </a:ext>
            </a:extLst>
          </p:cNvPr>
          <p:cNvSpPr/>
          <p:nvPr/>
        </p:nvSpPr>
        <p:spPr>
          <a:xfrm>
            <a:off x="11028784" y="6578600"/>
            <a:ext cx="1163216" cy="229896"/>
          </a:xfrm>
          <a:prstGeom prst="roundRect">
            <a:avLst/>
          </a:prstGeom>
          <a:solidFill>
            <a:srgbClr val="FAF7F0"/>
          </a:solidFill>
          <a:ln>
            <a:solidFill>
              <a:srgbClr val="FAF7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E8FB4E5F-5889-FCF6-3207-2EE15937F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Q* POLICY · EXPERIMENT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100" kern="0" spc="-31" dirty="0">
                <a:solidFill>
                  <a:srgbClr val="1B2638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2.Experiment: fixed q policies expose the CPU/GPU trade-off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1723628"/>
            <a:ext cx="11734506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Keep the model, hardware, resources, and workload fixed; change only the CPU/GPU split of cache-missing experts.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189" y="3036094"/>
            <a:ext cx="7680728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POLICY SPECTRUM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189" y="3352006"/>
            <a:ext cx="1536066" cy="1542653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8" name="Text 6"/>
          <p:cNvSpPr/>
          <p:nvPr/>
        </p:nvSpPr>
        <p:spPr>
          <a:xfrm>
            <a:off x="609585" y="3555206"/>
            <a:ext cx="1231274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q = 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585" y="4034631"/>
            <a:ext cx="1231274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0% GPU</a:t>
            </a: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all CPU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993255" y="3352006"/>
            <a:ext cx="1536165" cy="1542653"/>
          </a:xfrm>
          <a:prstGeom prst="rect">
            <a:avLst/>
          </a:prstGeom>
          <a:noFill/>
          <a:ln w="25399">
            <a:solidFill>
              <a:srgbClr val="4A5B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71050" y="3580606"/>
            <a:ext cx="1180574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q = 25%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171050" y="4060031"/>
            <a:ext cx="1180574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fixed mixed split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29420" y="3352006"/>
            <a:ext cx="1536165" cy="1542653"/>
          </a:xfrm>
          <a:prstGeom prst="rect">
            <a:avLst/>
          </a:prstGeom>
          <a:noFill/>
          <a:ln w="25399">
            <a:solidFill>
              <a:srgbClr val="4A5B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7216" y="3580606"/>
            <a:ext cx="118057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q = 50%, 75%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07216" y="4377531"/>
            <a:ext cx="1358370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more GPU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65586" y="3352006"/>
            <a:ext cx="3072331" cy="1542653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17" name="Text 15"/>
          <p:cNvSpPr/>
          <p:nvPr/>
        </p:nvSpPr>
        <p:spPr>
          <a:xfrm>
            <a:off x="5217982" y="3555206"/>
            <a:ext cx="2767539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q = 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17982" y="4034631"/>
            <a:ext cx="2767539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100% GPU</a:t>
            </a: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CPU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724478" y="5077222"/>
            <a:ext cx="5145951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189" y="5291534"/>
            <a:ext cx="7680728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7A233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q*</a:t>
            </a: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· FreeToken’s bandwidth-derived adaptive decision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442610" y="2215356"/>
            <a:ext cx="3291897" cy="41854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696604" y="3059906"/>
            <a:ext cx="3037903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00000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WORKLOADS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696604" y="3375819"/>
            <a:ext cx="2783909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low_miss</a:t>
            </a: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· </a:t>
            </a:r>
            <a:r>
              <a:rPr lang="en-US" sz="16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med_miss</a:t>
            </a: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· </a:t>
            </a:r>
            <a:r>
              <a:rPr lang="en-US" sz="16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high_miss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96604" y="4086225"/>
            <a:ext cx="3037903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00000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METRICS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696604" y="4402137"/>
            <a:ext cx="2783909" cy="1154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CPU traffic, CPU branch time, GPU/PCIe branch time, end-to-end latency, throughput, and branch balance.</a:t>
            </a:r>
            <a:endParaRPr lang="en-US" sz="160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1EF6D06-44E8-769C-B339-F9C3AEBBE67E}"/>
              </a:ext>
            </a:extLst>
          </p:cNvPr>
          <p:cNvSpPr/>
          <p:nvPr/>
        </p:nvSpPr>
        <p:spPr>
          <a:xfrm>
            <a:off x="11028784" y="6578600"/>
            <a:ext cx="1163216" cy="229896"/>
          </a:xfrm>
          <a:prstGeom prst="roundRect">
            <a:avLst/>
          </a:prstGeom>
          <a:solidFill>
            <a:srgbClr val="FAF7F0"/>
          </a:solidFill>
          <a:ln>
            <a:solidFill>
              <a:srgbClr val="FAF7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2F458939-A7D0-BF6F-3AE4-159F887D9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189" y="457200"/>
            <a:ext cx="11734506" cy="134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kern="0" spc="68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RESULTS · EVIDENCE WALL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189" y="642441"/>
            <a:ext cx="11277318" cy="32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300" kern="0" spc="-23" dirty="0">
                <a:solidFill>
                  <a:srgbClr val="1B2638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2.What the results show: q*≈0, but q=25% wins on stability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189" y="1123156"/>
            <a:ext cx="11277318" cy="19050"/>
          </a:xfrm>
          <a:prstGeom prst="roundRect">
            <a:avLst>
              <a:gd name="adj" fmla="val 49999"/>
            </a:avLst>
          </a:prstGeom>
          <a:solidFill>
            <a:srgbClr val="4A5B70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1290737"/>
            <a:ext cx="11277318" cy="370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predicted q* and measured oracle q are approximately 0 in this configuration, so q* behaves essentially like q=0. Yet the measured end-to-end results show q=25% is substantially better across workloads.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189" y="1772642"/>
            <a:ext cx="2743131" cy="180568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87" y="1848842"/>
            <a:ext cx="2590735" cy="14573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3387" y="3356471"/>
            <a:ext cx="2666933" cy="145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CPU bandwidth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352716" y="1772642"/>
            <a:ext cx="2666933" cy="180568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8914" y="1848842"/>
            <a:ext cx="2514537" cy="141446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28914" y="3313609"/>
            <a:ext cx="2590735" cy="145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CPU execution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6172046" y="1772642"/>
            <a:ext cx="2666933" cy="180568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244" y="1848842"/>
            <a:ext cx="2514537" cy="141446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48244" y="3313609"/>
            <a:ext cx="2590735" cy="145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GPU execution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8991375" y="1772642"/>
            <a:ext cx="2743131" cy="180568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7573" y="1848842"/>
            <a:ext cx="2590735" cy="14573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67573" y="3356471"/>
            <a:ext cx="2666933" cy="145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Decode latency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457189" y="3730724"/>
            <a:ext cx="2743131" cy="180568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3"/>
          <p:cNvSpPr/>
          <p:nvPr/>
        </p:nvSpPr>
        <p:spPr>
          <a:xfrm>
            <a:off x="533387" y="5314553"/>
            <a:ext cx="2666933" cy="145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Tokens per sec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3352716" y="3730724"/>
            <a:ext cx="2666933" cy="180568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5"/>
          <p:cNvSpPr/>
          <p:nvPr/>
        </p:nvSpPr>
        <p:spPr>
          <a:xfrm>
            <a:off x="3428914" y="5271691"/>
            <a:ext cx="2590735" cy="145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T_CPU vs T_GPU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6324935" y="3730724"/>
            <a:ext cx="5409572" cy="180568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19"/>
          <p:cNvSpPr/>
          <p:nvPr/>
        </p:nvSpPr>
        <p:spPr>
          <a:xfrm>
            <a:off x="9067573" y="5314553"/>
            <a:ext cx="2666933" cy="145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 vs q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457189" y="5647432"/>
            <a:ext cx="11277318" cy="624880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27" name="Shape 21"/>
          <p:cNvSpPr/>
          <p:nvPr/>
        </p:nvSpPr>
        <p:spPr>
          <a:xfrm>
            <a:off x="457189" y="5647432"/>
            <a:ext cx="38099" cy="624880"/>
          </a:xfrm>
          <a:prstGeom prst="rect">
            <a:avLst/>
          </a:prstGeom>
          <a:solidFill>
            <a:srgbClr val="7A2331"/>
          </a:solidFill>
          <a:ln/>
        </p:spPr>
      </p:sp>
      <p:sp>
        <p:nvSpPr>
          <p:cNvPr id="28" name="Text 22"/>
          <p:cNvSpPr/>
          <p:nvPr/>
        </p:nvSpPr>
        <p:spPr>
          <a:xfrm>
            <a:off x="723882" y="5774432"/>
            <a:ext cx="10782030" cy="370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7A233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Measured distinction:</a:t>
            </a:r>
            <a:r>
              <a:rPr lang="en-US" sz="12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q*=q=0 keeps CPU traffic near 1.27×10^9 bytes/token and CPU branch time near 36 ms/layer; q=25% cuts CPU branch time to roughly 20, 21, and 24 ms for low, medium, and high miss.</a:t>
            </a:r>
            <a:endParaRPr lang="en-US" sz="1200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0B81C6E-1613-720B-412D-23C3636908D5}"/>
              </a:ext>
            </a:extLst>
          </p:cNvPr>
          <p:cNvSpPr/>
          <p:nvPr/>
        </p:nvSpPr>
        <p:spPr>
          <a:xfrm>
            <a:off x="11028784" y="6578600"/>
            <a:ext cx="1163216" cy="229896"/>
          </a:xfrm>
          <a:prstGeom prst="roundRect">
            <a:avLst/>
          </a:prstGeom>
          <a:solidFill>
            <a:srgbClr val="FAF7F0"/>
          </a:solidFill>
          <a:ln>
            <a:solidFill>
              <a:srgbClr val="FAF7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380990" y="6289329"/>
            <a:ext cx="11277318" cy="547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5B6676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q=50–100%</a:t>
            </a:r>
            <a:r>
              <a:rPr lang="en-US" sz="850" dirty="0">
                <a:solidFill>
                  <a:srgbClr val="5B667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makes GPU/PCIe cost dominant, especially at high miss; q=m reaches roughly 190 ms. End-to-end latency: q=25% is about 25/27/34 ms versus about 42 ms for q*=q=0.</a:t>
            </a:r>
            <a:endParaRPr lang="en-US" sz="8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850" b="1" dirty="0">
                <a:solidFill>
                  <a:srgbClr val="5B6676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Research gap:</a:t>
            </a:r>
            <a:r>
              <a:rPr lang="en-US" sz="850" dirty="0">
                <a:solidFill>
                  <a:srgbClr val="5B667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for this hardware, model, and workload, the bandwidth-only q* decision does not correspond to the lowest observed latency. A richer policy may need CPU execution, PCIe transfer, GPU execution, and overlap costs.</a:t>
            </a:r>
            <a:endParaRPr lang="en-US" sz="85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307C9ADF-EC76-EE9D-9DD7-5E601CCAA5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38" y="3639273"/>
            <a:ext cx="2666933" cy="167528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9EF10BB-BE99-C990-26A9-772525259F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05605" y="3724675"/>
            <a:ext cx="2437846" cy="157957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0BC61A9C-9703-B804-2696-C1247F4C7E4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2083" y="3702291"/>
            <a:ext cx="4879965" cy="16019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949B20B8-5568-1FCD-1981-5133EB02F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ROUTING LOCALITY · LRU CACHE BENEFIT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100" kern="0" spc="-31" dirty="0">
                <a:solidFill>
                  <a:srgbClr val="1B2638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3.Preserving routing order improves LRU behaviour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1723628"/>
            <a:ext cx="11734506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5B667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Original order vs frequency-preserved shuffle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189" y="2123976"/>
            <a:ext cx="3657509" cy="2632571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786" y="2225576"/>
            <a:ext cx="3454314" cy="194300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58786" y="4260652"/>
            <a:ext cx="3454314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LRU miss rate · original routing is lower, especially at medium cache sizes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67093" y="2123976"/>
            <a:ext cx="3657509" cy="2632571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8691" y="2225576"/>
            <a:ext cx="3454314" cy="19430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68691" y="4260652"/>
            <a:ext cx="3454314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Temporal-locality benefit · about 30% around cache size 16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076998" y="2123976"/>
            <a:ext cx="3657509" cy="2632571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8595" y="2225576"/>
            <a:ext cx="3454314" cy="194300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78595" y="4260652"/>
            <a:ext cx="3454314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Reuse distance · original routing reuses experts sooner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57189" y="4959747"/>
            <a:ext cx="11277318" cy="542528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16" name="Shape 11"/>
          <p:cNvSpPr/>
          <p:nvPr/>
        </p:nvSpPr>
        <p:spPr>
          <a:xfrm>
            <a:off x="457189" y="4959747"/>
            <a:ext cx="38099" cy="542528"/>
          </a:xfrm>
          <a:prstGeom prst="rect">
            <a:avLst/>
          </a:prstGeom>
          <a:solidFill>
            <a:srgbClr val="7A2331"/>
          </a:solidFill>
          <a:ln/>
        </p:spPr>
      </p:sp>
      <p:sp>
        <p:nvSpPr>
          <p:cNvPr id="17" name="Text 12"/>
          <p:cNvSpPr/>
          <p:nvPr/>
        </p:nvSpPr>
        <p:spPr>
          <a:xfrm>
            <a:off x="723882" y="5086747"/>
            <a:ext cx="11010625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7A233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Pattern:</a:t>
            </a: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benefit is strongest around cache sizes 6–16 and disappears near full cache.</a:t>
            </a:r>
            <a:endParaRPr lang="en-US" sz="16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CD90A87-2378-C725-A02E-4A35A1C1A6D0}"/>
              </a:ext>
            </a:extLst>
          </p:cNvPr>
          <p:cNvSpPr/>
          <p:nvPr/>
        </p:nvSpPr>
        <p:spPr>
          <a:xfrm>
            <a:off x="11028784" y="6578600"/>
            <a:ext cx="1163216" cy="229896"/>
          </a:xfrm>
          <a:prstGeom prst="roundRect">
            <a:avLst/>
          </a:prstGeom>
          <a:solidFill>
            <a:srgbClr val="FAF7F0"/>
          </a:solidFill>
          <a:ln>
            <a:solidFill>
              <a:srgbClr val="FAF7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2FCE7EC-46B2-93D2-30A8-E503BAF7F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ROUTING LOCALITY · LAYER-WISE BEHAVIOUR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100" kern="0" spc="-31" dirty="0">
                <a:solidFill>
                  <a:srgbClr val="1B2638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3.Temporal locality varies across MoE layers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9" y="1723628"/>
            <a:ext cx="7045843" cy="2870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786" y="1825228"/>
            <a:ext cx="5333867" cy="2667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55329" y="2479377"/>
            <a:ext cx="4079178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5B667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Most layers show positive benefit, with some layers substantially higher.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655329" y="3007023"/>
            <a:ext cx="4079178" cy="831056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9" name="Shape 6"/>
          <p:cNvSpPr/>
          <p:nvPr/>
        </p:nvSpPr>
        <p:spPr>
          <a:xfrm>
            <a:off x="7655329" y="3007023"/>
            <a:ext cx="38099" cy="831056"/>
          </a:xfrm>
          <a:prstGeom prst="rect">
            <a:avLst/>
          </a:prstGeom>
          <a:solidFill>
            <a:srgbClr val="7A2331"/>
          </a:solidFill>
          <a:ln/>
        </p:spPr>
      </p:sp>
      <p:sp>
        <p:nvSpPr>
          <p:cNvPr id="10" name="Text 7"/>
          <p:cNvSpPr/>
          <p:nvPr/>
        </p:nvSpPr>
        <p:spPr>
          <a:xfrm>
            <a:off x="7922022" y="3134023"/>
            <a:ext cx="3583890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7A233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At cache size 8:</a:t>
            </a: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strongest layer-level benefit is around 25%.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189" y="4797028"/>
            <a:ext cx="11734506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dirty="0">
                <a:solidFill>
                  <a:srgbClr val="5B6676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takeaway:</a:t>
            </a:r>
            <a:r>
              <a:rPr lang="en-US" sz="1150" dirty="0">
                <a:solidFill>
                  <a:srgbClr val="5B667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Preserving routing order improves LRU cache behaviour because experts are reused sooner; the benefit depends on cache size and MoE layer.</a:t>
            </a:r>
            <a:endParaRPr lang="en-US" sz="115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50CB098-EC7C-FEE9-74FC-754F55B6752B}"/>
              </a:ext>
            </a:extLst>
          </p:cNvPr>
          <p:cNvSpPr/>
          <p:nvPr/>
        </p:nvSpPr>
        <p:spPr>
          <a:xfrm>
            <a:off x="11028784" y="6578600"/>
            <a:ext cx="1163216" cy="229896"/>
          </a:xfrm>
          <a:prstGeom prst="roundRect">
            <a:avLst/>
          </a:prstGeom>
          <a:solidFill>
            <a:srgbClr val="FAF7F0"/>
          </a:solidFill>
          <a:ln>
            <a:solidFill>
              <a:srgbClr val="FAF7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25D953-ECDF-6F14-0221-2D1A056E8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CB0611C3-742B-71A8-9D5B-9438400A4079}"/>
              </a:ext>
            </a:extLst>
          </p:cNvPr>
          <p:cNvSpPr/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/>
        </p:spPr>
      </p:sp>
    </p:spTree>
    <p:extLst>
      <p:ext uri="{BB962C8B-B14F-4D97-AF65-F5344CB8AC3E}">
        <p14:creationId xmlns:p14="http://schemas.microsoft.com/office/powerpoint/2010/main" val="1986382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8B92C-E724-81B3-69F7-DA5BEFE3C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CD082E-8B96-B8C5-BF15-8E0341036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2">
            <a:extLst>
              <a:ext uri="{FF2B5EF4-FFF2-40B4-BE49-F238E27FC236}">
                <a16:creationId xmlns:a16="http://schemas.microsoft.com/office/drawing/2014/main" id="{11C4DE1F-DC1E-F3E7-A236-4AC13E5AA58A}"/>
              </a:ext>
            </a:extLst>
          </p:cNvPr>
          <p:cNvSpPr/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/>
        </p:spPr>
      </p:sp>
    </p:spTree>
    <p:extLst>
      <p:ext uri="{BB962C8B-B14F-4D97-AF65-F5344CB8AC3E}">
        <p14:creationId xmlns:p14="http://schemas.microsoft.com/office/powerpoint/2010/main" val="1115687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B0E3E-0597-8850-4619-4C1679397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5C52E7-B6A8-E63A-6D85-37C072692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2">
            <a:extLst>
              <a:ext uri="{FF2B5EF4-FFF2-40B4-BE49-F238E27FC236}">
                <a16:creationId xmlns:a16="http://schemas.microsoft.com/office/drawing/2014/main" id="{0CECF8C3-4E6E-F861-FEDD-5069ADF6E1AB}"/>
              </a:ext>
            </a:extLst>
          </p:cNvPr>
          <p:cNvSpPr/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/>
        </p:spPr>
      </p:sp>
    </p:spTree>
    <p:extLst>
      <p:ext uri="{BB962C8B-B14F-4D97-AF65-F5344CB8AC3E}">
        <p14:creationId xmlns:p14="http://schemas.microsoft.com/office/powerpoint/2010/main" val="23490016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40F55-C20C-EEAD-D82E-A51ACA970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F18492-D480-CC1F-A3F9-1BAA23E65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2">
            <a:extLst>
              <a:ext uri="{FF2B5EF4-FFF2-40B4-BE49-F238E27FC236}">
                <a16:creationId xmlns:a16="http://schemas.microsoft.com/office/drawing/2014/main" id="{C835DF41-2104-B7B6-896B-9FCA52140C15}"/>
              </a:ext>
            </a:extLst>
          </p:cNvPr>
          <p:cNvSpPr/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/>
        </p:spPr>
      </p:sp>
    </p:spTree>
    <p:extLst>
      <p:ext uri="{BB962C8B-B14F-4D97-AF65-F5344CB8AC3E}">
        <p14:creationId xmlns:p14="http://schemas.microsoft.com/office/powerpoint/2010/main" val="2782351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DA40CD2-67F2-CA09-D2AB-A2163F585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FURTHER RESEARCH · FREE TOKEN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189" y="731837"/>
            <a:ext cx="11277318" cy="530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800" kern="0" spc="-38" dirty="0">
                <a:solidFill>
                  <a:srgbClr val="1B2638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Further Research Directions for FreeToken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189" y="1537295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1821458"/>
            <a:ext cx="11734506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Four potential directions connect directly to FreeToken’s current architecture.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189" y="5453757"/>
            <a:ext cx="2705032" cy="9470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34984" y="5631557"/>
            <a:ext cx="2349441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01</a:t>
            </a:r>
            <a:endParaRPr lang="en-US" sz="11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Beyond host-RAM capacity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14617" y="5453757"/>
            <a:ext cx="2705032" cy="947043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9" name="Text 7"/>
          <p:cNvSpPr/>
          <p:nvPr/>
        </p:nvSpPr>
        <p:spPr>
          <a:xfrm>
            <a:off x="3492413" y="5631557"/>
            <a:ext cx="2349441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02</a:t>
            </a:r>
            <a:endParaRPr lang="en-US" sz="11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Dynamic host-memory management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046" y="5453757"/>
            <a:ext cx="2705032" cy="9470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349841" y="5631557"/>
            <a:ext cx="2349441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03</a:t>
            </a:r>
            <a:endParaRPr lang="en-US" sz="11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Size-aware caching and scheduling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029474" y="5453757"/>
            <a:ext cx="2705032" cy="947043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13" name="Text 11"/>
          <p:cNvSpPr/>
          <p:nvPr/>
        </p:nvSpPr>
        <p:spPr>
          <a:xfrm>
            <a:off x="9207270" y="5631557"/>
            <a:ext cx="2349441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04</a:t>
            </a:r>
            <a:endParaRPr lang="en-US" sz="11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Runtime-aware q selection</a:t>
            </a:r>
            <a:endParaRPr lang="en-US" sz="115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054DAAA-84D9-BB60-43E6-B65F92A4E05B}"/>
              </a:ext>
            </a:extLst>
          </p:cNvPr>
          <p:cNvSpPr/>
          <p:nvPr/>
        </p:nvSpPr>
        <p:spPr>
          <a:xfrm>
            <a:off x="11028784" y="6578600"/>
            <a:ext cx="1163216" cy="229896"/>
          </a:xfrm>
          <a:prstGeom prst="roundRect">
            <a:avLst/>
          </a:prstGeom>
          <a:solidFill>
            <a:srgbClr val="FAF7F0"/>
          </a:solidFill>
          <a:ln>
            <a:solidFill>
              <a:srgbClr val="FAF7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87CF031B-17D3-7BC0-998A-2BF12CC0B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DIRECTION 1 · MEMORY HIERARCHY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100" kern="0" spc="-31" dirty="0">
                <a:solidFill>
                  <a:srgbClr val="1B2638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Beyond the Host-RAM Capacity Limit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9" y="1723628"/>
            <a:ext cx="6674973" cy="16444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60383" y="1926828"/>
            <a:ext cx="6471778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Current architecture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60383" y="2257326"/>
            <a:ext cx="6268583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GPU VRAM → GPU Expert Cache → Host RAM → Complete Expert Pool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0383" y="2967732"/>
            <a:ext cx="6471778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Host RAM is the source of truth when Expert Pool Size ≤ Available Host RAM.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284458" y="1723628"/>
            <a:ext cx="4450048" cy="1644452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10" name="Text 8"/>
          <p:cNvSpPr/>
          <p:nvPr/>
        </p:nvSpPr>
        <p:spPr>
          <a:xfrm>
            <a:off x="7487653" y="1926828"/>
            <a:ext cx="4246853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Proposed extension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87653" y="2257326"/>
            <a:ext cx="4246853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GPU → RAM → NVMe / Secondary Storage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87653" y="2679204"/>
            <a:ext cx="4043658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Hot experts on GPU · warm experts in RAM · cold experts on NVMe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189" y="3495080"/>
            <a:ext cx="11277318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2B3139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Research question:</a:t>
            </a: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How can expert residency be dynamically managed across GPU memory, host RAM, and NVMe when the complete expert pool cannot fit in host RAM?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189" y="4275336"/>
            <a:ext cx="11734506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5B667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challenge is intelligent multi-tier residency based on bandwidth, latency, expert reuse, and memory capacity—not simply putting experts on SSD.</a:t>
            </a:r>
            <a:endParaRPr lang="en-US" sz="115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433928B-9D44-3FC7-F175-4B48E1A7FC6B}"/>
              </a:ext>
            </a:extLst>
          </p:cNvPr>
          <p:cNvSpPr/>
          <p:nvPr/>
        </p:nvSpPr>
        <p:spPr>
          <a:xfrm>
            <a:off x="11028784" y="6578600"/>
            <a:ext cx="1163216" cy="229896"/>
          </a:xfrm>
          <a:prstGeom prst="roundRect">
            <a:avLst/>
          </a:prstGeom>
          <a:solidFill>
            <a:srgbClr val="FAF7F0"/>
          </a:solidFill>
          <a:ln>
            <a:solidFill>
              <a:srgbClr val="FAF7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4DD9281-4C29-44B6-2AC4-5139D927F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DIRECTION 2 · ELASTICITY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100" kern="0" spc="-31" dirty="0">
                <a:solidFill>
                  <a:srgbClr val="1B2638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Dynamic Host-Memory Management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9" y="1723628"/>
            <a:ext cx="3708307" cy="17907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34984" y="1901428"/>
            <a:ext cx="3530512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Today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34984" y="2231926"/>
            <a:ext cx="3352716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GPU memory is elastic: expert cache + KV cache.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4984" y="2942332"/>
            <a:ext cx="3352716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Host RAM’s complete expert pool is effectively resident.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7892" y="1723628"/>
            <a:ext cx="7416614" cy="1790799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10" name="Text 8"/>
          <p:cNvSpPr/>
          <p:nvPr/>
        </p:nvSpPr>
        <p:spPr>
          <a:xfrm>
            <a:off x="4495688" y="1901428"/>
            <a:ext cx="7238819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Potential hierarchy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95688" y="2231926"/>
            <a:ext cx="7238819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NVMe → RAM cache → GPU cache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95688" y="2653804"/>
            <a:ext cx="7238819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Under pressure, cold experts move to NVMe; when RAM returns, frequently used experts come back.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189" y="3641427"/>
            <a:ext cx="11277318" cy="1357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spcAft>
                <a:spcPts val="1550"/>
              </a:spcAft>
              <a:buNone/>
            </a:pPr>
            <a:r>
              <a:rPr lang="en-US" sz="1600" b="1" dirty="0">
                <a:solidFill>
                  <a:srgbClr val="2B3139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Available RAM at t1 ≠ Available RAM at t2.</a:t>
            </a: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Other applications, OS activity, containers, workloads, and runtime state can change the usable budget.</a:t>
            </a: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2B3139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Research question:</a:t>
            </a: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Can FreeToken dynamically manage host-memory expert residency in response to changing RAM availability and memory pressure?</a:t>
            </a:r>
            <a:endParaRPr lang="en-US" sz="16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94DEC9E-683B-E1AE-8752-076FAE6985C8}"/>
              </a:ext>
            </a:extLst>
          </p:cNvPr>
          <p:cNvSpPr/>
          <p:nvPr/>
        </p:nvSpPr>
        <p:spPr>
          <a:xfrm>
            <a:off x="11028784" y="6578600"/>
            <a:ext cx="1163216" cy="229896"/>
          </a:xfrm>
          <a:prstGeom prst="roundRect">
            <a:avLst/>
          </a:prstGeom>
          <a:solidFill>
            <a:srgbClr val="FAF7F0"/>
          </a:solidFill>
          <a:ln>
            <a:solidFill>
              <a:srgbClr val="FAF7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88767052-C036-27E2-23C7-F95A9EDA8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5" y="-27153"/>
            <a:ext cx="12192000" cy="685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0E8C90B-F3C8-136A-3DC4-E67192852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DIRECTION 3 · BYTES, NOT COUNTS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100" kern="0" spc="-31" dirty="0">
                <a:solidFill>
                  <a:srgbClr val="1B2638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Size-Aware Expert Caching and Scheduling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9" y="1723628"/>
            <a:ext cx="4449949" cy="15936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34984" y="1901428"/>
            <a:ext cx="4272153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Simplified view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34984" y="2231926"/>
            <a:ext cx="4272153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Expert 1 · Expert 2 · Expert 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4984" y="2653804"/>
            <a:ext cx="4272153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One expert = one cache unit.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59434" y="1723628"/>
            <a:ext cx="6675072" cy="1593652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10" name="Text 8"/>
          <p:cNvSpPr/>
          <p:nvPr/>
        </p:nvSpPr>
        <p:spPr>
          <a:xfrm>
            <a:off x="5237230" y="1901428"/>
            <a:ext cx="6497277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Heterogeneous reality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237230" y="2231926"/>
            <a:ext cx="6319481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Expert A </a:t>
            </a:r>
            <a:r>
              <a:rPr lang="en-US" sz="16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 MB</a:t>
            </a: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· Expert B </a:t>
            </a:r>
            <a:r>
              <a:rPr lang="en-US" sz="16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 MB</a:t>
            </a: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Expert C </a:t>
            </a:r>
            <a:r>
              <a:rPr lang="en-US" sz="16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18 MB</a:t>
            </a: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· Expert D </a:t>
            </a:r>
            <a:r>
              <a:rPr lang="en-US" sz="16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18 MB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37230" y="2942332"/>
            <a:ext cx="6497277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Count does not equal memory or transfer work.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58786" y="3622080"/>
            <a:ext cx="11175720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2B3139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Byte-aware decisions:</a:t>
            </a: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S_GPU = total bytes sent to GPU · S_CPU = total bytes executed on CPU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8786" y="4043958"/>
            <a:ext cx="11074123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5B667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Allocation, eviction, admission, PCIe transfer, CPU execution, and q* scheduling may all need to account for size. Replacement could combine recency + expert size + reuse probability + transfer cost.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189" y="4743053"/>
            <a:ext cx="11277318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2B3139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Research question:</a:t>
            </a: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How should FreeToken’s expert caching and CPU/GPU scheduling change when experts have heterogeneous memory footprints?</a:t>
            </a:r>
            <a:endParaRPr lang="en-US" sz="16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F597D85-6096-46DE-9D92-197AF1F491FF}"/>
              </a:ext>
            </a:extLst>
          </p:cNvPr>
          <p:cNvSpPr/>
          <p:nvPr/>
        </p:nvSpPr>
        <p:spPr>
          <a:xfrm>
            <a:off x="11028784" y="6578600"/>
            <a:ext cx="1163216" cy="229896"/>
          </a:xfrm>
          <a:prstGeom prst="roundRect">
            <a:avLst/>
          </a:prstGeom>
          <a:solidFill>
            <a:srgbClr val="FAF7F0"/>
          </a:solidFill>
          <a:ln>
            <a:solidFill>
              <a:srgbClr val="FAF7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0C07A3B5-BDD5-9442-DDC1-3C33B01F3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189" y="457200"/>
            <a:ext cx="11734506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 spc="92" dirty="0">
                <a:solidFill>
                  <a:srgbClr val="4A5B70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DIRECTION 4 · POLICY ADAPTATION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189" y="731837"/>
            <a:ext cx="11277318" cy="432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100" kern="0" spc="-31" dirty="0">
                <a:solidFill>
                  <a:srgbClr val="1B2638"/>
                </a:solidFill>
                <a:latin typeface="Newsreader Medium" pitchFamily="34" charset="0"/>
                <a:ea typeface="Newsreader Medium" pitchFamily="34" charset="-122"/>
                <a:cs typeface="Newsreader Medium" pitchFamily="34" charset="-120"/>
              </a:rPr>
              <a:t>Runtime-Aware q Selection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189" y="143946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9" y="1723628"/>
            <a:ext cx="5006155" cy="16994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34984" y="1901428"/>
            <a:ext cx="482836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Current model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34984" y="2231926"/>
            <a:ext cx="4828360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q* ≈ m × BP / BH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4984" y="2653804"/>
            <a:ext cx="4650564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 = cache-missing experts</a:t>
            </a:r>
            <a:endParaRPr lang="en-US" sz="11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BP = host→GPU bandwidth</a:t>
            </a:r>
            <a:endParaRPr lang="en-US" sz="11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BH = host-side processing bandwidth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15641" y="1723628"/>
            <a:ext cx="6118866" cy="1699419"/>
          </a:xfrm>
          <a:prstGeom prst="rect">
            <a:avLst/>
          </a:prstGeom>
          <a:solidFill>
            <a:srgbClr val="EFEAE0"/>
          </a:solidFill>
          <a:ln/>
        </p:spPr>
      </p:sp>
      <p:sp>
        <p:nvSpPr>
          <p:cNvPr id="10" name="Text 8"/>
          <p:cNvSpPr/>
          <p:nvPr/>
        </p:nvSpPr>
        <p:spPr>
          <a:xfrm>
            <a:off x="5793436" y="1901428"/>
            <a:ext cx="594107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Observed scope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793436" y="2231926"/>
            <a:ext cx="5941070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Tested: q*, 0%, 25%, 50%, 75%, 100%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93436" y="2653804"/>
            <a:ext cx="5763275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For the tested model, hardware, and workloads, q* ≈ 0 while q=25% had lower end-to-end decode latency. Higher q increased GPU/PCIe cost, especially at high miss rates.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58786" y="3727847"/>
            <a:ext cx="11175720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2B3139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Future policy:</a:t>
            </a: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q = f(BP, BH, CPU cost, GPU cost, transfer cost, overlap, resource utilization, workload)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8786" y="4149725"/>
            <a:ext cx="11074123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5B667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bandwidth-ratio model may not capture every runtime cost affecting the best CPU/GPU split. This does not make q* universally incorrect; it motivates broader signals.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189" y="4848820"/>
            <a:ext cx="11277318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2B3139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Research question:</a:t>
            </a:r>
            <a:r>
              <a:rPr lang="en-US" sz="1600" dirty="0">
                <a:solidFill>
                  <a:srgbClr val="2B313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Can a runtime-aware q-selection policy choose the CPU/GPU expert split more accurately than a bandwidth-only q* model?</a:t>
            </a:r>
            <a:endParaRPr lang="en-US" sz="16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1C4A445-FD7B-862A-2A1B-92303DBF40D6}"/>
              </a:ext>
            </a:extLst>
          </p:cNvPr>
          <p:cNvSpPr/>
          <p:nvPr/>
        </p:nvSpPr>
        <p:spPr>
          <a:xfrm>
            <a:off x="11028784" y="6578600"/>
            <a:ext cx="1163216" cy="229896"/>
          </a:xfrm>
          <a:prstGeom prst="roundRect">
            <a:avLst/>
          </a:prstGeom>
          <a:solidFill>
            <a:srgbClr val="FAF7F0"/>
          </a:solidFill>
          <a:ln>
            <a:solidFill>
              <a:srgbClr val="FAF7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</TotalTime>
  <Words>2114</Words>
  <Application>Microsoft Office PowerPoint</Application>
  <PresentationFormat>Widescreen</PresentationFormat>
  <Paragraphs>181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Geist Bold</vt:lpstr>
      <vt:lpstr>Geist</vt:lpstr>
      <vt:lpstr>Arial</vt:lpstr>
      <vt:lpstr>Geist SemiBold</vt:lpstr>
      <vt:lpstr>Newsreader</vt:lpstr>
      <vt:lpstr>Newsreader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APPANA SAKETH</cp:lastModifiedBy>
  <cp:revision>5</cp:revision>
  <dcterms:created xsi:type="dcterms:W3CDTF">2026-09-30T07:01:11Z</dcterms:created>
  <dcterms:modified xsi:type="dcterms:W3CDTF">2026-10-01T03:11:27Z</dcterms:modified>
</cp:coreProperties>
</file>