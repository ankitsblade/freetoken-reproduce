
<file path=[Content_Types].xml><?xml version="1.0" encoding="utf-8"?>
<ns0:Types xmlns:ns0="http://schemas.openxmlformats.org/package/2006/content-types">
  <ns0:Default Extension="fntdata" ContentType="application/x-fontdata"/>
  <ns0:Default Extension="png" ContentType="image/png"/>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theme/theme2.xml" ContentType="application/vnd.openxmlformats-officedocument.theme+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ppt/notesSlides/notesSlide11.xml" ContentType="application/vnd.openxmlformats-officedocument.presentationml.notesSlide+xml"/>
  <ns0:Override PartName="/ppt/notesSlides/notesSlide12.xml" ContentType="application/vnd.openxmlformats-officedocument.presentationml.notesSlide+xml"/>
  <ns0:Override PartName="/ppt/notesSlides/notesSlide13.xml" ContentType="application/vnd.openxmlformats-officedocument.presentationml.notesSlide+xml"/>
  <ns0:Override PartName="/ppt/notesSlides/notesSlide14.xml" ContentType="application/vnd.openxmlformats-officedocument.presentationml.notesSlide+xml"/>
  <ns0:Override PartName="/ppt/notesSlides/notesSlide15.xml" ContentType="application/vnd.openxmlformats-officedocument.presentationml.notesSlide+xml"/>
  <ns0:Override PartName="/ppt/notesSlides/notesSlide16.xml" ContentType="application/vnd.openxmlformats-officedocument.presentationml.notesSlide+xml"/>
  <ns0:Override PartName="/ppt/notesSlides/notesSlide17.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Override PartName="/ppt/slides/slide18.xml" ContentType="application/vnd.openxmlformats-officedocument.presentationml.slide+xml"/>
  <ns0:Override PartName="/ppt/slides/slide19.xml" ContentType="application/vnd.openxmlformats-officedocument.presentationml.slide+xml"/>
  <ns0:Override PartName="/ppt/slides/slide20.xml" ContentType="application/vnd.openxmlformats-officedocument.presentationml.slide+xml"/>
  <ns0:Override PartName="/ppt/notesSlides/notesSlide18.xml" ContentType="application/vnd.openxmlformats-officedocument.presentationml.notesSlide+xml"/>
  <ns0:Override PartName="/ppt/notesSlides/notesSlide19.xml" ContentType="application/vnd.openxmlformats-officedocument.presentationml.notesSlide+xml"/>
  <ns0:Override PartName="/ppt/notesSlides/notesSlide20.xml" ContentType="application/vnd.openxmlformats-officedocument.presentationml.notesSlide+xml"/>
  <ns0:Override PartName="/ppt/slides/slide21.xml" ContentType="application/vnd.openxmlformats-officedocument.presentationml.slide+xml"/>
  <ns0:Override PartName="/ppt/notesSlides/notesSlide21.xml" ContentType="application/vnd.openxmlformats-officedocument.presentationml.notesSlide+xml"/>
  <ns0:Override PartName="/ppt/slides/slide22.xml" ContentType="application/vnd.openxmlformats-officedocument.presentationml.slide+xml"/>
  <ns0:Override PartName="/ppt/notesSlides/notesSlide22.xml" ContentType="application/vnd.openxmlformats-officedocument.presentationml.notesSlide+xml"/>
  <ns0:Override PartName="/ppt/slides/slide23.xml" ContentType="application/vnd.openxmlformats-officedocument.presentationml.slide+xml"/>
  <ns0:Override PartName="/ppt/notesSlides/notesSlide23.xml" ContentType="application/vnd.openxmlformats-officedocument.presentationml.notesSlide+xml"/>
  <ns0:Override PartName="/ppt/slides/slide24.xml" ContentType="application/vnd.openxmlformats-officedocument.presentationml.slide+xml"/>
  <ns0:Override PartName="/ppt/notesSlides/notesSlide24.xml" ContentType="application/vnd.openxmlformats-officedocument.presentationml.notesSlide+xml"/>
  <ns0:Override PartName="/ppt/slides/slide25.xml" ContentType="application/vnd.openxmlformats-officedocument.presentationml.slide+xml"/>
  <ns0:Override PartName="/ppt/notesSlides/notesSlide25.xml" ContentType="application/vnd.openxmlformats-officedocument.presentationml.notesSlide+xml"/>
  <ns0:Override PartName="/ppt/slides/slide26.xml" ContentType="application/vnd.openxmlformats-officedocument.presentationml.slide+xml"/>
  <ns0:Override PartName="/ppt/notesSlides/notesSlide26.xml" ContentType="application/vnd.openxmlformats-officedocument.presentationml.notesSlide+xml"/>
  <ns0:Override PartName="/ppt/slides/slide27.xml" ContentType="application/vnd.openxmlformats-officedocument.presentationml.slide+xml"/>
  <ns0:Override PartName="/ppt/notesSlides/notesSlide27.xml" ContentType="application/vnd.openxmlformats-officedocument.presentationml.notesSlide+xml"/>
  <ns0:Override PartName="/ppt/slides/slide28.xml" ContentType="application/vnd.openxmlformats-officedocument.presentationml.slide+xml"/>
  <ns0:Override PartName="/ppt/notesSlides/notesSlide28.xml" ContentType="application/vnd.openxmlformats-officedocument.presentationml.notesSlide+xml"/>
  <ns0:Override PartName="/ppt/slides/slide29.xml" ContentType="application/vnd.openxmlformats-officedocument.presentationml.slide+xml"/>
  <ns0:Override PartName="/ppt/notesSlides/notesSlide29.xml" ContentType="application/vnd.openxmlformats-officedocument.presentationml.notesSlide+xml"/>
  <ns0:Override PartName="/ppt/slides/slide30.xml" ContentType="application/vnd.openxmlformats-officedocument.presentationml.slide+xml"/>
  <ns0:Override PartName="/ppt/notesSlides/notesSlide30.xml" ContentType="application/vnd.openxmlformats-officedocument.presentationml.notesSlide+xml"/>
</ns0: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embedTrueTypeFonts="1">
  <p:sldMasterIdLst>
    <p:sldMasterId id="2147483648" r:id="rId1"/>
  </p:sldMasterIdLst>
  <p:notesMasterIdLst>
    <p:notesMasterId r:id="rId19"/>
  </p:notesMasterIdLst>
  <p:sldIdLst>
    <p:sldId id="256" r:id="rId2"/>
    <p:sldId id="258" r:id="rId3"/>
    <p:sldId id="277" r:id="rIdStaticSlide21"/>
    <p:sldId id="278" r:id="rIdStaticSlide22"/>
    <p:sldId id="279" r:id="rIdStaticSlide23"/>
    <p:sldId id="280" r:id="rIdStaticSlide24"/>
    <p:sldId id="281" r:id="rIdStaticSlide25"/>
    <p:sldId id="282" r:id="rIdStaticSlide26"/>
    <p:sldId id="283" r:id="rIdStaticSlide27"/>
    <p:sldId id="284" r:id="rIdStaticSlide28"/>
    <p:sldId id="285" r:id="rIdStaticSlide29"/>
    <p:sldId id="286" r:id="rIdStaticSlide30"/>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28"/>
    <p:sldId id="275" r:id="rId29"/>
    <p:sldId id="276" r:id="rId30"/>
  </p:sldIdLst>
  <p:sldSz cx="12192000" cy="6858000"/>
  <p:notesSz cx="6858000" cy="9144000"/>
  <p:embeddedFontLst>
    <p:embeddedFont>
      <p:font typeface="Geist" panose="020B0604020202020204" charset="0"/>
      <p:regular r:id="rId20"/>
    </p:embeddedFont>
    <p:embeddedFont>
      <p:font typeface="Geist SemiBold" panose="020B0604020202020204" charset="0"/>
      <p:regular r:id="rId21"/>
    </p:embeddedFont>
    <p:embeddedFont>
      <p:font typeface="Newsreader" panose="020B0604020202020204" charset="0"/>
      <p:regular r:id="rId22"/>
    </p:embeddedFont>
    <p:embeddedFont>
      <p:font typeface="Newsreader Medium" panose="020B0604020202020204" charset="0"/>
      <p:regular r:id="rId23"/>
    </p:embeddedFont>
  </p:embeddedFontLst>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8" Type="http://schemas.openxmlformats.org/officeDocument/2006/relationships/slide" Target="slides/slide7.xml" /><ns0:Relationship Id="rId13" Type="http://schemas.openxmlformats.org/officeDocument/2006/relationships/slide" Target="slides/slide12.xml" /><ns0:Relationship Id="rId18" Type="http://schemas.openxmlformats.org/officeDocument/2006/relationships/slide" Target="slides/slide17.xml" /><ns0:Relationship Id="rId26" Type="http://schemas.openxmlformats.org/officeDocument/2006/relationships/theme" Target="theme/theme1.xml" /><ns0:Relationship Id="rId3" Type="http://schemas.openxmlformats.org/officeDocument/2006/relationships/slide" Target="slides/slide2.xml" /><ns0:Relationship Id="rId21" Type="http://schemas.openxmlformats.org/officeDocument/2006/relationships/font" Target="fonts/font2.fntdata" /><ns0:Relationship Id="rId7" Type="http://schemas.openxmlformats.org/officeDocument/2006/relationships/slide" Target="slides/slide6.xml" /><ns0:Relationship Id="rId12" Type="http://schemas.openxmlformats.org/officeDocument/2006/relationships/slide" Target="slides/slide11.xml" /><ns0:Relationship Id="rId17" Type="http://schemas.openxmlformats.org/officeDocument/2006/relationships/slide" Target="slides/slide16.xml" /><ns0:Relationship Id="rId25" Type="http://schemas.openxmlformats.org/officeDocument/2006/relationships/viewProps" Target="viewProps.xml" /><ns0:Relationship Id="rId2" Type="http://schemas.openxmlformats.org/officeDocument/2006/relationships/slide" Target="slides/slide1.xml" /><ns0:Relationship Id="rId16" Type="http://schemas.openxmlformats.org/officeDocument/2006/relationships/slide" Target="slides/slide15.xml" /><ns0:Relationship Id="rId20" Type="http://schemas.openxmlformats.org/officeDocument/2006/relationships/font" Target="fonts/font1.fntdata" /><ns0:Relationship Id="rId1" Type="http://schemas.openxmlformats.org/officeDocument/2006/relationships/slideMaster" Target="slideMasters/slideMaster1.xml" /><ns0:Relationship Id="rId6" Type="http://schemas.openxmlformats.org/officeDocument/2006/relationships/slide" Target="slides/slide5.xml" /><ns0:Relationship Id="rId11" Type="http://schemas.openxmlformats.org/officeDocument/2006/relationships/slide" Target="slides/slide10.xml" /><ns0:Relationship Id="rId24" Type="http://schemas.openxmlformats.org/officeDocument/2006/relationships/presProps" Target="presProps.xml" /><ns0:Relationship Id="rId5" Type="http://schemas.openxmlformats.org/officeDocument/2006/relationships/slide" Target="slides/slide4.xml" /><ns0:Relationship Id="rId15" Type="http://schemas.openxmlformats.org/officeDocument/2006/relationships/slide" Target="slides/slide14.xml" /><ns0:Relationship Id="rId23" Type="http://schemas.openxmlformats.org/officeDocument/2006/relationships/font" Target="fonts/font4.fntdata" /><ns0:Relationship Id="rId10" Type="http://schemas.openxmlformats.org/officeDocument/2006/relationships/slide" Target="slides/slide9.xml" /><ns0:Relationship Id="rId19" Type="http://schemas.openxmlformats.org/officeDocument/2006/relationships/notesMaster" Target="notesMasters/notesMaster1.xml" /><ns0:Relationship Id="rId4" Type="http://schemas.openxmlformats.org/officeDocument/2006/relationships/slide" Target="slides/slide3.xml" /><ns0:Relationship Id="rId9" Type="http://schemas.openxmlformats.org/officeDocument/2006/relationships/slide" Target="slides/slide8.xml" /><ns0:Relationship Id="rId14" Type="http://schemas.openxmlformats.org/officeDocument/2006/relationships/slide" Target="slides/slide13.xml" /><ns0:Relationship Id="rId22" Type="http://schemas.openxmlformats.org/officeDocument/2006/relationships/font" Target="fonts/font3.fntdata" /><ns0:Relationship Id="rId27" Type="http://schemas.openxmlformats.org/officeDocument/2006/relationships/tableStyles" Target="tableStyles.xml" />  <ns0:Relationship Id="rId28" Type="http://schemas.openxmlformats.org/officeDocument/2006/relationships/slide" Target="slides/slide18.xml" />
  <ns0:Relationship Id="rId29" Type="http://schemas.openxmlformats.org/officeDocument/2006/relationships/slide" Target="slides/slide19.xml" />
  <ns0:Relationship Id="rId30" Type="http://schemas.openxmlformats.org/officeDocument/2006/relationships/slide" Target="slides/slide20.xml" />
<ns0:Relationship Id="rIdStaticSlide21" Type="http://schemas.openxmlformats.org/officeDocument/2006/relationships/slide" Target="slides/slide21.xml" /><ns0:Relationship Id="rIdStaticSlide22" Type="http://schemas.openxmlformats.org/officeDocument/2006/relationships/slide" Target="slides/slide22.xml" /><ns0:Relationship Id="rIdStaticSlide23" Type="http://schemas.openxmlformats.org/officeDocument/2006/relationships/slide" Target="slides/slide23.xml" /><ns0:Relationship Id="rIdStaticSlide24" Type="http://schemas.openxmlformats.org/officeDocument/2006/relationships/slide" Target="slides/slide24.xml" /><ns0:Relationship Id="rIdStaticSlide25" Type="http://schemas.openxmlformats.org/officeDocument/2006/relationships/slide" Target="slides/slide25.xml" /><ns0:Relationship Id="rIdStaticSlide26" Type="http://schemas.openxmlformats.org/officeDocument/2006/relationships/slide" Target="slides/slide26.xml" /><ns0:Relationship Id="rIdStaticSlide27" Type="http://schemas.openxmlformats.org/officeDocument/2006/relationships/slide" Target="slides/slide27.xml" /><ns0:Relationship Id="rIdStaticSlide28" Type="http://schemas.openxmlformats.org/officeDocument/2006/relationships/slide" Target="slides/slide28.xml" /><ns0:Relationship Id="rIdStaticSlide29" Type="http://schemas.openxmlformats.org/officeDocument/2006/relationships/slide" Target="slides/slide29.xml" /><ns0:Relationship Id="rIdStaticSlide30" Type="http://schemas.openxmlformats.org/officeDocument/2006/relationships/slide" Target="slides/slide30.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ns0:Relationships xmlns:ns0="http://schemas.openxmlformats.org/package/2006/relationships"><ns0:Relationship Id="rId2" Type="http://schemas.openxmlformats.org/officeDocument/2006/relationships/slide" Target="../slides/slide21.xml" /><ns0:Relationship Id="rId1" Type="http://schemas.openxmlformats.org/officeDocument/2006/relationships/notesMaster" Target="../notesMasters/notesMaster1.xml" /></ns0:Relationships>
</file>

<file path=ppt/notesSlides/_rels/notesSlide22.xml.rels><?xml version='1.0' encoding='utf-8'?>
<ns0:Relationships xmlns:ns0="http://schemas.openxmlformats.org/package/2006/relationships"><ns0:Relationship Id="rId2" Type="http://schemas.openxmlformats.org/officeDocument/2006/relationships/slide" Target="../slides/slide22.xml" /><ns0:Relationship Id="rId1" Type="http://schemas.openxmlformats.org/officeDocument/2006/relationships/notesMaster" Target="../notesMasters/notesMaster1.xml" /></ns0:Relationships>
</file>

<file path=ppt/notesSlides/_rels/notesSlide23.xml.rels><?xml version='1.0' encoding='utf-8'?>
<ns0:Relationships xmlns:ns0="http://schemas.openxmlformats.org/package/2006/relationships"><ns0:Relationship Id="rId2" Type="http://schemas.openxmlformats.org/officeDocument/2006/relationships/slide" Target="../slides/slide23.xml" /><ns0:Relationship Id="rId1" Type="http://schemas.openxmlformats.org/officeDocument/2006/relationships/notesMaster" Target="../notesMasters/notesMaster1.xml" /></ns0:Relationships>
</file>

<file path=ppt/notesSlides/_rels/notesSlide24.xml.rels><?xml version='1.0' encoding='utf-8'?>
<ns0:Relationships xmlns:ns0="http://schemas.openxmlformats.org/package/2006/relationships"><ns0:Relationship Id="rId2" Type="http://schemas.openxmlformats.org/officeDocument/2006/relationships/slide" Target="../slides/slide24.xml" /><ns0:Relationship Id="rId1" Type="http://schemas.openxmlformats.org/officeDocument/2006/relationships/notesMaster" Target="../notesMasters/notesMaster1.xml" /></ns0:Relationships>
</file>

<file path=ppt/notesSlides/_rels/notesSlide25.xml.rels><?xml version='1.0' encoding='utf-8'?>
<ns0:Relationships xmlns:ns0="http://schemas.openxmlformats.org/package/2006/relationships"><ns0:Relationship Id="rId2" Type="http://schemas.openxmlformats.org/officeDocument/2006/relationships/slide" Target="../slides/slide25.xml" /><ns0:Relationship Id="rId1" Type="http://schemas.openxmlformats.org/officeDocument/2006/relationships/notesMaster" Target="../notesMasters/notesMaster1.xml" /></ns0:Relationships>
</file>

<file path=ppt/notesSlides/_rels/notesSlide26.xml.rels><?xml version='1.0' encoding='utf-8'?>
<ns0:Relationships xmlns:ns0="http://schemas.openxmlformats.org/package/2006/relationships"><ns0:Relationship Id="rId2" Type="http://schemas.openxmlformats.org/officeDocument/2006/relationships/slide" Target="../slides/slide26.xml" /><ns0:Relationship Id="rId1" Type="http://schemas.openxmlformats.org/officeDocument/2006/relationships/notesMaster" Target="../notesMasters/notesMaster1.xml" /></ns0:Relationships>
</file>

<file path=ppt/notesSlides/_rels/notesSlide27.xml.rels><?xml version='1.0' encoding='utf-8'?>
<ns0:Relationships xmlns:ns0="http://schemas.openxmlformats.org/package/2006/relationships"><ns0:Relationship Id="rId2" Type="http://schemas.openxmlformats.org/officeDocument/2006/relationships/slide" Target="../slides/slide27.xml" /><ns0:Relationship Id="rId1" Type="http://schemas.openxmlformats.org/officeDocument/2006/relationships/notesMaster" Target="../notesMasters/notesMaster1.xml" /></ns0:Relationships>
</file>

<file path=ppt/notesSlides/_rels/notesSlide28.xml.rels><?xml version='1.0' encoding='utf-8'?>
<ns0:Relationships xmlns:ns0="http://schemas.openxmlformats.org/package/2006/relationships"><ns0:Relationship Id="rId2" Type="http://schemas.openxmlformats.org/officeDocument/2006/relationships/slide" Target="../slides/slide28.xml" /><ns0:Relationship Id="rId1" Type="http://schemas.openxmlformats.org/officeDocument/2006/relationships/notesMaster" Target="../notesMasters/notesMaster1.xml" /></ns0:Relationships>
</file>

<file path=ppt/notesSlides/_rels/notesSlide29.xml.rels><?xml version='1.0' encoding='utf-8'?>
<ns0:Relationships xmlns:ns0="http://schemas.openxmlformats.org/package/2006/relationships"><ns0:Relationship Id="rId2" Type="http://schemas.openxmlformats.org/officeDocument/2006/relationships/slide" Target="../slides/slide29.xml" /><ns0:Relationship Id="rId1" Type="http://schemas.openxmlformats.org/officeDocument/2006/relationships/notesMaster" Target="../notesMasters/notesMaster1.xml" /></ns0:Relationships>
</file>

<file path=ppt/notesSlides/_rels/notesSlide30.xml.rels><?xml version='1.0' encoding='utf-8'?>
<ns0:Relationships xmlns:ns0="http://schemas.openxmlformats.org/package/2006/relationships"><ns0:Relationship Id="rId2" Type="http://schemas.openxmlformats.org/officeDocument/2006/relationships/slide" Target="../slides/slide30.xml" /><ns0:Relationship Id="rId1" Type="http://schemas.openxmlformats.org/officeDocument/2006/relationships/notesMaster" Target="../notesMasters/notesMaster1.xml"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context from the 1 October deck. The project already reproduced the execution pipeline, studied prefill overlap, tested fixed CPU/GPU splits, and measured routing locality. Overlap benefit grew from about 9% to 42% across the tested prompt lengths. Original routing had about 30% locality benefit near cache size 16. The model comparison also showed that expert counts alone do not explain bytes or execution cost. The static-retention experiment measured routed-access coverage only, not model quality or actual pruning speedup. These observations motivate the two objectives on slide 3.</a:t>
            </a:r>
          </a:p>
          <a:p>
            <a:endParaRPr/>
          </a:p>
          <a:p>
            <a:r>
              <a:t>Sources: FREE_TOKEN_PROGRESS_1-10-2026 (1).pptx, slides 2, 4–5, 9–13.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both tasks assigned last week. Objective 1 investigates the decision for a known missing set. Objective 2 asks whether pruning or retention can change the missing set itself, across models and expert sizes. Objective 2 belongs to my team member. No new pruning result is claimed in this presentation.</a:t>
            </a:r>
          </a:p>
          <a:p>
            <a:endParaRPr/>
          </a:p>
          <a:p>
            <a:r>
              <a:t>Sources: User-provided weekly objectives.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expanded function is a research question rather than a claim that every signal must remain in the final policy. We explored a data-driven approach and an analytic approach. Statistical ML included linear regression, ridge, a tree and gradient boosting. The neural model was a GELU MLP. The RL-style experiments were contextual bandits, not a full long-horizon deep-RL controller. The feature study then helped identify the missing mechanism: a fetch changes future cache hits.</a:t>
            </a:r>
          </a:p>
          <a:p>
            <a:endParaRPr/>
          </a:p>
          <a:p>
            <a:r>
              <a:t>Sources: README.md, introduction; FreeToken_q_selection_report.pdf, sections 3, 6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top equation as: for the same observed context x, what cost does the model predict if we choose q? The selected q is the legal candidate with the smallest predicted cost. On this slide, the star denotes the learned minimum-cost decision. L is predicted execution cost, distinct from the regression training loss. The reported screening removed six constant signals and twenty near-duplicates with absolute Spearman correlation above 0.98. The constants included calibrated bandwidths, top_k, expert size, CPU thread count and routed-unique count. They remain physically meaningful but cannot explain variation on this single setup. Future observations are never included in x.</a:t>
            </a:r>
          </a:p>
          <a:p>
            <a:endParaRPr/>
          </a:p>
          <a:p>
            <a:r>
              <a:t>Sources: PROGRESS.md, steps 3–4; FreeToken_q_selection_report.pdf, sections 4.1–4.3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candidate families, so some example signals are removed during screening. Base ultimately retains m because the calibrated bandwidths are constant. Routing describes which layer and decode position we are in and how many requests hit. CPU, GPU and transfer measurements use previous observations and exponential moving averages, or EWMAs. An EWMA weights recent timings more heavily. The GPU timer covers GEMM for both cache hits and fetched experts. Overlap asks whether a cost is actually on the critical path. The retained counts here sum to 15.</a:t>
            </a:r>
          </a:p>
          <a:p>
            <a:endParaRPr/>
          </a:p>
          <a:p>
            <a:r>
              <a:t>Sources: FreeToken_q_selection_report.pdf, section 4.1, Table 5 and section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Cache and reuse describe different mechanisms. Reuse asks whether a future request is likely. Cache state asks whether the fetched weight survives until that request. Churn records insertions and evictions over a recent window. LRU victim age is elapsed tokens since the potential victim’s last use, not its actual insertion-to-eviction lifetime. It will serve as a heuristic for the current cache lifetime scale. History includes rolling means of m, hits, q, layer wall time, CPU time, GPU time and PCIe time. Memory includes decode position as a proxy because direct KV-cache occupancy was not exposed. Unavailable counters were documented, not silently assumed.</a:t>
            </a:r>
          </a:p>
          <a:p>
            <a:endParaRPr/>
          </a:p>
          <a:p>
            <a:r>
              <a:t>Sources: FreeToken_q_selection_report.pdf, section 4, Tables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study hooks into ensure_experts_hybrid once per MoE layer per token. It reuses existing decode hooks, native CPU timers and CUDA events. Exploration includes uniform random legal q, epsilon exploration around base policies, m-threshold policies and fixed splits. Fixed rows are useful for evaluation but not fitted as counterfactual cost-training rows: q in a fixed episode is confounded with that episode’s entire future. The second-round count is 402,336 minus 292,608. Data use three cache regimes. Each episode resets the cache, runs a 128-token warmup and then 128 measured tokens. Main evaluations discard three server burn-in episodes and rotate policy order. All policies use the same eager-mode hook.</a:t>
            </a:r>
          </a:p>
          <a:p>
            <a:endParaRPr/>
          </a:p>
          <a:p>
            <a:r>
              <a:t>Sources: PROGRESS.md, steps 3 and 8; FreeToken_q_selection_report.pdf, sections 3.2–3.4 and 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label sums the current layer time and that same layer’s next H visits. Since there is one layer visit per token in this setting, H is expressed in tokens. Labels never cross the warmup/measurement boundary. Short horizons initially tended to recover q=0; longer horizons began to value fetching. Avoid claiming a universal threshold: final retraining produced a strong Ridge H=8 policy. The target estimates taking this action now and then following the logging policy. It is not the exact total cost of deploying the new policy throughout decode. Offline hold-outs assess prediction, while full-server experiments assess actual policy quality.</a:t>
            </a:r>
          </a:p>
          <a:p>
            <a:endParaRPr/>
          </a:p>
          <a:p>
            <a:r>
              <a:t>Sources: FreeToken_q_selection_report.pdf, sections 4.3, 5.4 and 7; PROGRESS.md, steps 5 and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linear regression L = w^T phi + b. Ridge minimizes sum_i (y_i − L_i)^2 + lambda times the squared norm of w. The penalty reduces sensitivity to unstable or correlated features. q² captures curvature over actions; q/m expresses a fraction for positive m; q×x permits context-dependent action preferences. If m=0, q=0 is the only legal action. The MLP predicts one scalar cost, using two 64-unit hidden layers with GELU activations. The supplied documents do not specify optimizer details or a full hyperparameter recipe, so no learning rate, batch size or epoch count is claimed. A regression tree and gradient-boosted trees were also evaluated.</a:t>
            </a:r>
          </a:p>
          <a:p>
            <a:endParaRPr/>
          </a:p>
          <a:p>
            <a:r>
              <a:t>Sources: FreeToken_q_selection_report.pdf, section 7, Table 13; PROGRESS.md, steps 5 and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predicts a cost surface, not a fixed q class. Keep x identical while changing candidate q, including its interaction features. Ignore invalid q greater than m by never scoring them. The example illustrates the decision procedure only and does not invent model scores. At runtime the supervised model’s weights are fixed. It does not know the current decision’s realized timing until after execution. The policy changes the fetch count for the engine’s missing experts; this study does not claim to optimize arbitrary subsets of expert identities. Linear and Ridge scoring cost about 11.3 microseconds per decision, and the 2×64 MLP about 42.7 microseconds.</a:t>
            </a:r>
          </a:p>
          <a:p>
            <a:endParaRPr/>
          </a:p>
          <a:p>
            <a:r>
              <a:t>Sources: FreeToken_q_selection_report.pdf, sections 3.2 and 7; section 10.4, Table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bandits are the reinforcement-learning-style component of this study. LinUCB explores using uncertainty, and Thompson sampling samples from its parameter uncertainty. They learn from scratch within each episode. With delayed feedback, the update happens only after 16 layer visits when cost is observed. There is no future leakage into the current decision. Immediate-feedback LinUCB learns q=0, recovering the short-term optimum while adding overhead. Delayed LinUCB learns a useful fetch policy. The MLP predicts accurately but also chooses essentially zero fetches. GBM makes some useful fetch decisions but costs about 1,200 microseconds per decision, comparable with or exceeding layer execution. These are geometric-mean speedups across the three main regimes, with all methods evaluated in the same eager harness. Bandit adaptation to changing conditions was not tested.</a:t>
            </a:r>
          </a:p>
          <a:p>
            <a:endParaRPr/>
          </a:p>
          <a:p>
            <a:r>
              <a:t>Sources: FreeToken_q_selection_report.pdf, sections 7–8, Table 14 and section 10.4.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cumulative, separately retrained Ridge policies from the ablation sessions. They should not be mixed with the main-matrix result for the full Ridge policy: session-sensitive runtime features caused different behaviour. The strongest step in this chain was adding cache state. More detailed cache ablations identified eviction pressure and LRU age as useful, beyond occupancy and hit rate. Detailed frequency offered much less benefit than residency. Prediction error could decline as decision quality worsened. This evidence motivates comparing the marginal current fetch cost with expected useful future reuses. It is empirical evidence on the measured configuration, not a universal proof of feature importance.</a:t>
            </a:r>
          </a:p>
          <a:p>
            <a:endParaRPr/>
          </a:p>
          <a:p>
            <a:r>
              <a:t>Sources: FreeToken_q_selection_report.pdf, section 9.1, Table 16 and section 9.3; CONCLUSION_AND_EXPLANATION.md, sections 3 and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Consider one missing expert E. CPU execution avoids a transfer but does not insert E into GPU cache. Fetching costs more at this instant yet creates possible future hits. On this host one measured transfer is about 1.99 ms and one CPU expert evaluation about 0.43 ms. Their ratio is roughly 4.6, but a fetch does not necessarily add that entire cost to wall time because the two branches overlap. The right comparison is therefore incremental exposed cost versus expected future benefit. A cache hit is approximated as one avoided CPU-expert unit. This is a simplified value model: GPU execution, future overlap and the opportunity cost of evicting another useful expert are not modeled exactly.</a:t>
            </a:r>
          </a:p>
          <a:p>
            <a:endParaRPr/>
          </a:p>
          <a:p>
            <a:r>
              <a:t>Sources: CONCLUSION_AND_EXPLANATION.md, sections 1–2; FreeToken_q_selection_report.pdf, sections 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 is the number of experts tentatively accepted for fetching in this one layer call. It starts at zero, and becomes final q when the loop stops. The normalized model approximates CPU per-expert work as 1 and PCIe per-expert work as 1/rho. Since the branches overlap, latency is their maximum rather than their sum. The cost of accepting one more fetch is the difference between two branch maxima. At m=4, moving from zero to one fetch raises modeled latency from 4 to 5.32, an extra 1.32 units. The calibrated ratio yields 5.32, while direct timing gives around 4.6–4.7; these are related approximations, not numerically identical measurements. This simplified Reuse-Aware model also does not explicitly reproduce the original B_H−B_P shared-host-bandwidth term.</a:t>
            </a:r>
          </a:p>
          <a:p>
            <a:endParaRPr/>
          </a:p>
          <a:p>
            <a:r>
              <a:t>Sources: FreeToken_q_selection_report.pdf, section 6.1 and Table 12; source presentation, slide 6, for the original bandwidth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estimates how many future CPU evaluations the fetch can avoid before eviction. Under a stationary per-token request probability p and an approximate residency horizon T_res, expected reuses are p times T_res. The uniform prior p=top_k/E is the simple derivation. Main runs used smoothed recent per-expert frequency; the uniform-prior variant achieved almost the same speedup, 1.51× rather than 1.52×. LRU victim age means time since its last use. A young oldest entry suggests strong turnover, whereas an old victim suggests a longer inactivity tolerance. It is a heuristic proxy, not an exact measurement or guarantee of future lifetime. T_free=32 is an assumed parameter and was not thoroughly swept. Reuses may refresh an entry, and routing may be nonstationary, so p times T_res remains an approximation.</a:t>
            </a:r>
          </a:p>
          <a:p>
            <a:endParaRPr/>
          </a:p>
          <a:p>
            <a:r>
              <a:t>Sources: FreeToken_q_selection_report.pdf, sections 6.1 and 8, Table 14; CONCLUSION_AND_EXPLANATION.md, limitations.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condition compares quantities in the same CPU-expert units. Kappa=1 is the direct benefit-versus-cost comparison. At m=4 with the uniform prior and a free slot, expected benefit is four units. The first fetch adds 1.32 units and is accepted. The second adds 5.32 units and is rejected, leaving q=1. At m=1, little current CPU work overlaps the transfer, so the first marginal cost is 5.32−1=4.32, exceeding R. For a full cache, solve T_res ≥ Delta/p and round up: around 11,19,27,35 tokens. Candidate-specific frequency or victim state may change along the loop in a richer implementation. If R=0, the rule accepts only nonpositive marginal immediate cost. On this host that gives q=0. This recovers the local-balancing principle without claiming an exact algebraic identity to every original q* implementation.</a:t>
            </a:r>
          </a:p>
          <a:p>
            <a:endParaRPr/>
          </a:p>
          <a:p>
            <a:r>
              <a:t>Sources: FreeToken_q_selection_report.pdf, section 6, Table 12; README.md, The rule.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comparison is gpt-oss-20b MXFP4, RTX 4070 12 GB on PCIe gen4 x4, Ryzen 5 8500G, hybrid batch-one greedy eager decode. Each expert is about 13.2 MB, and top_k=4 of 32. Reuse-Aware achieved 1.52× geometric-mean speedup against q*, with 0.9 microseconds decision overhead. The uniform-prior version is nearly identical at 1.51×. At high miss, the best fixed 25% policy was slightly faster than Reuse-Aware, so do not claim a win over every fixed policy in every regime. The high-miss interval is wide, and its paired comparison has p≈0.08. The rule itself has not been implemented in CUDA-graph/device-side execution. Tests on another model, expert size or bandwidth ratio remain necessary. Objective 2 remains my team member’s work.</a:t>
            </a:r>
          </a:p>
          <a:p>
            <a:endParaRPr/>
          </a:p>
          <a:p>
            <a:r>
              <a:t>Sources: FreeToken_q_selection_report.pdf, sections 8, 10.4 and 13; CONCLUSION_AND_EXPLANATION.md, sections 1 and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Decode latency in ms/token for every evaluated policy across the three cache regimes, three repeats with 95% confidence intervals. q* sits at about 65 ms/token in all regimes. Reuse-Aware is the lowest bar at low miss (31.6) and medium miss (45.0); at high miss the fixed 25% split (54.4) is slightly ahead of Reuse-Aware (55.9), consistent with the results table. Ridge, m-table, linear, LinUCB and Thompson all improve on q*, while the ANN stays near q* and GBM is slower at medium and high miss, with a very wide medium-miss interval.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Regret is each policy's latency minus the best evaluated policy in that regime, so zero means it was the best. The Reuse-Aware rule and its variants (k=4, uniform reuse prior) have the smallest regret overall, followed by Ridge, the 25% split and m-table. The Reuse-Aware variant without cache state ('RA no cache') is fine at low miss but has about 33 and 54 ms/token regret at medium and high miss, which supports the claim that cache residency is the decisive signal. Fetching everything (q=m) is worst, reaching about 158 ms/token regret at high miss.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on an unseen prompt (p1_low, p1_med, p1_high) and on unseen cache sizes (rate015, rate030, rate060). Reuse-Aware and its online k=1 variant are at or near the fastest policy in all six settings. The learned Ridge and Linear models degrade: on p1_high and rate015 they are slower than the q* baseline. Fixed splits are inconsistent: 50% is best on p1_low and rate060 but worst on p1_high and rate015.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Completed static study before actual M75 autoregressive inference. Source: closeout75/report.md, protocol/protocol.json, retention75/summary.csv. 90 independent requests/model and 18 additional repeat captures/model; repeats are not independent tasks. Native routes were captured with complete checkpoints; no weights were physically removed. U/F/R are separate cache replay interventions, not the running inference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closeout75/checkpoint_lock.csv and qualified_resources.csv; model-specific protocol/configuration artifacts. Full checkpoint revisions: [{"model": "qwen_nvfp4", "checkpoint": "nvidia/Qwen3.6-35B-A3B-NVFP4", "revision": "1355db6a052410cfd62085d94b58866fd0f2c3c5", "layers": "40", "experts_per_layer": "256", "native_top_k": "8", "retained75_per_layer": "192", "expert_bytes": "1775616", "cache_slots": "2048", "cache_bytes": "3636461568"}, {"model": "gpt_oss_mxfp4", "checkpoint": "openai/gpt-oss-20b", "revision": "6cee5e81ee83917806bbde320786a8fb61efebee", "layers": "24", "experts_per_layer": "32", "native_top_k": "4", "retained75_per_layer": "24", "expert_bytes": "13236480", "cache_slots": "154", "cache_bytes": "2038417920"}, {"model": "gemma_nvfp4", "checkpoint": "nvidia/Gemma-4-26B-A4B-NVFP4", "revision": "a19cfe00be84568a6867111c9a68c9c44fdcffe6", "layers": "30", "experts_per_layer": "128", "native_top_k": "8", "retained75_per_layer": "96", "expert_bytes": "3353856", "cache_slots": "768", "cache_bytes": "2575761408"}]. Qwen/GPT primary v5; Qwen repeat allocator v6 separately qualified. Gemma cache 768, prefill 1024, max sequence 1280, memory ratio .8. Same physical hardware does not make model hidden states or quantization layouts identical.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closeout75/primary_summary.csv. Same-workload decode-derived top-75% masks, five grouped folds; held-out request macro coverage, 30 requests/workload/model. Error bars are 95% request bootstrap intervals conditional on fitted masks (10,000 resamples), not between-fold intervals. The 98% line is an access screening threshold; passing it does not satisfy all activation gates. Y-axis starts at 90% to show differences. All source cells saved in chart_source_rows.json.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retention75/summary.csv and additional/gemma_v1/retention75/summary.csv. Each heatmap cell is held-out macro decode access coverage (%), 30 requests. Rows identify the mask calibration pool; columns identify held-out evaluation workload. Masks fitted without the held-out grouped fold. No causal cross-architecture comparison: tokenizations and generated routes differ. Blue color scale is fixed at 60-100% across panels. Exact cells in chart_source_rows.json.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retention75/summary.csv and additional/gemma_v1/retention75/summary.csv. Every mask is decode-derived and calibrated on the mixed pool. Held-out prefill and decode evaluated separately on 30 requests/workload. Error bars are request bootstrap 95% intervals conditional on fitted masks. The 98% screen is dashed; y-axis starts at 70%. Phase values are paired observations, not independent task samples. Exact source cells in chart_source_rows.json.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retention75/stability.csv; additional/gemma_v1/retention75/stability.csv; closeout75/masking_decisions.json; repeatability75 completion records. Rows restricted to kind=disjoint_halves, phase=decode, pool=mixed. Means over dependent comparisons: Qwen 2000, GPT-OSS 1200, Gemma 1500. Random reference is empirical random_reference, not assumed exactly 0.6. Excess equals the averaged observed-minus-reference Jaccard. Do not assign these comparisons independent confidence intervals.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replay75/summary.csv (Qwen/GPT R, mixed, cold, calibrated_hybrid); additional/gemma_rerouting_v2/native_controls75/R75_summary.csv (Gemma nine-request aggregate). Baseline is original fixed cache in both budget columns. Reduced slots: Qwen 1536 vs 2048, GPT-OSS 116 vs 154, Gemma 576 vs 768. U replays original routes; F deletes excluded original accesses and lowers active k; R recomputes native masked top-k on unchanged recorded hidden states and preserves native k. This table uses R only. GPT hybrid remains at m=4 with q=0; unconditional-fill diagnostics differ and are not interchangeable. Gemma's repaired router includes native projection, learned expert scaling and original dtypes; 100% eligibility weights reproduce exactly, all 12 native cold cache controls matched. Gemma hybrid fractions reused Qwen NVFP4 calibration, so no Gemma-specific optimal split is established. Cold and post-prefill coincide for Gemma because observed initial cache is empty. Gemma fixed delta m=-0.0138562 with paired 95% CI [-0.0201311,-0.0072763]. Nine requests/model are descriptive conditional replay evidence, not a broad serving benchmark.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closeout75/masking_decisions.json, closeout75/report.md, additional/gemma_rerouting_v2/report.md, docs/MoEPruningActualInferencePlan.md. Original static gates also require request p5&gt;=.95, every workload/layer mean&gt;=.95, every complete rolling64 window&gt;=.90, disjoint mean excess Jaccard&gt;=.10, and paired delta CI upper&lt;0 with &gt;=5% reduction in every workload. All three were skipped_by_gate in the original closeout; Gemma native R was unavailable then and subsequently repaired without changing the frozen original report. Gemma aggregate .46% is not a per-workload estimate. Current M75 exploratory inference is separately authorised; no current results are included on these slides. Physical checkpoint compaction and measured memory savings are not claimed. 60/50 retention is deferred until current 75% work is finished.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Reserved for the current actual 75%-retention inference study once its report and serving measurements are final. Intentionally empty.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Reserved for the current actual 75%-retention inference study once its report and serving measurements are final. Intentionally empty.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47B0874-63F5-409F-9981-EE43C5415ED2}"/>
              </a:ext>
            </a:extLst>
          </p:cNvPr>
          <p:cNvSpPr>
            <a:spLocks noGrp="1"/>
          </p:cNvSpPr>
          <p:nvPr/>
        </p:nvSpPr>
        <p:spPr>
          <a:xfrm>
            <a:off x="0" y="0"/>
            <a:ext cx="12191695" cy="6858000"/>
          </a:xfrm>
          <a:prstGeom prst="rect">
            <a:avLst/>
          </a:prstGeom>
          <a:solidFill>
            <a:srgbClr val="E6E0D3"/>
          </a:solidFill>
        </p:spPr>
        <p:txBody>
          <a:bodyPr/>
          <a:lstStyle/>
          <a:p>
            <a:endParaRPr/>
          </a:p>
        </p:txBody>
      </p:sp>
      <p:sp>
        <p:nvSpPr>
          <p:cNvPr id="3" name="Shape 1">
            <a:extLst>
              <a:ext uri="{FF2B5EF4-FFF2-40B4-BE49-F238E27FC236}">
                <a16:creationId xmlns:a16="http://schemas.microsoft.com/office/drawing/2014/main" id="{21C376AB-13D5-4231-978C-F0168C1239DA}"/>
              </a:ext>
            </a:extLst>
          </p:cNvPr>
          <p:cNvSpPr>
            <a:spLocks noGrp="1"/>
          </p:cNvSpPr>
          <p:nvPr/>
        </p:nvSpPr>
        <p:spPr>
          <a:xfrm>
            <a:off x="0" y="0"/>
            <a:ext cx="12191695" cy="6858000"/>
          </a:xfrm>
          <a:prstGeom prst="rect">
            <a:avLst/>
          </a:prstGeom>
          <a:solidFill>
            <a:srgbClr val="FAF7F0"/>
          </a:solidFill>
        </p:spPr>
        <p:txBody>
          <a:bodyPr/>
          <a:lstStyle/>
          <a:p>
            <a:endParaRPr/>
          </a:p>
        </p:txBody>
      </p:sp>
      <p:pic>
        <p:nvPicPr>
          <p:cNvPr id="7" name="Image 0"/>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Fig" Type="http://schemas.openxmlformats.org/officeDocument/2006/relationships/image" Target="../media/fig_18.png"/><Relationship Id="rIdNotes"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Fig" Type="http://schemas.openxmlformats.org/officeDocument/2006/relationships/image" Target="../media/fig_19.png"/><Relationship Id="rIdNotes"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Fig" Type="http://schemas.openxmlformats.org/officeDocument/2006/relationships/image" Target="../media/fig_20.png"/><Relationship Id="rIdNotes" Type="http://schemas.openxmlformats.org/officeDocument/2006/relationships/notesSlide" Target="../notesSlides/notesSlide20.xml"/></Relationships>
</file>

<file path=ppt/slides/_rels/slide21.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1.xml" /></ns0:Relationships>
</file>

<file path=ppt/slides/_rels/slide22.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2.xml" /></ns0:Relationships>
</file>

<file path=ppt/slides/_rels/slide23.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3.xml" /><ns0:Relationship Id="rIdStaticFigure" Type="http://schemas.openxmlformats.org/officeDocument/2006/relationships/image" Target="../media/static_same_workload.png" /></ns0:Relationships>
</file>

<file path=ppt/slides/_rels/slide24.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4.xml" /><ns0:Relationship Id="rIdStaticFigure" Type="http://schemas.openxmlformats.org/officeDocument/2006/relationships/image" Target="../media/static_workload_transfer.png" /></ns0:Relationships>
</file>

<file path=ppt/slides/_rels/slide25.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5.xml" /><ns0:Relationship Id="rIdStaticFigure" Type="http://schemas.openxmlformats.org/officeDocument/2006/relationships/image" Target="../media/static_prefill_transfer.png" /></ns0:Relationships>
</file>

<file path=ppt/slides/_rels/slide26.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6.xml" /></ns0:Relationships>
</file>

<file path=ppt/slides/_rels/slide27.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7.xml" /></ns0:Relationships>
</file>

<file path=ppt/slides/_rels/slide28.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8.xml" /></ns0:Relationships>
</file>

<file path=ppt/slides/_rels/slide29.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29.xml" /></ns0:Relationships>
</file>

<file path=ppt/slides/_rels/slide30.xml.rels><?xml version='1.0' encoding='utf-8'?>
<ns0:Relationships xmlns:ns0="http://schemas.openxmlformats.org/package/2006/relationships"><ns0:Relationship Id="rId3" Type="http://schemas.openxmlformats.org/officeDocument/2006/relationships/image" Target="../media/image2.png" /><ns0:Relationship Id="rId1" Type="http://schemas.openxmlformats.org/officeDocument/2006/relationships/slideLayout" Target="../slideLayouts/slideLayout2.xml" /><ns0:Relationship Id="rIdStaticNotes" Type="http://schemas.openxmlformats.org/officeDocument/2006/relationships/notesSlide" Target="../notesSlides/notesSlide30.xml" /></ns0: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LAST WEEK · CONTEXT 01</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FreeToken reproduction and experimental context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Reproduction complete">
            <a:extLst>
              <a:ext uri="{FF2B5EF4-FFF2-40B4-BE49-F238E27FC236}">
                <a16:creationId xmlns:a16="http://schemas.microsoft.com/office/drawing/2014/main" id="{4ECA6FF7-A24A-48F4-9470-401E23849A37}"/>
              </a:ext>
            </a:extLst>
          </p:cNvPr>
          <p:cNvSpPr>
            <a:spLocks noGrp="1"/>
          </p:cNvSpPr>
          <p:nvPr/>
        </p:nvSpPr>
        <p:spPr>
          <a:xfrm>
            <a:off x="457200" y="18097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Reproduction complete</a:t>
            </a:r>
          </a:p>
        </p:txBody>
      </p:sp>
      <p:sp>
        <p:nvSpPr>
          <p:cNvPr id="20" name="Read the paper, reproduced t">
            <a:extLst>
              <a:ext uri="{FF2B5EF4-FFF2-40B4-BE49-F238E27FC236}">
                <a16:creationId xmlns:a16="http://schemas.microsoft.com/office/drawing/2014/main" id="{7BC0B933-8CCA-43FF-98D1-732B75D8B253}"/>
              </a:ext>
            </a:extLst>
          </p:cNvPr>
          <p:cNvSpPr>
            <a:spLocks noGrp="1"/>
          </p:cNvSpPr>
          <p:nvPr/>
        </p:nvSpPr>
        <p:spPr>
          <a:xfrm>
            <a:off x="457200" y="21717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Read the paper, reproduced the key experiments, and tested FreeToken on our edge devices.</a:t>
            </a:r>
          </a:p>
        </p:txBody>
      </p:sp>
      <p:sp>
        <p:nvSpPr>
          <p:cNvPr id="21" name="Overlap and locality">
            <a:extLst>
              <a:ext uri="{FF2B5EF4-FFF2-40B4-BE49-F238E27FC236}">
                <a16:creationId xmlns:a16="http://schemas.microsoft.com/office/drawing/2014/main" id="{94A1960C-9C9A-45F6-982D-50C51E70B9FA}"/>
              </a:ext>
            </a:extLst>
          </p:cNvPr>
          <p:cNvSpPr>
            <a:spLocks noGrp="1"/>
          </p:cNvSpPr>
          <p:nvPr/>
        </p:nvSpPr>
        <p:spPr>
          <a:xfrm>
            <a:off x="457200" y="29813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Overlap and locality</a:t>
            </a:r>
          </a:p>
        </p:txBody>
      </p:sp>
      <p:sp>
        <p:nvSpPr>
          <p:cNvPr id="22" name="Prefill overlap improved TTF">
            <a:extLst>
              <a:ext uri="{FF2B5EF4-FFF2-40B4-BE49-F238E27FC236}">
                <a16:creationId xmlns:a16="http://schemas.microsoft.com/office/drawing/2014/main" id="{5ABC1BBA-1BC4-4946-BB48-2E2E2D3BEB54}"/>
              </a:ext>
            </a:extLst>
          </p:cNvPr>
          <p:cNvSpPr>
            <a:spLocks noGrp="1"/>
          </p:cNvSpPr>
          <p:nvPr/>
        </p:nvSpPr>
        <p:spPr>
          <a:xfrm>
            <a:off x="457200" y="33432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Prefill overlap improved TTFT as prompts grew. Preserving routing order improved LRU cache behaviour.</a:t>
            </a:r>
          </a:p>
        </p:txBody>
      </p:sp>
      <p:sp>
        <p:nvSpPr>
          <p:cNvPr id="23" name="Model geometry and retention">
            <a:extLst>
              <a:ext uri="{FF2B5EF4-FFF2-40B4-BE49-F238E27FC236}">
                <a16:creationId xmlns:a16="http://schemas.microsoft.com/office/drawing/2014/main" id="{E8DAB4AA-44B5-4462-BAB1-E6A578729C11}"/>
              </a:ext>
            </a:extLst>
          </p:cNvPr>
          <p:cNvSpPr>
            <a:spLocks noGrp="1"/>
          </p:cNvSpPr>
          <p:nvPr/>
        </p:nvSpPr>
        <p:spPr>
          <a:xfrm>
            <a:off x="457200" y="415290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Model geometry and retention</a:t>
            </a:r>
          </a:p>
        </p:txBody>
      </p:sp>
      <p:sp>
        <p:nvSpPr>
          <p:cNvPr id="24" name="Qwen and GPT-OSS had differe">
            <a:extLst>
              <a:ext uri="{FF2B5EF4-FFF2-40B4-BE49-F238E27FC236}">
                <a16:creationId xmlns:a16="http://schemas.microsoft.com/office/drawing/2014/main" id="{CDE2D66C-B0A5-45A2-B085-1FFA9316D774}"/>
              </a:ext>
            </a:extLst>
          </p:cNvPr>
          <p:cNvSpPr>
            <a:spLocks noGrp="1"/>
          </p:cNvSpPr>
          <p:nvPr/>
        </p:nvSpPr>
        <p:spPr>
          <a:xfrm>
            <a:off x="457200" y="451485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Qwen and GPT-OSS had different expert sizes and routing patterns. Static popularity rankings lost coverage on held-out workloads.</a:t>
            </a:r>
          </a:p>
        </p:txBody>
      </p:sp>
      <p:sp>
        <p:nvSpPr>
          <p:cNvPr id="25" name="Rectangle 24">
            <a:extLst>
              <a:ext uri="{FF2B5EF4-FFF2-40B4-BE49-F238E27FC236}">
                <a16:creationId xmlns:a16="http://schemas.microsoft.com/office/drawing/2014/main" id="{37E03F33-8B95-409A-B9DE-5DADAC1F9608}"/>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6" name="Rectangle 25">
            <a:extLst>
              <a:ext uri="{FF2B5EF4-FFF2-40B4-BE49-F238E27FC236}">
                <a16:creationId xmlns:a16="http://schemas.microsoft.com/office/drawing/2014/main" id="{514814CC-577A-48D4-9176-55C0FF7E8BE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7" name="This week">
            <a:extLst>
              <a:ext uri="{FF2B5EF4-FFF2-40B4-BE49-F238E27FC236}">
                <a16:creationId xmlns:a16="http://schemas.microsoft.com/office/drawing/2014/main" id="{0EA09C10-F695-4134-AABB-2FF1132D6C33}"/>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This week</a:t>
            </a:r>
          </a:p>
        </p:txBody>
      </p:sp>
      <p:sp>
        <p:nvSpPr>
          <p:cNvPr id="28" name="8 October 2026: focus on cho">
            <a:extLst>
              <a:ext uri="{FF2B5EF4-FFF2-40B4-BE49-F238E27FC236}">
                <a16:creationId xmlns:a16="http://schemas.microsoft.com/office/drawing/2014/main" id="{AB4A011C-5059-484C-8349-004CDB6C8AAE}"/>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8 October 2026: focus on choosing the CPU/GPU split using runtime state.</a:t>
            </a:r>
          </a:p>
        </p:txBody>
      </p:sp>
    </p:spTree>
    <p:extLst>
      <p:ext uri="{BB962C8B-B14F-4D97-AF65-F5344CB8AC3E}">
        <p14:creationId xmlns:p14="http://schemas.microsoft.com/office/powerpoint/2010/main" val="800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WEEKLY OBJECTIVES · 8 OCTOBER 2026</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Two objectives for this week</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1">
            <a:extLst>
              <a:ext uri="{FF2B5EF4-FFF2-40B4-BE49-F238E27FC236}">
                <a16:creationId xmlns:a16="http://schemas.microsoft.com/office/drawing/2014/main" id="{DC0D8803-1EE0-4CBE-80E0-EE92160B984E}"/>
              </a:ext>
            </a:extLst>
          </p:cNvPr>
          <p:cNvSpPr>
            <a:spLocks noGrp="1"/>
          </p:cNvSpPr>
          <p:nvPr/>
        </p:nvSpPr>
        <p:spPr>
          <a:xfrm>
            <a:off x="533400" y="1914525"/>
            <a:ext cx="552450" cy="666750"/>
          </a:xfrm>
          <a:prstGeom prst="rect">
            <a:avLst/>
          </a:prstGeom>
          <a:noFill/>
          <a:ln w="0">
            <a:noFill/>
          </a:ln>
        </p:spPr>
        <p:txBody>
          <a:bodyPr wrap="square" lIns="0" tIns="0" rIns="0" bIns="0" anchor="t">
            <a:noAutofit/>
          </a:bodyPr>
          <a:lstStyle/>
          <a:p>
            <a:pPr algn="l">
              <a:defRPr sz="3375" b="0">
                <a:solidFill>
                  <a:srgbClr val="4A5B70"/>
                </a:solidFill>
                <a:latin typeface="Newsreader"/>
                <a:ea typeface="Newsreader"/>
                <a:cs typeface="Newsreader"/>
              </a:defRPr>
            </a:pPr>
            <a:r>
              <a:rPr sz="3375" b="0">
                <a:solidFill>
                  <a:srgbClr val="4A5B70"/>
                </a:solidFill>
                <a:latin typeface="Newsreader"/>
                <a:ea typeface="Newsreader"/>
                <a:cs typeface="Newsreader"/>
              </a:rPr>
              <a:t>1</a:t>
            </a:r>
          </a:p>
        </p:txBody>
      </p:sp>
      <p:sp>
        <p:nvSpPr>
          <p:cNvPr id="20" name="Runtime-aware q selection">
            <a:extLst>
              <a:ext uri="{FF2B5EF4-FFF2-40B4-BE49-F238E27FC236}">
                <a16:creationId xmlns:a16="http://schemas.microsoft.com/office/drawing/2014/main" id="{8C7058E4-3FDF-425A-B1CB-AA7B82A5FF7A}"/>
              </a:ext>
            </a:extLst>
          </p:cNvPr>
          <p:cNvSpPr>
            <a:spLocks noGrp="1"/>
          </p:cNvSpPr>
          <p:nvPr/>
        </p:nvSpPr>
        <p:spPr>
          <a:xfrm>
            <a:off x="1190625" y="1885950"/>
            <a:ext cx="10544175"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Runtime-aware q selection</a:t>
            </a:r>
          </a:p>
        </p:txBody>
      </p:sp>
      <p:sp>
        <p:nvSpPr>
          <p:cNvPr id="21" name="Choose the CPU/GPU expert sp">
            <a:extLst>
              <a:ext uri="{FF2B5EF4-FFF2-40B4-BE49-F238E27FC236}">
                <a16:creationId xmlns:a16="http://schemas.microsoft.com/office/drawing/2014/main" id="{67A5BA46-0907-423E-AD9B-2C896F0B6250}"/>
              </a:ext>
            </a:extLst>
          </p:cNvPr>
          <p:cNvSpPr>
            <a:spLocks noGrp="1"/>
          </p:cNvSpPr>
          <p:nvPr/>
        </p:nvSpPr>
        <p:spPr>
          <a:xfrm>
            <a:off x="1190625" y="2247900"/>
            <a:ext cx="10544175"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Choose the CPU/GPU expert split using CPU cost, GPU cost, transfer cost, overlap, and resource utilization beyond the bandwidth-derived q* formula.</a:t>
            </a:r>
          </a:p>
        </p:txBody>
      </p:sp>
      <p:sp>
        <p:nvSpPr>
          <p:cNvPr id="23" name="2">
            <a:extLst>
              <a:ext uri="{FF2B5EF4-FFF2-40B4-BE49-F238E27FC236}">
                <a16:creationId xmlns:a16="http://schemas.microsoft.com/office/drawing/2014/main" id="{D7681B94-C4DC-4508-870E-D93FE1A13414}"/>
              </a:ext>
            </a:extLst>
          </p:cNvPr>
          <p:cNvSpPr>
            <a:spLocks noGrp="1"/>
          </p:cNvSpPr>
          <p:nvPr/>
        </p:nvSpPr>
        <p:spPr>
          <a:xfrm>
            <a:off x="533400" y="3905250"/>
            <a:ext cx="552450" cy="666750"/>
          </a:xfrm>
          <a:prstGeom prst="rect">
            <a:avLst/>
          </a:prstGeom>
          <a:noFill/>
          <a:ln w="0">
            <a:noFill/>
          </a:ln>
        </p:spPr>
        <p:txBody>
          <a:bodyPr wrap="square" lIns="0" tIns="0" rIns="0" bIns="0" anchor="t">
            <a:noAutofit/>
          </a:bodyPr>
          <a:lstStyle/>
          <a:p>
            <a:pPr algn="l">
              <a:defRPr sz="3375" b="0">
                <a:solidFill>
                  <a:srgbClr val="4A5B70"/>
                </a:solidFill>
                <a:latin typeface="Newsreader"/>
                <a:ea typeface="Newsreader"/>
                <a:cs typeface="Newsreader"/>
              </a:defRPr>
            </a:pPr>
            <a:r>
              <a:rPr sz="3375" b="0">
                <a:solidFill>
                  <a:srgbClr val="4A5B70"/>
                </a:solidFill>
                <a:latin typeface="Newsreader"/>
                <a:ea typeface="Newsreader"/>
                <a:cs typeface="Newsreader"/>
              </a:rPr>
              <a:t>2</a:t>
            </a:r>
          </a:p>
        </p:txBody>
      </p:sp>
      <p:sp>
        <p:nvSpPr>
          <p:cNvPr id="24" name="Adaptive reduction of m">
            <a:extLst>
              <a:ext uri="{FF2B5EF4-FFF2-40B4-BE49-F238E27FC236}">
                <a16:creationId xmlns:a16="http://schemas.microsoft.com/office/drawing/2014/main" id="{7DC2DA62-1130-4126-B7F6-CEA2895C651F}"/>
              </a:ext>
            </a:extLst>
          </p:cNvPr>
          <p:cNvSpPr>
            <a:spLocks noGrp="1"/>
          </p:cNvSpPr>
          <p:nvPr/>
        </p:nvSpPr>
        <p:spPr>
          <a:xfrm>
            <a:off x="1190625" y="3876675"/>
            <a:ext cx="10544175"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Adaptive reduction of m</a:t>
            </a:r>
          </a:p>
        </p:txBody>
      </p:sp>
      <p:sp>
        <p:nvSpPr>
          <p:cNvPr id="25" name="Study selective expert pruni">
            <a:extLst>
              <a:ext uri="{FF2B5EF4-FFF2-40B4-BE49-F238E27FC236}">
                <a16:creationId xmlns:a16="http://schemas.microsoft.com/office/drawing/2014/main" id="{52A4B1CD-8787-4216-B61C-986BC2742DDF}"/>
              </a:ext>
            </a:extLst>
          </p:cNvPr>
          <p:cNvSpPr>
            <a:spLocks noGrp="1"/>
          </p:cNvSpPr>
          <p:nvPr/>
        </p:nvSpPr>
        <p:spPr>
          <a:xfrm>
            <a:off x="1190625" y="4238625"/>
            <a:ext cx="10544175"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Study selective expert pruning or retention across MoE model families and expert sizes, then use those observations to adapt q selection.</a:t>
            </a:r>
          </a:p>
        </p:txBody>
      </p:sp>
      <p:sp>
        <p:nvSpPr>
          <p:cNvPr id="28" name="Rectangle 27">
            <a:extLst>
              <a:ext uri="{FF2B5EF4-FFF2-40B4-BE49-F238E27FC236}">
                <a16:creationId xmlns:a16="http://schemas.microsoft.com/office/drawing/2014/main" id="{EF952FD6-7450-40A4-87AC-13CA6380814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Tree>
    <p:extLst>
      <p:ext uri="{BB962C8B-B14F-4D97-AF65-F5344CB8AC3E}">
        <p14:creationId xmlns:p14="http://schemas.microsoft.com/office/powerpoint/2010/main" val="800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MOTIVATION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A broader policy for choosing q</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q = f(m, B_P, B_H, CPU cost,">
            <a:extLst>
              <a:ext uri="{FF2B5EF4-FFF2-40B4-BE49-F238E27FC236}">
                <a16:creationId xmlns:a16="http://schemas.microsoft.com/office/drawing/2014/main" id="{08C27946-DC06-4564-93C4-0FF2C69DC1FC}"/>
              </a:ext>
            </a:extLst>
          </p:cNvPr>
          <p:cNvSpPr>
            <a:spLocks noGrp="1"/>
          </p:cNvSpPr>
          <p:nvPr/>
        </p:nvSpPr>
        <p:spPr>
          <a:xfrm>
            <a:off x="457200" y="1781175"/>
            <a:ext cx="11277600" cy="952500"/>
          </a:xfrm>
          <a:prstGeom prst="rect">
            <a:avLst/>
          </a:prstGeom>
          <a:noFill/>
          <a:ln w="0">
            <a:noFill/>
          </a:ln>
        </p:spPr>
        <p:txBody>
          <a:bodyPr wrap="square" lIns="0" tIns="0" rIns="0" bIns="0" anchor="t">
            <a:noAutofit/>
          </a:bodyPr>
          <a:lstStyle/>
          <a:p>
            <a:pPr algn="l">
              <a:defRPr sz="1950" b="0">
                <a:solidFill>
                  <a:srgbClr val="1B2638"/>
                </a:solidFill>
                <a:latin typeface="Geist"/>
                <a:ea typeface="Geist"/>
                <a:cs typeface="Geist"/>
              </a:defRPr>
            </a:pPr>
            <a:r>
              <a:rPr sz="1950" b="0">
                <a:solidFill>
                  <a:srgbClr val="1B2638"/>
                </a:solidFill>
                <a:latin typeface="Geist"/>
                <a:ea typeface="Geist"/>
                <a:cs typeface="Geist"/>
              </a:rPr>
              <a:t>q = f(m, B_P, B_H, CPU cost, GPU cost, transfer cost,</a:t>
            </a:r>
          </a:p>
          <a:p>
            <a:pPr algn="l">
              <a:defRPr sz="1950" b="0">
                <a:solidFill>
                  <a:srgbClr val="1B2638"/>
                </a:solidFill>
                <a:latin typeface="Geist"/>
                <a:ea typeface="Geist"/>
                <a:cs typeface="Geist"/>
              </a:defRPr>
            </a:pPr>
            <a:r>
              <a:rPr sz="1950" b="0">
                <a:solidFill>
                  <a:srgbClr val="1B2638"/>
                </a:solidFill>
                <a:latin typeface="Geist"/>
                <a:ea typeface="Geist"/>
                <a:cs typeface="Geist"/>
              </a:rPr>
              <a:t>       overlap, utilization, workload, reuse, cache state)</a:t>
            </a:r>
          </a:p>
        </p:txBody>
      </p:sp>
      <p:sp>
        <p:nvSpPr>
          <p:cNvPr id="20" name="1. Runtime-aware learned pol">
            <a:extLst>
              <a:ext uri="{FF2B5EF4-FFF2-40B4-BE49-F238E27FC236}">
                <a16:creationId xmlns:a16="http://schemas.microsoft.com/office/drawing/2014/main" id="{C6D1E636-32DC-404F-ABD9-EF508D01A46D}"/>
              </a:ext>
            </a:extLst>
          </p:cNvPr>
          <p:cNvSpPr>
            <a:spLocks noGrp="1"/>
          </p:cNvSpPr>
          <p:nvPr/>
        </p:nvSpPr>
        <p:spPr>
          <a:xfrm>
            <a:off x="457200" y="31813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1. Runtime-aware learned policies</a:t>
            </a:r>
          </a:p>
        </p:txBody>
      </p:sp>
      <p:sp>
        <p:nvSpPr>
          <p:cNvPr id="21" name="Use runtime context to predi">
            <a:extLst>
              <a:ext uri="{FF2B5EF4-FFF2-40B4-BE49-F238E27FC236}">
                <a16:creationId xmlns:a16="http://schemas.microsoft.com/office/drawing/2014/main" id="{4C8A2434-DC55-49A8-A71E-F76BD5014830}"/>
              </a:ext>
            </a:extLst>
          </p:cNvPr>
          <p:cNvSpPr>
            <a:spLocks noGrp="1"/>
          </p:cNvSpPr>
          <p:nvPr/>
        </p:nvSpPr>
        <p:spPr>
          <a:xfrm>
            <a:off x="457200" y="35433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Use runtime context to predict the cost of each valid q. We experimented with statistical ML, neural networks, and contextual bandits.</a:t>
            </a:r>
          </a:p>
        </p:txBody>
      </p:sp>
      <p:sp>
        <p:nvSpPr>
          <p:cNvPr id="22" name="2. Reuse-Aware analytic poli">
            <a:extLst>
              <a:ext uri="{FF2B5EF4-FFF2-40B4-BE49-F238E27FC236}">
                <a16:creationId xmlns:a16="http://schemas.microsoft.com/office/drawing/2014/main" id="{978276CB-B0EF-4454-8D19-BA525A25836D}"/>
              </a:ext>
            </a:extLst>
          </p:cNvPr>
          <p:cNvSpPr>
            <a:spLocks noGrp="1"/>
          </p:cNvSpPr>
          <p:nvPr/>
        </p:nvSpPr>
        <p:spPr>
          <a:xfrm>
            <a:off x="457200" y="441007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2. Reuse-Aware analytic policy</a:t>
            </a:r>
          </a:p>
        </p:txBody>
      </p:sp>
      <p:sp>
        <p:nvSpPr>
          <p:cNvPr id="23" name="Estimate the immediate cost ">
            <a:extLst>
              <a:ext uri="{FF2B5EF4-FFF2-40B4-BE49-F238E27FC236}">
                <a16:creationId xmlns:a16="http://schemas.microsoft.com/office/drawing/2014/main" id="{E446073A-CC93-499F-9CA6-84E738EFA59F}"/>
              </a:ext>
            </a:extLst>
          </p:cNvPr>
          <p:cNvSpPr>
            <a:spLocks noGrp="1"/>
          </p:cNvSpPr>
          <p:nvPr/>
        </p:nvSpPr>
        <p:spPr>
          <a:xfrm>
            <a:off x="457200" y="477202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Estimate the immediate cost of fetching and the future CPU work saved while the expert remains in cache.</a:t>
            </a:r>
          </a:p>
        </p:txBody>
      </p:sp>
      <p:sp>
        <p:nvSpPr>
          <p:cNvPr id="24" name="Rectangle 23">
            <a:extLst>
              <a:ext uri="{FF2B5EF4-FFF2-40B4-BE49-F238E27FC236}">
                <a16:creationId xmlns:a16="http://schemas.microsoft.com/office/drawing/2014/main" id="{54328460-D8E4-4E8A-BF8C-254EB4FEDD3B}"/>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FDC31995-4E58-40B5-A8AF-95A05C4B12F4}"/>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Main question">
            <a:extLst>
              <a:ext uri="{FF2B5EF4-FFF2-40B4-BE49-F238E27FC236}">
                <a16:creationId xmlns:a16="http://schemas.microsoft.com/office/drawing/2014/main" id="{325D223C-59C4-42D1-B349-3B926CD118B9}"/>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Main question</a:t>
            </a:r>
          </a:p>
        </p:txBody>
      </p:sp>
      <p:sp>
        <p:nvSpPr>
          <p:cNvPr id="27" name="Which signals improve the ac">
            <a:extLst>
              <a:ext uri="{FF2B5EF4-FFF2-40B4-BE49-F238E27FC236}">
                <a16:creationId xmlns:a16="http://schemas.microsoft.com/office/drawing/2014/main" id="{1F5A5131-A226-4707-A219-2D02E3087AE0}"/>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Which signals improve the actual decision, and how simple can the policy be?</a:t>
            </a:r>
          </a:p>
        </p:txBody>
      </p:sp>
    </p:spTree>
    <p:extLst>
      <p:ext uri="{BB962C8B-B14F-4D97-AF65-F5344CB8AC3E}">
        <p14:creationId xmlns:p14="http://schemas.microsoft.com/office/powerpoint/2010/main" val="80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RUNTIME-AWARE POLICY · FORMULATION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Predict cost for context x and candidate q</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x, q)  →  L(x, q)">
            <a:extLst>
              <a:ext uri="{FF2B5EF4-FFF2-40B4-BE49-F238E27FC236}">
                <a16:creationId xmlns:a16="http://schemas.microsoft.com/office/drawing/2014/main" id="{72EE09A5-2351-4549-8555-C7C728EF3092}"/>
              </a:ext>
            </a:extLst>
          </p:cNvPr>
          <p:cNvSpPr>
            <a:spLocks noGrp="1"/>
          </p:cNvSpPr>
          <p:nvPr/>
        </p:nvSpPr>
        <p:spPr>
          <a:xfrm>
            <a:off x="457200" y="1800225"/>
            <a:ext cx="11277600" cy="609600"/>
          </a:xfrm>
          <a:prstGeom prst="rect">
            <a:avLst/>
          </a:prstGeom>
          <a:noFill/>
          <a:ln w="0">
            <a:noFill/>
          </a:ln>
        </p:spPr>
        <p:txBody>
          <a:bodyPr wrap="square" lIns="0" tIns="0" rIns="0" bIns="0" anchor="t">
            <a:noAutofit/>
          </a:bodyPr>
          <a:lstStyle/>
          <a:p>
            <a:pPr algn="l">
              <a:defRPr sz="2925" b="0">
                <a:solidFill>
                  <a:srgbClr val="1B2638"/>
                </a:solidFill>
                <a:latin typeface="Newsreader Medium"/>
                <a:ea typeface="Newsreader Medium"/>
                <a:cs typeface="Newsreader Medium"/>
              </a:defRPr>
            </a:pPr>
            <a:r>
              <a:rPr sz="2925" b="0">
                <a:solidFill>
                  <a:srgbClr val="1B2638"/>
                </a:solidFill>
                <a:latin typeface="Newsreader Medium"/>
                <a:ea typeface="Newsreader Medium"/>
                <a:cs typeface="Newsreader Medium"/>
              </a:rPr>
              <a:t>(x, q)  →  L(x, q)</a:t>
            </a:r>
          </a:p>
        </p:txBody>
      </p:sp>
      <p:sp>
        <p:nvSpPr>
          <p:cNvPr id="20" name="q* = argmin  L(x, q)     for">
            <a:extLst>
              <a:ext uri="{FF2B5EF4-FFF2-40B4-BE49-F238E27FC236}">
                <a16:creationId xmlns:a16="http://schemas.microsoft.com/office/drawing/2014/main" id="{5869F166-F3A6-47FE-BA8B-84CACD33D09E}"/>
              </a:ext>
            </a:extLst>
          </p:cNvPr>
          <p:cNvSpPr>
            <a:spLocks noGrp="1"/>
          </p:cNvSpPr>
          <p:nvPr/>
        </p:nvSpPr>
        <p:spPr>
          <a:xfrm>
            <a:off x="457200" y="2705100"/>
            <a:ext cx="11277600" cy="619125"/>
          </a:xfrm>
          <a:prstGeom prst="rect">
            <a:avLst/>
          </a:prstGeom>
          <a:noFill/>
          <a:ln w="0">
            <a:noFill/>
          </a:ln>
        </p:spPr>
        <p:txBody>
          <a:bodyPr wrap="square" lIns="0" tIns="0" rIns="0" bIns="0" anchor="t">
            <a:noAutofit/>
          </a:bodyPr>
          <a:lstStyle/>
          <a:p>
            <a:pPr algn="l">
              <a:defRPr sz="2625" b="0">
                <a:solidFill>
                  <a:srgbClr val="7A2331"/>
                </a:solidFill>
                <a:latin typeface="Newsreader Medium"/>
                <a:ea typeface="Newsreader Medium"/>
                <a:cs typeface="Newsreader Medium"/>
              </a:defRPr>
            </a:pPr>
            <a:r>
              <a:rPr sz="2625" b="0">
                <a:solidFill>
                  <a:srgbClr val="7A2331"/>
                </a:solidFill>
                <a:latin typeface="Newsreader Medium"/>
                <a:ea typeface="Newsreader Medium"/>
                <a:cs typeface="Newsreader Medium"/>
              </a:rPr>
              <a:t>q* = argmin  L(x, q)     for q ∈ {0, …, m}</a:t>
            </a:r>
          </a:p>
        </p:txBody>
      </p:sp>
      <p:sp>
        <p:nvSpPr>
          <p:cNvPr id="21" name="x is the information availab">
            <a:extLst>
              <a:ext uri="{FF2B5EF4-FFF2-40B4-BE49-F238E27FC236}">
                <a16:creationId xmlns:a16="http://schemas.microsoft.com/office/drawing/2014/main" id="{3BAC7000-4427-458E-A023-7F4076FD235A}"/>
              </a:ext>
            </a:extLst>
          </p:cNvPr>
          <p:cNvSpPr>
            <a:spLocks noGrp="1"/>
          </p:cNvSpPr>
          <p:nvPr/>
        </p:nvSpPr>
        <p:spPr>
          <a:xfrm>
            <a:off x="457200" y="37433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x is the information available before the action</a:t>
            </a:r>
          </a:p>
        </p:txBody>
      </p:sp>
      <p:sp>
        <p:nvSpPr>
          <p:cNvPr id="22" name="Current routing and cache st">
            <a:extLst>
              <a:ext uri="{FF2B5EF4-FFF2-40B4-BE49-F238E27FC236}">
                <a16:creationId xmlns:a16="http://schemas.microsoft.com/office/drawing/2014/main" id="{0229A655-1D29-4C4E-BD55-29A6FB7EFB2E}"/>
              </a:ext>
            </a:extLst>
          </p:cNvPr>
          <p:cNvSpPr>
            <a:spLocks noGrp="1"/>
          </p:cNvSpPr>
          <p:nvPr/>
        </p:nvSpPr>
        <p:spPr>
          <a:xfrm>
            <a:off x="457200" y="41052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Current routing and cache state, plus timing and utilization observations already available from earlier calls.</a:t>
            </a:r>
          </a:p>
        </p:txBody>
      </p:sp>
      <p:sp>
        <p:nvSpPr>
          <p:cNvPr id="23" name="89 candidate runtime feature">
            <a:extLst>
              <a:ext uri="{FF2B5EF4-FFF2-40B4-BE49-F238E27FC236}">
                <a16:creationId xmlns:a16="http://schemas.microsoft.com/office/drawing/2014/main" id="{19FBF5D9-5789-40F2-B528-75D667CA2D2D}"/>
              </a:ext>
            </a:extLst>
          </p:cNvPr>
          <p:cNvSpPr>
            <a:spLocks noGrp="1"/>
          </p:cNvSpPr>
          <p:nvPr/>
        </p:nvSpPr>
        <p:spPr>
          <a:xfrm>
            <a:off x="457200" y="5076825"/>
            <a:ext cx="5715000" cy="381000"/>
          </a:xfrm>
          <a:prstGeom prst="rect">
            <a:avLst/>
          </a:prstGeom>
          <a:noFill/>
          <a:ln w="0">
            <a:noFill/>
          </a:ln>
        </p:spPr>
        <p:txBody>
          <a:bodyPr wrap="square" lIns="0" tIns="0" rIns="0" bIns="0" anchor="t">
            <a:noAutofit/>
          </a:bodyPr>
          <a:lstStyle/>
          <a:p>
            <a:pPr algn="l">
              <a:defRPr sz="1950" b="1">
                <a:solidFill>
                  <a:srgbClr val="2B3139"/>
                </a:solidFill>
                <a:latin typeface="Geist"/>
                <a:ea typeface="Geist"/>
                <a:cs typeface="Geist"/>
              </a:defRPr>
            </a:pPr>
            <a:r>
              <a:rPr sz="1950" b="1">
                <a:solidFill>
                  <a:srgbClr val="2B3139"/>
                </a:solidFill>
                <a:latin typeface="Geist"/>
                <a:ea typeface="Geist"/>
                <a:cs typeface="Geist"/>
              </a:rPr>
              <a:t>89 candidate runtime features</a:t>
            </a:r>
          </a:p>
        </p:txBody>
      </p:sp>
      <p:sp>
        <p:nvSpPr>
          <p:cNvPr id="24" name="63 retained = 89 − 6 constan">
            <a:extLst>
              <a:ext uri="{FF2B5EF4-FFF2-40B4-BE49-F238E27FC236}">
                <a16:creationId xmlns:a16="http://schemas.microsoft.com/office/drawing/2014/main" id="{FDEE165A-C988-4216-BB09-5488E7452C07}"/>
              </a:ext>
            </a:extLst>
          </p:cNvPr>
          <p:cNvSpPr>
            <a:spLocks noGrp="1"/>
          </p:cNvSpPr>
          <p:nvPr/>
        </p:nvSpPr>
        <p:spPr>
          <a:xfrm>
            <a:off x="457200" y="5524500"/>
            <a:ext cx="11277600" cy="361950"/>
          </a:xfrm>
          <a:prstGeom prst="rect">
            <a:avLst/>
          </a:prstGeom>
          <a:noFill/>
          <a:ln w="0">
            <a:noFill/>
          </a:ln>
        </p:spPr>
        <p:txBody>
          <a:bodyPr wrap="square" lIns="0" tIns="0" rIns="0" bIns="0" anchor="t">
            <a:noAutofit/>
          </a:bodyPr>
          <a:lstStyle/>
          <a:p>
            <a:pPr algn="l">
              <a:defRPr sz="1800" b="0">
                <a:solidFill>
                  <a:srgbClr val="2B3139"/>
                </a:solidFill>
                <a:latin typeface="Geist"/>
                <a:ea typeface="Geist"/>
                <a:cs typeface="Geist"/>
              </a:defRPr>
            </a:pPr>
            <a:r>
              <a:rPr sz="1800" b="0">
                <a:solidFill>
                  <a:srgbClr val="2B3139"/>
                </a:solidFill>
                <a:latin typeface="Geist"/>
                <a:ea typeface="Geist"/>
                <a:cs typeface="Geist"/>
              </a:rPr>
              <a:t>63 retained = 89 − 6 constants − 20 near-duplicates</a:t>
            </a:r>
          </a:p>
        </p:txBody>
      </p:sp>
      <p:sp>
        <p:nvSpPr>
          <p:cNvPr id="25" name="q is an action input, separa">
            <a:extLst>
              <a:ext uri="{FF2B5EF4-FFF2-40B4-BE49-F238E27FC236}">
                <a16:creationId xmlns:a16="http://schemas.microsoft.com/office/drawing/2014/main" id="{438D9B50-C0AC-41CC-A2A7-83E71917EF8E}"/>
              </a:ext>
            </a:extLst>
          </p:cNvPr>
          <p:cNvSpPr>
            <a:spLocks noGrp="1"/>
          </p:cNvSpPr>
          <p:nvPr/>
        </p:nvSpPr>
        <p:spPr>
          <a:xfrm>
            <a:off x="457200" y="6153150"/>
            <a:ext cx="11277600" cy="257175"/>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q is an action input, separate from the runtime context.</a:t>
            </a:r>
          </a:p>
        </p:txBody>
      </p:sp>
    </p:spTree>
    <p:extLst>
      <p:ext uri="{BB962C8B-B14F-4D97-AF65-F5344CB8AC3E}">
        <p14:creationId xmlns:p14="http://schemas.microsoft.com/office/powerpoint/2010/main" val="800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RUNTIME FEATURES · 1 OF 2</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Features describing current execution cost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28" name="Table 27"/>
          <p:cNvGraphicFramePr/>
          <p:nvPr/>
        </p:nvGraphicFramePr>
        <p:xfrm>
          <a:off x="457200" y="1771650"/>
          <a:ext cx="11277600" cy="3924298"/>
        </p:xfrm>
        <a:graphic>
          <a:graphicData uri="http://schemas.openxmlformats.org/drawingml/2006/table">
            <a:tbl>
              <a:tblPr/>
              <a:tblGrid>
                <a:gridCol w="247650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752975">
                  <a:extLst>
                    <a:ext uri="{9D8B030D-6E8A-4147-A177-3AD203B41FA5}">
                      <a16:colId xmlns:a16="http://schemas.microsoft.com/office/drawing/2014/main" val="20002"/>
                    </a:ext>
                  </a:extLst>
                </a:gridCol>
              </a:tblGrid>
              <a:tr h="560614">
                <a:tc>
                  <a:txBody>
                    <a:bodyPr/>
                    <a:lstStyle/>
                    <a:p>
                      <a:r>
                        <a:rPr sz="1400" b="1">
                          <a:solidFill>
                            <a:srgbClr val="FFFFFF"/>
                          </a:solidFill>
                          <a:latin typeface="Geist"/>
                          <a:ea typeface="Geist"/>
                          <a:cs typeface="Geist"/>
                        </a:rPr>
                        <a:t>Family (candidate / kept)</a:t>
                      </a:r>
                    </a:p>
                  </a:txBody>
                  <a:tcPr anchor="ctr">
                    <a:solidFill>
                      <a:srgbClr val="4A5B70"/>
                    </a:solidFill>
                  </a:tcPr>
                </a:tc>
                <a:tc>
                  <a:txBody>
                    <a:bodyPr/>
                    <a:lstStyle/>
                    <a:p>
                      <a:r>
                        <a:rPr sz="1400" b="1">
                          <a:solidFill>
                            <a:srgbClr val="FFFFFF"/>
                          </a:solidFill>
                          <a:latin typeface="Geist"/>
                          <a:ea typeface="Geist"/>
                          <a:cs typeface="Geist"/>
                        </a:rPr>
                        <a:t>Example signals</a:t>
                      </a:r>
                    </a:p>
                  </a:txBody>
                  <a:tcPr anchor="ctr">
                    <a:solidFill>
                      <a:srgbClr val="4A5B70"/>
                    </a:solidFill>
                  </a:tcPr>
                </a:tc>
                <a:tc>
                  <a:txBody>
                    <a:bodyPr/>
                    <a:lstStyle/>
                    <a:p>
                      <a:r>
                        <a:rPr sz="1400" b="1">
                          <a:solidFill>
                            <a:srgbClr val="FFFFFF"/>
                          </a:solidFill>
                          <a:latin typeface="Geist"/>
                          <a:ea typeface="Geist"/>
                          <a:cs typeface="Geist"/>
                        </a:rPr>
                        <a:t>Question the family answers</a:t>
                      </a:r>
                    </a:p>
                  </a:txBody>
                  <a:tcPr anchor="ctr">
                    <a:solidFill>
                      <a:srgbClr val="4A5B70"/>
                    </a:solidFill>
                  </a:tcPr>
                </a:tc>
                <a:extLst>
                  <a:ext uri="{0D108BD9-81ED-4DB2-BD59-A6C34878D82A}">
                    <a16:rowId xmlns:a16="http://schemas.microsoft.com/office/drawing/2014/main" val="10000"/>
                  </a:ext>
                </a:extLst>
              </a:tr>
              <a:tr h="560614">
                <a:tc>
                  <a:txBody>
                    <a:bodyPr/>
                    <a:lstStyle/>
                    <a:p>
                      <a:r>
                        <a:rPr sz="1400" b="0">
                          <a:solidFill>
                            <a:srgbClr val="2B3139"/>
                          </a:solidFill>
                          <a:latin typeface="Geist"/>
                          <a:ea typeface="Geist"/>
                          <a:cs typeface="Geist"/>
                        </a:rPr>
                        <a:t>Base (3 / 1)</a:t>
                      </a:r>
                    </a:p>
                  </a:txBody>
                  <a:tcPr anchor="ctr">
                    <a:solidFill>
                      <a:srgbClr val="FFFFFF"/>
                    </a:solidFill>
                  </a:tcPr>
                </a:tc>
                <a:tc>
                  <a:txBody>
                    <a:bodyPr/>
                    <a:lstStyle/>
                    <a:p>
                      <a:r>
                        <a:rPr sz="1400" b="0">
                          <a:solidFill>
                            <a:srgbClr val="2B3139"/>
                          </a:solidFill>
                          <a:latin typeface="Geist"/>
                          <a:ea typeface="Geist"/>
                          <a:cs typeface="Geist"/>
                        </a:rPr>
                        <a:t>m, calibrated B_P and B_H</a:t>
                      </a:r>
                    </a:p>
                  </a:txBody>
                  <a:tcPr anchor="ctr">
                    <a:solidFill>
                      <a:srgbClr val="FFFFFF"/>
                    </a:solidFill>
                  </a:tcPr>
                </a:tc>
                <a:tc>
                  <a:txBody>
                    <a:bodyPr/>
                    <a:lstStyle/>
                    <a:p>
                      <a:r>
                        <a:rPr sz="1400" b="0">
                          <a:solidFill>
                            <a:srgbClr val="2B3139"/>
                          </a:solidFill>
                          <a:latin typeface="Geist"/>
                          <a:ea typeface="Geist"/>
                          <a:cs typeface="Geist"/>
                        </a:rPr>
                        <a:t>How much missing work must be split?</a:t>
                      </a:r>
                    </a:p>
                  </a:txBody>
                  <a:tcPr anchor="ctr">
                    <a:solidFill>
                      <a:srgbClr val="FFFFFF"/>
                    </a:solidFill>
                  </a:tcPr>
                </a:tc>
                <a:extLst>
                  <a:ext uri="{0D108BD9-81ED-4DB2-BD59-A6C34878D82A}">
                    <a16:rowId xmlns:a16="http://schemas.microsoft.com/office/drawing/2014/main" val="10001"/>
                  </a:ext>
                </a:extLst>
              </a:tr>
              <a:tr h="560614">
                <a:tc>
                  <a:txBody>
                    <a:bodyPr/>
                    <a:lstStyle/>
                    <a:p>
                      <a:r>
                        <a:rPr sz="1400" b="0">
                          <a:solidFill>
                            <a:srgbClr val="2B3139"/>
                          </a:solidFill>
                          <a:latin typeface="Geist"/>
                          <a:ea typeface="Geist"/>
                          <a:cs typeface="Geist"/>
                        </a:rPr>
                        <a:t>Routing (6 / 2)</a:t>
                      </a:r>
                    </a:p>
                  </a:txBody>
                  <a:tcPr anchor="ctr">
                    <a:solidFill>
                      <a:srgbClr val="FAF7F0"/>
                    </a:solidFill>
                  </a:tcPr>
                </a:tc>
                <a:tc>
                  <a:txBody>
                    <a:bodyPr/>
                    <a:lstStyle/>
                    <a:p>
                      <a:r>
                        <a:rPr sz="1400" b="0">
                          <a:solidFill>
                            <a:srgbClr val="2B3139"/>
                          </a:solidFill>
                          <a:latin typeface="Geist"/>
                          <a:ea typeface="Geist"/>
                          <a:cs typeface="Geist"/>
                        </a:rPr>
                        <a:t>Layer, decode position, hits, miss ratio</a:t>
                      </a:r>
                    </a:p>
                  </a:txBody>
                  <a:tcPr anchor="ctr">
                    <a:solidFill>
                      <a:srgbClr val="FAF7F0"/>
                    </a:solidFill>
                  </a:tcPr>
                </a:tc>
                <a:tc>
                  <a:txBody>
                    <a:bodyPr/>
                    <a:lstStyle/>
                    <a:p>
                      <a:r>
                        <a:rPr sz="1400" b="0">
                          <a:solidFill>
                            <a:srgbClr val="2B3139"/>
                          </a:solidFill>
                          <a:latin typeface="Geist"/>
                          <a:ea typeface="Geist"/>
                          <a:cs typeface="Geist"/>
                        </a:rPr>
                        <a:t>Where are we, and what does routing request?</a:t>
                      </a:r>
                    </a:p>
                  </a:txBody>
                  <a:tcPr anchor="ctr">
                    <a:solidFill>
                      <a:srgbClr val="FAF7F0"/>
                    </a:solidFill>
                  </a:tcPr>
                </a:tc>
                <a:extLst>
                  <a:ext uri="{0D108BD9-81ED-4DB2-BD59-A6C34878D82A}">
                    <a16:rowId xmlns:a16="http://schemas.microsoft.com/office/drawing/2014/main" val="10002"/>
                  </a:ext>
                </a:extLst>
              </a:tr>
              <a:tr h="560614">
                <a:tc>
                  <a:txBody>
                    <a:bodyPr/>
                    <a:lstStyle/>
                    <a:p>
                      <a:r>
                        <a:rPr sz="1400" b="0">
                          <a:solidFill>
                            <a:srgbClr val="2B3139"/>
                          </a:solidFill>
                          <a:latin typeface="Geist"/>
                          <a:ea typeface="Geist"/>
                          <a:cs typeface="Geist"/>
                        </a:rPr>
                        <a:t>CPU (4 / 3)</a:t>
                      </a:r>
                    </a:p>
                  </a:txBody>
                  <a:tcPr anchor="ctr">
                    <a:solidFill>
                      <a:srgbClr val="FFFFFF"/>
                    </a:solidFill>
                  </a:tcPr>
                </a:tc>
                <a:tc>
                  <a:txBody>
                    <a:bodyPr/>
                    <a:lstStyle/>
                    <a:p>
                      <a:r>
                        <a:rPr sz="1400" b="0">
                          <a:solidFill>
                            <a:srgbClr val="2B3139"/>
                          </a:solidFill>
                          <a:latin typeface="Geist"/>
                          <a:ea typeface="Geist"/>
                          <a:cs typeface="Geist"/>
                        </a:rPr>
                        <a:t>CPU time/expert, prior task time, recent B_H</a:t>
                      </a:r>
                    </a:p>
                  </a:txBody>
                  <a:tcPr anchor="ctr">
                    <a:solidFill>
                      <a:srgbClr val="FFFFFF"/>
                    </a:solidFill>
                  </a:tcPr>
                </a:tc>
                <a:tc>
                  <a:txBody>
                    <a:bodyPr/>
                    <a:lstStyle/>
                    <a:p>
                      <a:r>
                        <a:rPr sz="1400" b="0">
                          <a:solidFill>
                            <a:srgbClr val="2B3139"/>
                          </a:solidFill>
                          <a:latin typeface="Geist"/>
                          <a:ea typeface="Geist"/>
                          <a:cs typeface="Geist"/>
                        </a:rPr>
                        <a:t>How expensive is host expert execution?</a:t>
                      </a:r>
                    </a:p>
                  </a:txBody>
                  <a:tcPr anchor="ctr">
                    <a:solidFill>
                      <a:srgbClr val="FFFFFF"/>
                    </a:solidFill>
                  </a:tcPr>
                </a:tc>
                <a:extLst>
                  <a:ext uri="{0D108BD9-81ED-4DB2-BD59-A6C34878D82A}">
                    <a16:rowId xmlns:a16="http://schemas.microsoft.com/office/drawing/2014/main" val="10003"/>
                  </a:ext>
                </a:extLst>
              </a:tr>
              <a:tr h="560614">
                <a:tc>
                  <a:txBody>
                    <a:bodyPr/>
                    <a:lstStyle/>
                    <a:p>
                      <a:r>
                        <a:rPr sz="1400" b="0">
                          <a:solidFill>
                            <a:srgbClr val="2B3139"/>
                          </a:solidFill>
                          <a:latin typeface="Geist"/>
                          <a:ea typeface="Geist"/>
                          <a:cs typeface="Geist"/>
                        </a:rPr>
                        <a:t>GPU (2 / 2)</a:t>
                      </a:r>
                    </a:p>
                  </a:txBody>
                  <a:tcPr anchor="ctr">
                    <a:solidFill>
                      <a:srgbClr val="FAF7F0"/>
                    </a:solidFill>
                  </a:tcPr>
                </a:tc>
                <a:tc>
                  <a:txBody>
                    <a:bodyPr/>
                    <a:lstStyle/>
                    <a:p>
                      <a:r>
                        <a:rPr sz="1400" b="0">
                          <a:solidFill>
                            <a:srgbClr val="2B3139"/>
                          </a:solidFill>
                          <a:latin typeface="Geist"/>
                          <a:ea typeface="Geist"/>
                          <a:cs typeface="Geist"/>
                        </a:rPr>
                        <a:t>Prior and smoothed GEMM time</a:t>
                      </a:r>
                    </a:p>
                  </a:txBody>
                  <a:tcPr anchor="ctr">
                    <a:solidFill>
                      <a:srgbClr val="FAF7F0"/>
                    </a:solidFill>
                  </a:tcPr>
                </a:tc>
                <a:tc>
                  <a:txBody>
                    <a:bodyPr/>
                    <a:lstStyle/>
                    <a:p>
                      <a:r>
                        <a:rPr sz="1400" b="0">
                          <a:solidFill>
                            <a:srgbClr val="2B3139"/>
                          </a:solidFill>
                          <a:latin typeface="Geist"/>
                          <a:ea typeface="Geist"/>
                          <a:cs typeface="Geist"/>
                        </a:rPr>
                        <a:t>How busy or costly is GPU computation?</a:t>
                      </a:r>
                    </a:p>
                  </a:txBody>
                  <a:tcPr anchor="ctr">
                    <a:solidFill>
                      <a:srgbClr val="FAF7F0"/>
                    </a:solidFill>
                  </a:tcPr>
                </a:tc>
                <a:extLst>
                  <a:ext uri="{0D108BD9-81ED-4DB2-BD59-A6C34878D82A}">
                    <a16:rowId xmlns:a16="http://schemas.microsoft.com/office/drawing/2014/main" val="10004"/>
                  </a:ext>
                </a:extLst>
              </a:tr>
              <a:tr h="560614">
                <a:tc>
                  <a:txBody>
                    <a:bodyPr/>
                    <a:lstStyle/>
                    <a:p>
                      <a:r>
                        <a:rPr sz="1400" b="0">
                          <a:solidFill>
                            <a:srgbClr val="2B3139"/>
                          </a:solidFill>
                          <a:latin typeface="Geist"/>
                          <a:ea typeface="Geist"/>
                          <a:cs typeface="Geist"/>
                        </a:rPr>
                        <a:t>Transfer (5 / 2)</a:t>
                      </a:r>
                    </a:p>
                  </a:txBody>
                  <a:tcPr anchor="ctr">
                    <a:solidFill>
                      <a:srgbClr val="FFFFFF"/>
                    </a:solidFill>
                  </a:tcPr>
                </a:tc>
                <a:tc>
                  <a:txBody>
                    <a:bodyPr/>
                    <a:lstStyle/>
                    <a:p>
                      <a:r>
                        <a:rPr sz="1400" b="0">
                          <a:solidFill>
                            <a:srgbClr val="2B3139"/>
                          </a:solidFill>
                          <a:latin typeface="Geist"/>
                          <a:ea typeface="Geist"/>
                          <a:cs typeface="Geist"/>
                        </a:rPr>
                        <a:t>PCIe time/expert, prior q and bytes</a:t>
                      </a:r>
                    </a:p>
                  </a:txBody>
                  <a:tcPr anchor="ctr">
                    <a:solidFill>
                      <a:srgbClr val="FFFFFF"/>
                    </a:solidFill>
                  </a:tcPr>
                </a:tc>
                <a:tc>
                  <a:txBody>
                    <a:bodyPr/>
                    <a:lstStyle/>
                    <a:p>
                      <a:r>
                        <a:rPr sz="1400" b="0">
                          <a:solidFill>
                            <a:srgbClr val="2B3139"/>
                          </a:solidFill>
                          <a:latin typeface="Geist"/>
                          <a:ea typeface="Geist"/>
                          <a:cs typeface="Geist"/>
                        </a:rPr>
                        <a:t>How expensive is moving experts to GPU?</a:t>
                      </a:r>
                    </a:p>
                  </a:txBody>
                  <a:tcPr anchor="ctr">
                    <a:solidFill>
                      <a:srgbClr val="FFFFFF"/>
                    </a:solidFill>
                  </a:tcPr>
                </a:tc>
                <a:extLst>
                  <a:ext uri="{0D108BD9-81ED-4DB2-BD59-A6C34878D82A}">
                    <a16:rowId xmlns:a16="http://schemas.microsoft.com/office/drawing/2014/main" val="10005"/>
                  </a:ext>
                </a:extLst>
              </a:tr>
              <a:tr h="560614">
                <a:tc>
                  <a:txBody>
                    <a:bodyPr/>
                    <a:lstStyle/>
                    <a:p>
                      <a:r>
                        <a:rPr sz="1400" b="0">
                          <a:solidFill>
                            <a:srgbClr val="2B3139"/>
                          </a:solidFill>
                          <a:latin typeface="Geist"/>
                          <a:ea typeface="Geist"/>
                          <a:cs typeface="Geist"/>
                        </a:rPr>
                        <a:t>Overlap (6 / 5)</a:t>
                      </a:r>
                    </a:p>
                  </a:txBody>
                  <a:tcPr anchor="ctr">
                    <a:solidFill>
                      <a:srgbClr val="FAF7F0"/>
                    </a:solidFill>
                  </a:tcPr>
                </a:tc>
                <a:tc>
                  <a:txBody>
                    <a:bodyPr/>
                    <a:lstStyle/>
                    <a:p>
                      <a:r>
                        <a:rPr sz="1400" b="0">
                          <a:solidFill>
                            <a:srgbClr val="2B3139"/>
                          </a:solidFill>
                          <a:latin typeface="Geist"/>
                          <a:ea typeface="Geist"/>
                          <a:cs typeface="Geist"/>
                        </a:rPr>
                        <a:t>Prior branch times, imbalance, exposed wait</a:t>
                      </a:r>
                    </a:p>
                  </a:txBody>
                  <a:tcPr anchor="ctr">
                    <a:solidFill>
                      <a:srgbClr val="FAF7F0"/>
                    </a:solidFill>
                  </a:tcPr>
                </a:tc>
                <a:tc>
                  <a:txBody>
                    <a:bodyPr/>
                    <a:lstStyle/>
                    <a:p>
                      <a:r>
                        <a:rPr sz="1400" b="0">
                          <a:solidFill>
                            <a:srgbClr val="2B3139"/>
                          </a:solidFill>
                          <a:latin typeface="Geist"/>
                          <a:ea typeface="Geist"/>
                          <a:cs typeface="Geist"/>
                        </a:rPr>
                        <a:t>Which branch determines visible latency?</a:t>
                      </a:r>
                    </a:p>
                  </a:txBody>
                  <a:tcPr anchor="ctr">
                    <a:solidFill>
                      <a:srgbClr val="FAF7F0"/>
                    </a:solidFill>
                  </a:tcPr>
                </a:tc>
                <a:extLst>
                  <a:ext uri="{0D108BD9-81ED-4DB2-BD59-A6C34878D82A}">
                    <a16:rowId xmlns:a16="http://schemas.microsoft.com/office/drawing/2014/main" val="10006"/>
                  </a:ext>
                </a:extLst>
              </a:tr>
            </a:tbl>
          </a:graphicData>
        </a:graphic>
      </p:graphicFrame>
      <p:sp>
        <p:nvSpPr>
          <p:cNvPr id="20" name="Rectangle 19">
            <a:extLst>
              <a:ext uri="{FF2B5EF4-FFF2-40B4-BE49-F238E27FC236}">
                <a16:creationId xmlns:a16="http://schemas.microsoft.com/office/drawing/2014/main" id="{C7ECC03D-71D4-463E-BB1E-C44C5E481034}"/>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1" name="Rectangle 20">
            <a:extLst>
              <a:ext uri="{FF2B5EF4-FFF2-40B4-BE49-F238E27FC236}">
                <a16:creationId xmlns:a16="http://schemas.microsoft.com/office/drawing/2014/main" id="{89BBD94A-6937-4269-82E8-2370449705A9}"/>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2" name="Timing rule">
            <a:extLst>
              <a:ext uri="{FF2B5EF4-FFF2-40B4-BE49-F238E27FC236}">
                <a16:creationId xmlns:a16="http://schemas.microsoft.com/office/drawing/2014/main" id="{280269B0-D013-4042-B580-E68BE5EF8543}"/>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Timing rule</a:t>
            </a:r>
          </a:p>
        </p:txBody>
      </p:sp>
      <p:sp>
        <p:nvSpPr>
          <p:cNvPr id="23" name="Current-call CPU, GPU and PC">
            <a:extLst>
              <a:ext uri="{FF2B5EF4-FFF2-40B4-BE49-F238E27FC236}">
                <a16:creationId xmlns:a16="http://schemas.microsoft.com/office/drawing/2014/main" id="{162FAC3B-6985-49A6-B24F-075723EE1342}"/>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Current-call CPU, GPU and PCIe outcomes become inputs only for later decisions.</a:t>
            </a:r>
          </a:p>
        </p:txBody>
      </p:sp>
    </p:spTree>
    <p:extLst>
      <p:ext uri="{BB962C8B-B14F-4D97-AF65-F5344CB8AC3E}">
        <p14:creationId xmlns:p14="http://schemas.microsoft.com/office/powerpoint/2010/main" val="800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RUNTIME FEATURES · 2 OF 2</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Features describing cache value and runtime state</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29" name="Table 28"/>
          <p:cNvGraphicFramePr/>
          <p:nvPr/>
        </p:nvGraphicFramePr>
        <p:xfrm>
          <a:off x="457200" y="1771650"/>
          <a:ext cx="11277600" cy="3476628"/>
        </p:xfrm>
        <a:graphic>
          <a:graphicData uri="http://schemas.openxmlformats.org/drawingml/2006/table">
            <a:tbl>
              <a:tblPr/>
              <a:tblGrid>
                <a:gridCol w="2476500">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752975">
                  <a:extLst>
                    <a:ext uri="{9D8B030D-6E8A-4147-A177-3AD203B41FA5}">
                      <a16:colId xmlns:a16="http://schemas.microsoft.com/office/drawing/2014/main" val="20002"/>
                    </a:ext>
                  </a:extLst>
                </a:gridCol>
              </a:tblGrid>
              <a:tr h="579438">
                <a:tc>
                  <a:txBody>
                    <a:bodyPr/>
                    <a:lstStyle/>
                    <a:p>
                      <a:r>
                        <a:rPr sz="1400" b="1">
                          <a:solidFill>
                            <a:srgbClr val="FFFFFF"/>
                          </a:solidFill>
                          <a:latin typeface="Geist"/>
                          <a:ea typeface="Geist"/>
                          <a:cs typeface="Geist"/>
                        </a:rPr>
                        <a:t>Family (candidate / kept)</a:t>
                      </a:r>
                    </a:p>
                  </a:txBody>
                  <a:tcPr anchor="ctr">
                    <a:solidFill>
                      <a:srgbClr val="4A5B70"/>
                    </a:solidFill>
                  </a:tcPr>
                </a:tc>
                <a:tc>
                  <a:txBody>
                    <a:bodyPr/>
                    <a:lstStyle/>
                    <a:p>
                      <a:r>
                        <a:rPr sz="1400" b="1">
                          <a:solidFill>
                            <a:srgbClr val="FFFFFF"/>
                          </a:solidFill>
                          <a:latin typeface="Geist"/>
                          <a:ea typeface="Geist"/>
                          <a:cs typeface="Geist"/>
                        </a:rPr>
                        <a:t>Example signals</a:t>
                      </a:r>
                    </a:p>
                  </a:txBody>
                  <a:tcPr anchor="ctr">
                    <a:solidFill>
                      <a:srgbClr val="4A5B70"/>
                    </a:solidFill>
                  </a:tcPr>
                </a:tc>
                <a:tc>
                  <a:txBody>
                    <a:bodyPr/>
                    <a:lstStyle/>
                    <a:p>
                      <a:r>
                        <a:rPr sz="1400" b="1">
                          <a:solidFill>
                            <a:srgbClr val="FFFFFF"/>
                          </a:solidFill>
                          <a:latin typeface="Geist"/>
                          <a:ea typeface="Geist"/>
                          <a:cs typeface="Geist"/>
                        </a:rPr>
                        <a:t>Question the family answers</a:t>
                      </a:r>
                    </a:p>
                  </a:txBody>
                  <a:tcPr anchor="ctr">
                    <a:solidFill>
                      <a:srgbClr val="4A5B70"/>
                    </a:solidFill>
                  </a:tcPr>
                </a:tc>
                <a:extLst>
                  <a:ext uri="{0D108BD9-81ED-4DB2-BD59-A6C34878D82A}">
                    <a16:rowId xmlns:a16="http://schemas.microsoft.com/office/drawing/2014/main" val="10000"/>
                  </a:ext>
                </a:extLst>
              </a:tr>
              <a:tr h="579438">
                <a:tc>
                  <a:txBody>
                    <a:bodyPr/>
                    <a:lstStyle/>
                    <a:p>
                      <a:r>
                        <a:rPr sz="1400" b="0">
                          <a:solidFill>
                            <a:srgbClr val="2B3139"/>
                          </a:solidFill>
                          <a:latin typeface="Geist"/>
                          <a:ea typeface="Geist"/>
                          <a:cs typeface="Geist"/>
                        </a:rPr>
                        <a:t>Cache (11 / 10)</a:t>
                      </a:r>
                    </a:p>
                  </a:txBody>
                  <a:tcPr anchor="ctr">
                    <a:solidFill>
                      <a:srgbClr val="FFFFFF"/>
                    </a:solidFill>
                  </a:tcPr>
                </a:tc>
                <a:tc>
                  <a:txBody>
                    <a:bodyPr/>
                    <a:lstStyle/>
                    <a:p>
                      <a:r>
                        <a:rPr sz="1400" b="0">
                          <a:solidFill>
                            <a:srgbClr val="2B3139"/>
                          </a:solidFill>
                          <a:latin typeface="Geist"/>
                          <a:ea typeface="Geist"/>
                          <a:cs typeface="Geist"/>
                        </a:rPr>
                        <a:t>Free slots, LRU age, occupancy, churn</a:t>
                      </a:r>
                    </a:p>
                  </a:txBody>
                  <a:tcPr anchor="ctr">
                    <a:solidFill>
                      <a:srgbClr val="FFFFFF"/>
                    </a:solidFill>
                  </a:tcPr>
                </a:tc>
                <a:tc>
                  <a:txBody>
                    <a:bodyPr/>
                    <a:lstStyle/>
                    <a:p>
                      <a:r>
                        <a:rPr sz="1400" b="0">
                          <a:solidFill>
                            <a:srgbClr val="2B3139"/>
                          </a:solidFill>
                          <a:latin typeface="Geist"/>
                          <a:ea typeface="Geist"/>
                          <a:cs typeface="Geist"/>
                        </a:rPr>
                        <a:t>How long can a fetched expert stay useful?</a:t>
                      </a:r>
                    </a:p>
                  </a:txBody>
                  <a:tcPr anchor="ctr">
                    <a:solidFill>
                      <a:srgbClr val="FFFFFF"/>
                    </a:solidFill>
                  </a:tcPr>
                </a:tc>
                <a:extLst>
                  <a:ext uri="{0D108BD9-81ED-4DB2-BD59-A6C34878D82A}">
                    <a16:rowId xmlns:a16="http://schemas.microsoft.com/office/drawing/2014/main" val="10001"/>
                  </a:ext>
                </a:extLst>
              </a:tr>
              <a:tr h="579438">
                <a:tc>
                  <a:txBody>
                    <a:bodyPr/>
                    <a:lstStyle/>
                    <a:p>
                      <a:r>
                        <a:rPr sz="1400" b="0">
                          <a:solidFill>
                            <a:srgbClr val="2B3139"/>
                          </a:solidFill>
                          <a:latin typeface="Geist"/>
                          <a:ea typeface="Geist"/>
                          <a:cs typeface="Geist"/>
                        </a:rPr>
                        <a:t>Reuse (10 / 10)</a:t>
                      </a:r>
                    </a:p>
                  </a:txBody>
                  <a:tcPr anchor="ctr">
                    <a:solidFill>
                      <a:srgbClr val="FAF7F0"/>
                    </a:solidFill>
                  </a:tcPr>
                </a:tc>
                <a:tc>
                  <a:txBody>
                    <a:bodyPr/>
                    <a:lstStyle/>
                    <a:p>
                      <a:r>
                        <a:rPr sz="1400" b="0">
                          <a:solidFill>
                            <a:srgbClr val="2B3139"/>
                          </a:solidFill>
                          <a:latin typeface="Geist"/>
                          <a:ea typeface="Geist"/>
                          <a:cs typeface="Geist"/>
                        </a:rPr>
                        <a:t>Recent frequency, recency, routing entropy</a:t>
                      </a:r>
                    </a:p>
                  </a:txBody>
                  <a:tcPr anchor="ctr">
                    <a:solidFill>
                      <a:srgbClr val="FAF7F0"/>
                    </a:solidFill>
                  </a:tcPr>
                </a:tc>
                <a:tc>
                  <a:txBody>
                    <a:bodyPr/>
                    <a:lstStyle/>
                    <a:p>
                      <a:r>
                        <a:rPr sz="1400" b="0">
                          <a:solidFill>
                            <a:srgbClr val="2B3139"/>
                          </a:solidFill>
                          <a:latin typeface="Geist"/>
                          <a:ea typeface="Geist"/>
                          <a:cs typeface="Geist"/>
                        </a:rPr>
                        <a:t>How likely is this expert to be requested again?</a:t>
                      </a:r>
                    </a:p>
                  </a:txBody>
                  <a:tcPr anchor="ctr">
                    <a:solidFill>
                      <a:srgbClr val="FAF7F0"/>
                    </a:solidFill>
                  </a:tcPr>
                </a:tc>
                <a:extLst>
                  <a:ext uri="{0D108BD9-81ED-4DB2-BD59-A6C34878D82A}">
                    <a16:rowId xmlns:a16="http://schemas.microsoft.com/office/drawing/2014/main" val="10002"/>
                  </a:ext>
                </a:extLst>
              </a:tr>
              <a:tr h="579438">
                <a:tc>
                  <a:txBody>
                    <a:bodyPr/>
                    <a:lstStyle/>
                    <a:p>
                      <a:r>
                        <a:rPr sz="1400" b="0">
                          <a:solidFill>
                            <a:srgbClr val="2B3139"/>
                          </a:solidFill>
                          <a:latin typeface="Geist"/>
                          <a:ea typeface="Geist"/>
                          <a:cs typeface="Geist"/>
                        </a:rPr>
                        <a:t>Utilization (4 / 4)</a:t>
                      </a:r>
                    </a:p>
                  </a:txBody>
                  <a:tcPr anchor="ctr">
                    <a:solidFill>
                      <a:srgbClr val="FFFFFF"/>
                    </a:solidFill>
                  </a:tcPr>
                </a:tc>
                <a:tc>
                  <a:txBody>
                    <a:bodyPr/>
                    <a:lstStyle/>
                    <a:p>
                      <a:r>
                        <a:rPr sz="1400" b="0">
                          <a:solidFill>
                            <a:srgbClr val="2B3139"/>
                          </a:solidFill>
                          <a:latin typeface="Geist"/>
                          <a:ea typeface="Geist"/>
                          <a:cs typeface="Geist"/>
                        </a:rPr>
                        <a:t>Host CPU, GPU utilization, load average</a:t>
                      </a:r>
                    </a:p>
                  </a:txBody>
                  <a:tcPr anchor="ctr">
                    <a:solidFill>
                      <a:srgbClr val="FFFFFF"/>
                    </a:solidFill>
                  </a:tcPr>
                </a:tc>
                <a:tc>
                  <a:txBody>
                    <a:bodyPr/>
                    <a:lstStyle/>
                    <a:p>
                      <a:r>
                        <a:rPr sz="1400" b="0">
                          <a:solidFill>
                            <a:srgbClr val="2B3139"/>
                          </a:solidFill>
                          <a:latin typeface="Geist"/>
                          <a:ea typeface="Geist"/>
                          <a:cs typeface="Geist"/>
                        </a:rPr>
                        <a:t>Is other activity competing for resources?</a:t>
                      </a:r>
                    </a:p>
                  </a:txBody>
                  <a:tcPr anchor="ctr">
                    <a:solidFill>
                      <a:srgbClr val="FFFFFF"/>
                    </a:solidFill>
                  </a:tcPr>
                </a:tc>
                <a:extLst>
                  <a:ext uri="{0D108BD9-81ED-4DB2-BD59-A6C34878D82A}">
                    <a16:rowId xmlns:a16="http://schemas.microsoft.com/office/drawing/2014/main" val="10003"/>
                  </a:ext>
                </a:extLst>
              </a:tr>
              <a:tr h="579438">
                <a:tc>
                  <a:txBody>
                    <a:bodyPr/>
                    <a:lstStyle/>
                    <a:p>
                      <a:r>
                        <a:rPr sz="1400" b="0">
                          <a:solidFill>
                            <a:srgbClr val="2B3139"/>
                          </a:solidFill>
                          <a:latin typeface="Geist"/>
                          <a:ea typeface="Geist"/>
                          <a:cs typeface="Geist"/>
                        </a:rPr>
                        <a:t>Memory (3 / 2)</a:t>
                      </a:r>
                    </a:p>
                  </a:txBody>
                  <a:tcPr anchor="ctr">
                    <a:solidFill>
                      <a:srgbClr val="FAF7F0"/>
                    </a:solidFill>
                  </a:tcPr>
                </a:tc>
                <a:tc>
                  <a:txBody>
                    <a:bodyPr/>
                    <a:lstStyle/>
                    <a:p>
                      <a:r>
                        <a:rPr sz="1400" b="0">
                          <a:solidFill>
                            <a:srgbClr val="2B3139"/>
                          </a:solidFill>
                          <a:latin typeface="Geist"/>
                          <a:ea typeface="Geist"/>
                          <a:cs typeface="Geist"/>
                        </a:rPr>
                        <a:t>Free GPU memory, available host memory</a:t>
                      </a:r>
                    </a:p>
                  </a:txBody>
                  <a:tcPr anchor="ctr">
                    <a:solidFill>
                      <a:srgbClr val="FAF7F0"/>
                    </a:solidFill>
                  </a:tcPr>
                </a:tc>
                <a:tc>
                  <a:txBody>
                    <a:bodyPr/>
                    <a:lstStyle/>
                    <a:p>
                      <a:r>
                        <a:rPr sz="1400" b="0">
                          <a:solidFill>
                            <a:srgbClr val="2B3139"/>
                          </a:solidFill>
                          <a:latin typeface="Geist"/>
                          <a:ea typeface="Geist"/>
                          <a:cs typeface="Geist"/>
                        </a:rPr>
                        <a:t>Does the memory budget constrain execution?</a:t>
                      </a:r>
                    </a:p>
                  </a:txBody>
                  <a:tcPr anchor="ctr">
                    <a:solidFill>
                      <a:srgbClr val="FAF7F0"/>
                    </a:solidFill>
                  </a:tcPr>
                </a:tc>
                <a:extLst>
                  <a:ext uri="{0D108BD9-81ED-4DB2-BD59-A6C34878D82A}">
                    <a16:rowId xmlns:a16="http://schemas.microsoft.com/office/drawing/2014/main" val="10004"/>
                  </a:ext>
                </a:extLst>
              </a:tr>
              <a:tr h="579438">
                <a:tc>
                  <a:txBody>
                    <a:bodyPr/>
                    <a:lstStyle/>
                    <a:p>
                      <a:r>
                        <a:rPr sz="1400" b="0">
                          <a:solidFill>
                            <a:srgbClr val="2B3139"/>
                          </a:solidFill>
                          <a:latin typeface="Geist"/>
                          <a:ea typeface="Geist"/>
                          <a:cs typeface="Geist"/>
                        </a:rPr>
                        <a:t>History (35 / 22)</a:t>
                      </a:r>
                    </a:p>
                  </a:txBody>
                  <a:tcPr anchor="ctr">
                    <a:solidFill>
                      <a:srgbClr val="FFFFFF"/>
                    </a:solidFill>
                  </a:tcPr>
                </a:tc>
                <a:tc>
                  <a:txBody>
                    <a:bodyPr/>
                    <a:lstStyle/>
                    <a:p>
                      <a:r>
                        <a:rPr sz="1400" b="0">
                          <a:solidFill>
                            <a:srgbClr val="2B3139"/>
                          </a:solidFill>
                          <a:latin typeface="Geist"/>
                          <a:ea typeface="Geist"/>
                          <a:cs typeface="Geist"/>
                        </a:rPr>
                        <a:t>Rolling means over 1, 4, 8, 16, 32 visits</a:t>
                      </a:r>
                    </a:p>
                  </a:txBody>
                  <a:tcPr anchor="ctr">
                    <a:solidFill>
                      <a:srgbClr val="FFFFFF"/>
                    </a:solidFill>
                  </a:tcPr>
                </a:tc>
                <a:tc>
                  <a:txBody>
                    <a:bodyPr/>
                    <a:lstStyle/>
                    <a:p>
                      <a:r>
                        <a:rPr sz="1400" b="0">
                          <a:solidFill>
                            <a:srgbClr val="2B3139"/>
                          </a:solidFill>
                          <a:latin typeface="Geist"/>
                          <a:ea typeface="Geist"/>
                          <a:cs typeface="Geist"/>
                        </a:rPr>
                        <a:t>Do recent trends improve cost estimates?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20" name="These families retain 48 sig">
            <a:extLst>
              <a:ext uri="{FF2B5EF4-FFF2-40B4-BE49-F238E27FC236}">
                <a16:creationId xmlns:a16="http://schemas.microsoft.com/office/drawing/2014/main" id="{F793FAD3-3A19-4D35-BFEA-CAA4D4682C1C}"/>
              </a:ext>
            </a:extLst>
          </p:cNvPr>
          <p:cNvSpPr>
            <a:spLocks noGrp="1"/>
          </p:cNvSpPr>
          <p:nvPr/>
        </p:nvSpPr>
        <p:spPr>
          <a:xfrm>
            <a:off x="457200" y="5505450"/>
            <a:ext cx="11277600" cy="30480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These families retain 48 signals. Together with the previous slide: 63.</a:t>
            </a:r>
          </a:p>
        </p:txBody>
      </p:sp>
      <p:sp>
        <p:nvSpPr>
          <p:cNvPr id="21" name="Rectangle 20">
            <a:extLst>
              <a:ext uri="{FF2B5EF4-FFF2-40B4-BE49-F238E27FC236}">
                <a16:creationId xmlns:a16="http://schemas.microsoft.com/office/drawing/2014/main" id="{334F6B11-BFD7-4375-8852-DA66F96F7D02}"/>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2" name="Rectangle 21">
            <a:extLst>
              <a:ext uri="{FF2B5EF4-FFF2-40B4-BE49-F238E27FC236}">
                <a16:creationId xmlns:a16="http://schemas.microsoft.com/office/drawing/2014/main" id="{96BBB8BF-BB86-40A9-ABD9-206B6FD4F105}"/>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3" name="Unavailable">
            <a:extLst>
              <a:ext uri="{FF2B5EF4-FFF2-40B4-BE49-F238E27FC236}">
                <a16:creationId xmlns:a16="http://schemas.microsoft.com/office/drawing/2014/main" id="{E25356C4-EABC-4418-8E5E-FE8F9FBF8A99}"/>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Unavailable</a:t>
            </a:r>
          </a:p>
        </p:txBody>
      </p:sp>
      <p:sp>
        <p:nvSpPr>
          <p:cNvPr id="24" name="Direct PCIe utilization, mem">
            <a:extLst>
              <a:ext uri="{FF2B5EF4-FFF2-40B4-BE49-F238E27FC236}">
                <a16:creationId xmlns:a16="http://schemas.microsoft.com/office/drawing/2014/main" id="{218ED5BF-34F3-4CF6-AE65-5EE9C22854FC}"/>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Direct PCIe utilization, memory-bandwidth counters and CPU queue depth were unavailable.</a:t>
            </a:r>
          </a:p>
        </p:txBody>
      </p:sp>
    </p:spTree>
    <p:extLst>
      <p:ext uri="{BB962C8B-B14F-4D97-AF65-F5344CB8AC3E}">
        <p14:creationId xmlns:p14="http://schemas.microsoft.com/office/powerpoint/2010/main" val="800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EXPERIMENT · DATA COLLECTION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Record the context, action and measured outcome</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Before the decision">
            <a:extLst>
              <a:ext uri="{FF2B5EF4-FFF2-40B4-BE49-F238E27FC236}">
                <a16:creationId xmlns:a16="http://schemas.microsoft.com/office/drawing/2014/main" id="{5D700145-43BB-48D6-9F9A-68A856CEC873}"/>
              </a:ext>
            </a:extLst>
          </p:cNvPr>
          <p:cNvSpPr>
            <a:spLocks noGrp="1"/>
          </p:cNvSpPr>
          <p:nvPr/>
        </p:nvSpPr>
        <p:spPr>
          <a:xfrm>
            <a:off x="457200" y="175260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Before the decision</a:t>
            </a:r>
          </a:p>
        </p:txBody>
      </p:sp>
      <p:sp>
        <p:nvSpPr>
          <p:cNvPr id="20" name="Routing and cache lookup ide">
            <a:extLst>
              <a:ext uri="{FF2B5EF4-FFF2-40B4-BE49-F238E27FC236}">
                <a16:creationId xmlns:a16="http://schemas.microsoft.com/office/drawing/2014/main" id="{4CDE51B5-B896-477B-ADC7-0839CEC1426D}"/>
              </a:ext>
            </a:extLst>
          </p:cNvPr>
          <p:cNvSpPr>
            <a:spLocks noGrp="1"/>
          </p:cNvSpPr>
          <p:nvPr/>
        </p:nvSpPr>
        <p:spPr>
          <a:xfrm>
            <a:off x="457200" y="211455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Routing and cache lookup identify m. The hook records x, then the policy selects q ∈ {0, …, m}.</a:t>
            </a:r>
          </a:p>
        </p:txBody>
      </p:sp>
      <p:sp>
        <p:nvSpPr>
          <p:cNvPr id="21" name="After execution">
            <a:extLst>
              <a:ext uri="{FF2B5EF4-FFF2-40B4-BE49-F238E27FC236}">
                <a16:creationId xmlns:a16="http://schemas.microsoft.com/office/drawing/2014/main" id="{C4F2B93B-9592-4A79-9939-F48A0DA03F8B}"/>
              </a:ext>
            </a:extLst>
          </p:cNvPr>
          <p:cNvSpPr>
            <a:spLocks noGrp="1"/>
          </p:cNvSpPr>
          <p:nvPr/>
        </p:nvSpPr>
        <p:spPr>
          <a:xfrm>
            <a:off x="457200" y="27908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After execution</a:t>
            </a:r>
          </a:p>
        </p:txBody>
      </p:sp>
      <p:sp>
        <p:nvSpPr>
          <p:cNvPr id="22" name="CPU and GPU branches run con">
            <a:extLst>
              <a:ext uri="{FF2B5EF4-FFF2-40B4-BE49-F238E27FC236}">
                <a16:creationId xmlns:a16="http://schemas.microsoft.com/office/drawing/2014/main" id="{17DBE4C4-61B8-48A9-80B0-C95F185C7B22}"/>
              </a:ext>
            </a:extLst>
          </p:cNvPr>
          <p:cNvSpPr>
            <a:spLocks noGrp="1"/>
          </p:cNvSpPr>
          <p:nvPr/>
        </p:nvSpPr>
        <p:spPr>
          <a:xfrm>
            <a:off x="457200" y="31527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CPU and GPU branches run concurrently. CPU timers and CUDA events record layer, CPU, PCIe and GEMM costs.</a:t>
            </a:r>
          </a:p>
        </p:txBody>
      </p:sp>
      <p:graphicFrame>
        <p:nvGraphicFramePr>
          <p:cNvPr id="36" name="Table 35"/>
          <p:cNvGraphicFramePr/>
          <p:nvPr/>
        </p:nvGraphicFramePr>
        <p:xfrm>
          <a:off x="457200" y="3971925"/>
          <a:ext cx="11277600" cy="1619252"/>
        </p:xfrm>
        <a:graphic>
          <a:graphicData uri="http://schemas.openxmlformats.org/drawingml/2006/table">
            <a:tbl>
              <a:tblPr/>
              <a:tblGrid>
                <a:gridCol w="71437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404813">
                <a:tc>
                  <a:txBody>
                    <a:bodyPr/>
                    <a:lstStyle/>
                    <a:p>
                      <a:r>
                        <a:rPr sz="1425" b="1">
                          <a:solidFill>
                            <a:srgbClr val="FFFFFF"/>
                          </a:solidFill>
                          <a:latin typeface="Geist"/>
                          <a:ea typeface="Geist"/>
                          <a:cs typeface="Geist"/>
                        </a:rPr>
                        <a:t>Collection round</a:t>
                      </a:r>
                    </a:p>
                  </a:txBody>
                  <a:tcPr anchor="ctr">
                    <a:solidFill>
                      <a:srgbClr val="4A5B70"/>
                    </a:solidFill>
                  </a:tcPr>
                </a:tc>
                <a:tc>
                  <a:txBody>
                    <a:bodyPr/>
                    <a:lstStyle/>
                    <a:p>
                      <a:r>
                        <a:rPr sz="1425" b="1">
                          <a:solidFill>
                            <a:srgbClr val="FFFFFF"/>
                          </a:solidFill>
                          <a:latin typeface="Geist"/>
                          <a:ea typeface="Geist"/>
                          <a:cs typeface="Geist"/>
                        </a:rPr>
                        <a:t>Episodes</a:t>
                      </a:r>
                    </a:p>
                  </a:txBody>
                  <a:tcPr anchor="ctr">
                    <a:solidFill>
                      <a:srgbClr val="4A5B70"/>
                    </a:solidFill>
                  </a:tcPr>
                </a:tc>
                <a:tc>
                  <a:txBody>
                    <a:bodyPr/>
                    <a:lstStyle/>
                    <a:p>
                      <a:r>
                        <a:rPr sz="1425" b="1">
                          <a:solidFill>
                            <a:srgbClr val="FFFFFF"/>
                          </a:solidFill>
                          <a:latin typeface="Geist"/>
                          <a:ea typeface="Geist"/>
                          <a:cs typeface="Geist"/>
                        </a:rPr>
                        <a:t>Decision rows</a:t>
                      </a:r>
                    </a:p>
                  </a:txBody>
                  <a:tcPr anchor="ctr">
                    <a:solidFill>
                      <a:srgbClr val="4A5B70"/>
                    </a:solidFill>
                  </a:tcPr>
                </a:tc>
                <a:extLst>
                  <a:ext uri="{0D108BD9-81ED-4DB2-BD59-A6C34878D82A}">
                    <a16:rowId xmlns:a16="http://schemas.microsoft.com/office/drawing/2014/main" val="10000"/>
                  </a:ext>
                </a:extLst>
              </a:tr>
              <a:tr h="404813">
                <a:tc>
                  <a:txBody>
                    <a:bodyPr/>
                    <a:lstStyle/>
                    <a:p>
                      <a:r>
                        <a:rPr sz="1425" b="0">
                          <a:solidFill>
                            <a:srgbClr val="2B3139"/>
                          </a:solidFill>
                          <a:latin typeface="Geist"/>
                          <a:ea typeface="Geist"/>
                          <a:cs typeface="Geist"/>
                        </a:rPr>
                        <a:t>Exploration: random q and exploratory base policies</a:t>
                      </a:r>
                    </a:p>
                  </a:txBody>
                  <a:tcPr anchor="ctr">
                    <a:solidFill>
                      <a:srgbClr val="FFFFFF"/>
                    </a:solidFill>
                  </a:tcPr>
                </a:tc>
                <a:tc>
                  <a:txBody>
                    <a:bodyPr/>
                    <a:lstStyle/>
                    <a:p>
                      <a:r>
                        <a:rPr sz="1425" b="0">
                          <a:solidFill>
                            <a:srgbClr val="2B3139"/>
                          </a:solidFill>
                          <a:latin typeface="Geist"/>
                          <a:ea typeface="Geist"/>
                          <a:cs typeface="Geist"/>
                        </a:rPr>
                        <a:t>48</a:t>
                      </a:r>
                    </a:p>
                  </a:txBody>
                  <a:tcPr anchor="ctr">
                    <a:solidFill>
                      <a:srgbClr val="FFFFFF"/>
                    </a:solidFill>
                  </a:tcPr>
                </a:tc>
                <a:tc>
                  <a:txBody>
                    <a:bodyPr/>
                    <a:lstStyle/>
                    <a:p>
                      <a:r>
                        <a:rPr sz="1425" b="0">
                          <a:solidFill>
                            <a:srgbClr val="2B3139"/>
                          </a:solidFill>
                          <a:latin typeface="Geist"/>
                          <a:ea typeface="Geist"/>
                          <a:cs typeface="Geist"/>
                        </a:rPr>
                        <a:t>292,608</a:t>
                      </a:r>
                    </a:p>
                  </a:txBody>
                  <a:tcPr anchor="ctr">
                    <a:solidFill>
                      <a:srgbClr val="FFFFFF"/>
                    </a:solidFill>
                  </a:tcPr>
                </a:tc>
                <a:extLst>
                  <a:ext uri="{0D108BD9-81ED-4DB2-BD59-A6C34878D82A}">
                    <a16:rowId xmlns:a16="http://schemas.microsoft.com/office/drawing/2014/main" val="10001"/>
                  </a:ext>
                </a:extLst>
              </a:tr>
              <a:tr h="404813">
                <a:tc>
                  <a:txBody>
                    <a:bodyPr/>
                    <a:lstStyle/>
                    <a:p>
                      <a:r>
                        <a:rPr sz="1425" b="0">
                          <a:solidFill>
                            <a:srgbClr val="2B3139"/>
                          </a:solidFill>
                          <a:latin typeface="Geist"/>
                          <a:ea typeface="Geist"/>
                          <a:cs typeface="Geist"/>
                        </a:rPr>
                        <a:t>Round 2: rule and Ridge with ε-exploration</a:t>
                      </a:r>
                    </a:p>
                  </a:txBody>
                  <a:tcPr anchor="ctr">
                    <a:solidFill>
                      <a:srgbClr val="FAF7F0"/>
                    </a:solidFill>
                  </a:tcPr>
                </a:tc>
                <a:tc>
                  <a:txBody>
                    <a:bodyPr/>
                    <a:lstStyle/>
                    <a:p>
                      <a:r>
                        <a:rPr sz="1425" b="0">
                          <a:solidFill>
                            <a:srgbClr val="2B3139"/>
                          </a:solidFill>
                          <a:latin typeface="Geist"/>
                          <a:ea typeface="Geist"/>
                          <a:cs typeface="Geist"/>
                        </a:rPr>
                        <a:t>18</a:t>
                      </a:r>
                    </a:p>
                  </a:txBody>
                  <a:tcPr anchor="ctr">
                    <a:solidFill>
                      <a:srgbClr val="FAF7F0"/>
                    </a:solidFill>
                  </a:tcPr>
                </a:tc>
                <a:tc>
                  <a:txBody>
                    <a:bodyPr/>
                    <a:lstStyle/>
                    <a:p>
                      <a:r>
                        <a:rPr sz="1425" b="0">
                          <a:solidFill>
                            <a:srgbClr val="2B3139"/>
                          </a:solidFill>
                          <a:latin typeface="Geist"/>
                          <a:ea typeface="Geist"/>
                          <a:cs typeface="Geist"/>
                        </a:rPr>
                        <a:t>109,728</a:t>
                      </a:r>
                    </a:p>
                  </a:txBody>
                  <a:tcPr anchor="ctr">
                    <a:solidFill>
                      <a:srgbClr val="FAF7F0"/>
                    </a:solidFill>
                  </a:tcPr>
                </a:tc>
                <a:extLst>
                  <a:ext uri="{0D108BD9-81ED-4DB2-BD59-A6C34878D82A}">
                    <a16:rowId xmlns:a16="http://schemas.microsoft.com/office/drawing/2014/main" val="10002"/>
                  </a:ext>
                </a:extLst>
              </a:tr>
              <a:tr h="404813">
                <a:tc>
                  <a:txBody>
                    <a:bodyPr/>
                    <a:lstStyle/>
                    <a:p>
                      <a:r>
                        <a:rPr sz="1425" b="0">
                          <a:solidFill>
                            <a:srgbClr val="2B3139"/>
                          </a:solidFill>
                          <a:latin typeface="Geist"/>
                          <a:ea typeface="Geist"/>
                          <a:cs typeface="Geist"/>
                        </a:rPr>
                        <a:t>Total logged</a:t>
                      </a:r>
                    </a:p>
                  </a:txBody>
                  <a:tcPr anchor="ctr">
                    <a:solidFill>
                      <a:srgbClr val="FFFFFF"/>
                    </a:solidFill>
                  </a:tcPr>
                </a:tc>
                <a:tc>
                  <a:txBody>
                    <a:bodyPr/>
                    <a:lstStyle/>
                    <a:p>
                      <a:r>
                        <a:rPr sz="1425" b="0">
                          <a:solidFill>
                            <a:srgbClr val="2B3139"/>
                          </a:solidFill>
                          <a:latin typeface="Geist"/>
                          <a:ea typeface="Geist"/>
                          <a:cs typeface="Geist"/>
                        </a:rPr>
                        <a:t>66</a:t>
                      </a:r>
                    </a:p>
                  </a:txBody>
                  <a:tcPr anchor="ctr">
                    <a:solidFill>
                      <a:srgbClr val="FFFFFF"/>
                    </a:solidFill>
                  </a:tcPr>
                </a:tc>
                <a:tc>
                  <a:txBody>
                    <a:bodyPr/>
                    <a:lstStyle/>
                    <a:p>
                      <a:r>
                        <a:rPr sz="1425" b="0">
                          <a:solidFill>
                            <a:srgbClr val="2B3139"/>
                          </a:solidFill>
                          <a:latin typeface="Geist"/>
                          <a:ea typeface="Geist"/>
                          <a:cs typeface="Geist"/>
                        </a:rPr>
                        <a:t>402,336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4" name="Rectangle 23">
            <a:extLst>
              <a:ext uri="{FF2B5EF4-FFF2-40B4-BE49-F238E27FC236}">
                <a16:creationId xmlns:a16="http://schemas.microsoft.com/office/drawing/2014/main" id="{E42B22FD-881F-4A94-8852-9844815422EE}"/>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3B2A313C-599B-4969-9772-E32A391818A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Training data">
            <a:extLst>
              <a:ext uri="{FF2B5EF4-FFF2-40B4-BE49-F238E27FC236}">
                <a16:creationId xmlns:a16="http://schemas.microsoft.com/office/drawing/2014/main" id="{B5C8A8B2-64F2-4913-AFD6-16E7F994ECB6}"/>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Training data</a:t>
            </a:r>
          </a:p>
        </p:txBody>
      </p:sp>
      <p:sp>
        <p:nvSpPr>
          <p:cNvPr id="27" name="Fit cost models only on the ">
            <a:extLst>
              <a:ext uri="{FF2B5EF4-FFF2-40B4-BE49-F238E27FC236}">
                <a16:creationId xmlns:a16="http://schemas.microsoft.com/office/drawing/2014/main" id="{7912F5ED-8635-46F7-89D6-9D520F5114ED}"/>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Fit cost models only on the 310,896 rows with randomized actions.</a:t>
            </a:r>
          </a:p>
        </p:txBody>
      </p:sp>
    </p:spTree>
    <p:extLst>
      <p:ext uri="{BB962C8B-B14F-4D97-AF65-F5344CB8AC3E}">
        <p14:creationId xmlns:p14="http://schemas.microsoft.com/office/powerpoint/2010/main" val="800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EXPERIMENT · LABELS AND SPLITS</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The cost target must include later cache effects</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y = current layer time + tim">
            <a:extLst>
              <a:ext uri="{FF2B5EF4-FFF2-40B4-BE49-F238E27FC236}">
                <a16:creationId xmlns:a16="http://schemas.microsoft.com/office/drawing/2014/main" id="{3526B896-7665-4A31-90E1-0A4369757C38}"/>
              </a:ext>
            </a:extLst>
          </p:cNvPr>
          <p:cNvSpPr>
            <a:spLocks noGrp="1"/>
          </p:cNvSpPr>
          <p:nvPr/>
        </p:nvSpPr>
        <p:spPr>
          <a:xfrm>
            <a:off x="457200" y="1771650"/>
            <a:ext cx="11277600" cy="600075"/>
          </a:xfrm>
          <a:prstGeom prst="rect">
            <a:avLst/>
          </a:prstGeom>
          <a:noFill/>
          <a:ln w="0">
            <a:noFill/>
          </a:ln>
        </p:spPr>
        <p:txBody>
          <a:bodyPr wrap="square" lIns="0" tIns="0" rIns="0" bIns="0" anchor="t">
            <a:noAutofit/>
          </a:bodyPr>
          <a:lstStyle/>
          <a:p>
            <a:pPr algn="l">
              <a:defRPr sz="2325" b="0">
                <a:solidFill>
                  <a:srgbClr val="1B2638"/>
                </a:solidFill>
                <a:latin typeface="Newsreader Medium"/>
                <a:ea typeface="Newsreader Medium"/>
                <a:cs typeface="Newsreader Medium"/>
              </a:defRPr>
            </a:pPr>
            <a:r>
              <a:rPr sz="2325" b="0">
                <a:solidFill>
                  <a:srgbClr val="1B2638"/>
                </a:solidFill>
                <a:latin typeface="Newsreader Medium"/>
                <a:ea typeface="Newsreader Medium"/>
                <a:cs typeface="Newsreader Medium"/>
              </a:rPr>
              <a:t>y = current layer time + time on its next H visits</a:t>
            </a:r>
          </a:p>
        </p:txBody>
      </p:sp>
      <p:sp>
        <p:nvSpPr>
          <p:cNvPr id="20" name="H = 0 measures the immediate">
            <a:extLst>
              <a:ext uri="{FF2B5EF4-FFF2-40B4-BE49-F238E27FC236}">
                <a16:creationId xmlns:a16="http://schemas.microsoft.com/office/drawing/2014/main" id="{79AD8FCB-9488-4F05-A4D6-D5EEA65BEC56}"/>
              </a:ext>
            </a:extLst>
          </p:cNvPr>
          <p:cNvSpPr>
            <a:spLocks noGrp="1"/>
          </p:cNvSpPr>
          <p:nvPr/>
        </p:nvSpPr>
        <p:spPr>
          <a:xfrm>
            <a:off x="457200" y="27527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H = 0 measures the immediate decision</a:t>
            </a:r>
          </a:p>
        </p:txBody>
      </p:sp>
      <p:sp>
        <p:nvSpPr>
          <p:cNvPr id="21" name="A fetch is expensive now. On">
            <a:extLst>
              <a:ext uri="{FF2B5EF4-FFF2-40B4-BE49-F238E27FC236}">
                <a16:creationId xmlns:a16="http://schemas.microsoft.com/office/drawing/2014/main" id="{1EB87902-1163-45AA-8EA4-64C904B7B3B5}"/>
              </a:ext>
            </a:extLst>
          </p:cNvPr>
          <p:cNvSpPr>
            <a:spLocks noGrp="1"/>
          </p:cNvSpPr>
          <p:nvPr/>
        </p:nvSpPr>
        <p:spPr>
          <a:xfrm>
            <a:off x="457200" y="31146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A fetch is expensive now. On this host, the measured single-step optimum is q = 0 for every m = 1, …, 4.</a:t>
            </a:r>
          </a:p>
        </p:txBody>
      </p:sp>
      <p:sp>
        <p:nvSpPr>
          <p:cNvPr id="22" name="H ∈ {1, 4, 8, 16, 32} can ca">
            <a:extLst>
              <a:ext uri="{FF2B5EF4-FFF2-40B4-BE49-F238E27FC236}">
                <a16:creationId xmlns:a16="http://schemas.microsoft.com/office/drawing/2014/main" id="{62B44B80-6AAF-44F3-B612-6A09F83A11E3}"/>
              </a:ext>
            </a:extLst>
          </p:cNvPr>
          <p:cNvSpPr>
            <a:spLocks noGrp="1"/>
          </p:cNvSpPr>
          <p:nvPr/>
        </p:nvSpPr>
        <p:spPr>
          <a:xfrm>
            <a:off x="457200" y="37909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H ∈ {1, 4, 8, 16, 32} can capture future effects</a:t>
            </a:r>
          </a:p>
        </p:txBody>
      </p:sp>
      <p:sp>
        <p:nvSpPr>
          <p:cNvPr id="23" name="Later cache hits can repay a">
            <a:extLst>
              <a:ext uri="{FF2B5EF4-FFF2-40B4-BE49-F238E27FC236}">
                <a16:creationId xmlns:a16="http://schemas.microsoft.com/office/drawing/2014/main" id="{52B28F17-7FE2-45D8-ACC9-C798393479D9}"/>
              </a:ext>
            </a:extLst>
          </p:cNvPr>
          <p:cNvSpPr>
            <a:spLocks noGrp="1"/>
          </p:cNvSpPr>
          <p:nvPr/>
        </p:nvSpPr>
        <p:spPr>
          <a:xfrm>
            <a:off x="457200" y="41529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Later cache hits can repay an earlier transfer. Future observations form offline labels only.</a:t>
            </a:r>
          </a:p>
        </p:txBody>
      </p:sp>
      <p:sp>
        <p:nvSpPr>
          <p:cNvPr id="24" name="Held-out evaluation">
            <a:extLst>
              <a:ext uri="{FF2B5EF4-FFF2-40B4-BE49-F238E27FC236}">
                <a16:creationId xmlns:a16="http://schemas.microsoft.com/office/drawing/2014/main" id="{9C0B2D2D-4105-430F-BC93-49C8E494B02C}"/>
              </a:ext>
            </a:extLst>
          </p:cNvPr>
          <p:cNvSpPr>
            <a:spLocks noGrp="1"/>
          </p:cNvSpPr>
          <p:nvPr/>
        </p:nvSpPr>
        <p:spPr>
          <a:xfrm>
            <a:off x="457200" y="482917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Held-out evaluation</a:t>
            </a:r>
          </a:p>
        </p:txBody>
      </p:sp>
      <p:sp>
        <p:nvSpPr>
          <p:cNvPr id="25" name="Use episode splits with held">
            <a:extLst>
              <a:ext uri="{FF2B5EF4-FFF2-40B4-BE49-F238E27FC236}">
                <a16:creationId xmlns:a16="http://schemas.microsoft.com/office/drawing/2014/main" id="{B532FFA7-4ED2-456E-BF91-D4656A2E2C05}"/>
              </a:ext>
            </a:extLst>
          </p:cNvPr>
          <p:cNvSpPr>
            <a:spLocks noGrp="1"/>
          </p:cNvSpPr>
          <p:nvPr/>
        </p:nvSpPr>
        <p:spPr>
          <a:xfrm>
            <a:off x="457200" y="519112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Use episode splits with held-out exploration policies, plus warmup-train / measured-test time splits. Labels stay inside each phase.</a:t>
            </a:r>
          </a:p>
        </p:txBody>
      </p:sp>
      <p:sp>
        <p:nvSpPr>
          <p:cNvPr id="26" name="Rectangle 25">
            <a:extLst>
              <a:ext uri="{FF2B5EF4-FFF2-40B4-BE49-F238E27FC236}">
                <a16:creationId xmlns:a16="http://schemas.microsoft.com/office/drawing/2014/main" id="{C87CEE44-0261-4CE3-9282-FB2C4D4C18F1}"/>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7" name="Rectangle 26">
            <a:extLst>
              <a:ext uri="{FF2B5EF4-FFF2-40B4-BE49-F238E27FC236}">
                <a16:creationId xmlns:a16="http://schemas.microsoft.com/office/drawing/2014/main" id="{474E7E7C-7323-4788-95AC-4FF4EE5CDA9A}"/>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8" name="Selection test">
            <a:extLst>
              <a:ext uri="{FF2B5EF4-FFF2-40B4-BE49-F238E27FC236}">
                <a16:creationId xmlns:a16="http://schemas.microsoft.com/office/drawing/2014/main" id="{FD3BCD35-2019-4FC8-ADEF-42DE48C991C7}"/>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Selection test</a:t>
            </a:r>
          </a:p>
        </p:txBody>
      </p:sp>
      <p:sp>
        <p:nvSpPr>
          <p:cNvPr id="29" name="Run the resulting policy thr">
            <a:extLst>
              <a:ext uri="{FF2B5EF4-FFF2-40B4-BE49-F238E27FC236}">
                <a16:creationId xmlns:a16="http://schemas.microsoft.com/office/drawing/2014/main" id="{444CF73A-52F2-4FE1-9CE4-A1FA2923565B}"/>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Run the resulting policy through full decode. Low offline error alone is insufficient.</a:t>
            </a:r>
          </a:p>
        </p:txBody>
      </p:sp>
    </p:spTree>
    <p:extLst>
      <p:ext uri="{BB962C8B-B14F-4D97-AF65-F5344CB8AC3E}">
        <p14:creationId xmlns:p14="http://schemas.microsoft.com/office/powerpoint/2010/main" val="800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LEARNED POLICIES · TRAINING</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Linear, Ridge and ANN cost models</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Action-aware inputs:  φ(x,q)">
            <a:extLst>
              <a:ext uri="{FF2B5EF4-FFF2-40B4-BE49-F238E27FC236}">
                <a16:creationId xmlns:a16="http://schemas.microsoft.com/office/drawing/2014/main" id="{0810FA37-2B73-4FBA-88A4-4EB6BE89F941}"/>
              </a:ext>
            </a:extLst>
          </p:cNvPr>
          <p:cNvSpPr>
            <a:spLocks noGrp="1"/>
          </p:cNvSpPr>
          <p:nvPr/>
        </p:nvSpPr>
        <p:spPr>
          <a:xfrm>
            <a:off x="457200" y="1752600"/>
            <a:ext cx="11277600" cy="409575"/>
          </a:xfrm>
          <a:prstGeom prst="rect">
            <a:avLst/>
          </a:prstGeom>
          <a:noFill/>
          <a:ln w="0">
            <a:noFill/>
          </a:ln>
        </p:spPr>
        <p:txBody>
          <a:bodyPr wrap="square" lIns="0" tIns="0" rIns="0" bIns="0" anchor="t">
            <a:noAutofit/>
          </a:bodyPr>
          <a:lstStyle/>
          <a:p>
            <a:pPr algn="l">
              <a:defRPr sz="2025" b="0">
                <a:solidFill>
                  <a:srgbClr val="1B2638"/>
                </a:solidFill>
                <a:latin typeface="Geist"/>
                <a:ea typeface="Geist"/>
                <a:cs typeface="Geist"/>
              </a:defRPr>
            </a:pPr>
            <a:r>
              <a:rPr sz="2025" b="0">
                <a:solidFill>
                  <a:srgbClr val="1B2638"/>
                </a:solidFill>
                <a:latin typeface="Geist"/>
                <a:ea typeface="Geist"/>
                <a:cs typeface="Geist"/>
              </a:rPr>
              <a:t>Action-aware inputs:  φ(x,q) = [x, q, q², q/m, q × x]</a:t>
            </a:r>
          </a:p>
        </p:txBody>
      </p:sp>
      <p:graphicFrame>
        <p:nvGraphicFramePr>
          <p:cNvPr id="32" name="Table 31"/>
          <p:cNvGraphicFramePr/>
          <p:nvPr/>
        </p:nvGraphicFramePr>
        <p:xfrm>
          <a:off x="457200" y="2419350"/>
          <a:ext cx="11277600" cy="1971676"/>
        </p:xfrm>
        <a:graphic>
          <a:graphicData uri="http://schemas.openxmlformats.org/drawingml/2006/table">
            <a:tbl>
              <a:tblPr/>
              <a:tblGrid>
                <a:gridCol w="1809750">
                  <a:extLst>
                    <a:ext uri="{9D8B030D-6E8A-4147-A177-3AD203B41FA5}">
                      <a16:colId xmlns:a16="http://schemas.microsoft.com/office/drawing/2014/main" val="20000"/>
                    </a:ext>
                  </a:extLst>
                </a:gridCol>
                <a:gridCol w="6019800">
                  <a:extLst>
                    <a:ext uri="{9D8B030D-6E8A-4147-A177-3AD203B41FA5}">
                      <a16:colId xmlns:a16="http://schemas.microsoft.com/office/drawing/2014/main" val="20001"/>
                    </a:ext>
                  </a:extLst>
                </a:gridCol>
                <a:gridCol w="3448050">
                  <a:extLst>
                    <a:ext uri="{9D8B030D-6E8A-4147-A177-3AD203B41FA5}">
                      <a16:colId xmlns:a16="http://schemas.microsoft.com/office/drawing/2014/main" val="20002"/>
                    </a:ext>
                  </a:extLst>
                </a:gridCol>
              </a:tblGrid>
              <a:tr h="492919">
                <a:tc>
                  <a:txBody>
                    <a:bodyPr/>
                    <a:lstStyle/>
                    <a:p>
                      <a:r>
                        <a:rPr sz="1500" b="1">
                          <a:solidFill>
                            <a:srgbClr val="FFFFFF"/>
                          </a:solidFill>
                          <a:latin typeface="Geist"/>
                          <a:ea typeface="Geist"/>
                          <a:cs typeface="Geist"/>
                        </a:rPr>
                        <a:t>Model</a:t>
                      </a:r>
                    </a:p>
                  </a:txBody>
                  <a:tcPr anchor="ctr">
                    <a:solidFill>
                      <a:srgbClr val="4A5B70"/>
                    </a:solidFill>
                  </a:tcPr>
                </a:tc>
                <a:tc>
                  <a:txBody>
                    <a:bodyPr/>
                    <a:lstStyle/>
                    <a:p>
                      <a:r>
                        <a:rPr sz="1500" b="1">
                          <a:solidFill>
                            <a:srgbClr val="FFFFFF"/>
                          </a:solidFill>
                          <a:latin typeface="Geist"/>
                          <a:ea typeface="Geist"/>
                          <a:cs typeface="Geist"/>
                        </a:rPr>
                        <a:t>How training fits the cost</a:t>
                      </a:r>
                    </a:p>
                  </a:txBody>
                  <a:tcPr anchor="ctr">
                    <a:solidFill>
                      <a:srgbClr val="4A5B70"/>
                    </a:solidFill>
                  </a:tcPr>
                </a:tc>
                <a:tc>
                  <a:txBody>
                    <a:bodyPr/>
                    <a:lstStyle/>
                    <a:p>
                      <a:r>
                        <a:rPr sz="1500" b="1">
                          <a:solidFill>
                            <a:srgbClr val="FFFFFF"/>
                          </a:solidFill>
                          <a:latin typeface="Geist"/>
                          <a:ea typeface="Geist"/>
                          <a:cs typeface="Geist"/>
                        </a:rPr>
                        <a:t>Evaluated configuration</a:t>
                      </a:r>
                    </a:p>
                  </a:txBody>
                  <a:tcPr anchor="ctr">
                    <a:solidFill>
                      <a:srgbClr val="4A5B70"/>
                    </a:solidFill>
                  </a:tcPr>
                </a:tc>
                <a:extLst>
                  <a:ext uri="{0D108BD9-81ED-4DB2-BD59-A6C34878D82A}">
                    <a16:rowId xmlns:a16="http://schemas.microsoft.com/office/drawing/2014/main" val="10000"/>
                  </a:ext>
                </a:extLst>
              </a:tr>
              <a:tr h="492919">
                <a:tc>
                  <a:txBody>
                    <a:bodyPr/>
                    <a:lstStyle/>
                    <a:p>
                      <a:r>
                        <a:rPr sz="1500" b="0">
                          <a:solidFill>
                            <a:srgbClr val="2B3139"/>
                          </a:solidFill>
                          <a:latin typeface="Geist"/>
                          <a:ea typeface="Geist"/>
                          <a:cs typeface="Geist"/>
                        </a:rPr>
                        <a:t>Linear</a:t>
                      </a:r>
                    </a:p>
                  </a:txBody>
                  <a:tcPr anchor="ctr">
                    <a:solidFill>
                      <a:srgbClr val="FFFFFF"/>
                    </a:solidFill>
                  </a:tcPr>
                </a:tc>
                <a:tc>
                  <a:txBody>
                    <a:bodyPr/>
                    <a:lstStyle/>
                    <a:p>
                      <a:r>
                        <a:rPr sz="1500" b="0">
                          <a:solidFill>
                            <a:srgbClr val="2B3139"/>
                          </a:solidFill>
                          <a:latin typeface="Geist"/>
                          <a:ea typeface="Geist"/>
                          <a:cs typeface="Geist"/>
                        </a:rPr>
                        <a:t>Least squares: minimize squared prediction error</a:t>
                      </a:r>
                    </a:p>
                  </a:txBody>
                  <a:tcPr anchor="ctr">
                    <a:solidFill>
                      <a:srgbClr val="FFFFFF"/>
                    </a:solidFill>
                  </a:tcPr>
                </a:tc>
                <a:tc>
                  <a:txBody>
                    <a:bodyPr/>
                    <a:lstStyle/>
                    <a:p>
                      <a:r>
                        <a:rPr sz="1500" b="0">
                          <a:solidFill>
                            <a:srgbClr val="2B3139"/>
                          </a:solidFill>
                          <a:latin typeface="Geist"/>
                          <a:ea typeface="Geist"/>
                          <a:cs typeface="Geist"/>
                        </a:rPr>
                        <a:t>63 context features, H = 16</a:t>
                      </a:r>
                    </a:p>
                  </a:txBody>
                  <a:tcPr anchor="ctr">
                    <a:solidFill>
                      <a:srgbClr val="FFFFFF"/>
                    </a:solidFill>
                  </a:tcPr>
                </a:tc>
                <a:extLst>
                  <a:ext uri="{0D108BD9-81ED-4DB2-BD59-A6C34878D82A}">
                    <a16:rowId xmlns:a16="http://schemas.microsoft.com/office/drawing/2014/main" val="10001"/>
                  </a:ext>
                </a:extLst>
              </a:tr>
              <a:tr h="492919">
                <a:tc>
                  <a:txBody>
                    <a:bodyPr/>
                    <a:lstStyle/>
                    <a:p>
                      <a:r>
                        <a:rPr sz="1500" b="0">
                          <a:solidFill>
                            <a:srgbClr val="2B3139"/>
                          </a:solidFill>
                          <a:latin typeface="Geist"/>
                          <a:ea typeface="Geist"/>
                          <a:cs typeface="Geist"/>
                        </a:rPr>
                        <a:t>Ridge</a:t>
                      </a:r>
                    </a:p>
                  </a:txBody>
                  <a:tcPr anchor="ctr">
                    <a:solidFill>
                      <a:srgbClr val="FAF7F0"/>
                    </a:solidFill>
                  </a:tcPr>
                </a:tc>
                <a:tc>
                  <a:txBody>
                    <a:bodyPr/>
                    <a:lstStyle/>
                    <a:p>
                      <a:r>
                        <a:rPr sz="1500" b="0">
                          <a:solidFill>
                            <a:srgbClr val="2B3139"/>
                          </a:solidFill>
                          <a:latin typeface="Geist"/>
                          <a:ea typeface="Geist"/>
                          <a:cs typeface="Geist"/>
                        </a:rPr>
                        <a:t>Same linear design + L2 weight penalty</a:t>
                      </a:r>
                    </a:p>
                  </a:txBody>
                  <a:tcPr anchor="ctr">
                    <a:solidFill>
                      <a:srgbClr val="FAF7F0"/>
                    </a:solidFill>
                  </a:tcPr>
                </a:tc>
                <a:tc>
                  <a:txBody>
                    <a:bodyPr/>
                    <a:lstStyle/>
                    <a:p>
                      <a:r>
                        <a:rPr sz="1500" b="0">
                          <a:solidFill>
                            <a:srgbClr val="2B3139"/>
                          </a:solidFill>
                          <a:latin typeface="Geist"/>
                          <a:ea typeface="Geist"/>
                          <a:cs typeface="Geist"/>
                        </a:rPr>
                        <a:t>63 context features, H = 8</a:t>
                      </a:r>
                    </a:p>
                  </a:txBody>
                  <a:tcPr anchor="ctr">
                    <a:solidFill>
                      <a:srgbClr val="FAF7F0"/>
                    </a:solidFill>
                  </a:tcPr>
                </a:tc>
                <a:extLst>
                  <a:ext uri="{0D108BD9-81ED-4DB2-BD59-A6C34878D82A}">
                    <a16:rowId xmlns:a16="http://schemas.microsoft.com/office/drawing/2014/main" val="10002"/>
                  </a:ext>
                </a:extLst>
              </a:tr>
              <a:tr h="492919">
                <a:tc>
                  <a:txBody>
                    <a:bodyPr/>
                    <a:lstStyle/>
                    <a:p>
                      <a:r>
                        <a:rPr sz="1500" b="0">
                          <a:solidFill>
                            <a:srgbClr val="2B3139"/>
                          </a:solidFill>
                          <a:latin typeface="Geist"/>
                          <a:ea typeface="Geist"/>
                          <a:cs typeface="Geist"/>
                        </a:rPr>
                        <a:t>ANN</a:t>
                      </a:r>
                    </a:p>
                  </a:txBody>
                  <a:tcPr anchor="ctr">
                    <a:solidFill>
                      <a:srgbClr val="FFFFFF"/>
                    </a:solidFill>
                  </a:tcPr>
                </a:tc>
                <a:tc>
                  <a:txBody>
                    <a:bodyPr/>
                    <a:lstStyle/>
                    <a:p>
                      <a:r>
                        <a:rPr sz="1500" b="0">
                          <a:solidFill>
                            <a:srgbClr val="2B3139"/>
                          </a:solidFill>
                          <a:latin typeface="Geist"/>
                          <a:ea typeface="Geist"/>
                          <a:cs typeface="Geist"/>
                        </a:rPr>
                        <a:t>Backpropagation fits a nonlinear cost function</a:t>
                      </a:r>
                    </a:p>
                  </a:txBody>
                  <a:tcPr anchor="ctr">
                    <a:solidFill>
                      <a:srgbClr val="FFFFFF"/>
                    </a:solidFill>
                  </a:tcPr>
                </a:tc>
                <a:tc>
                  <a:txBody>
                    <a:bodyPr/>
                    <a:lstStyle/>
                    <a:p>
                      <a:r>
                        <a:rPr sz="1500" b="0">
                          <a:solidFill>
                            <a:srgbClr val="2B3139"/>
                          </a:solidFill>
                          <a:latin typeface="Geist"/>
                          <a:ea typeface="Geist"/>
                          <a:cs typeface="Geist"/>
                        </a:rPr>
                        <a:t>2 × 64 hidden units, GELU, H = 16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1" name="Training sequence">
            <a:extLst>
              <a:ext uri="{FF2B5EF4-FFF2-40B4-BE49-F238E27FC236}">
                <a16:creationId xmlns:a16="http://schemas.microsoft.com/office/drawing/2014/main" id="{2179FC69-C94B-4893-B5BF-F3E342F45C65}"/>
              </a:ext>
            </a:extLst>
          </p:cNvPr>
          <p:cNvSpPr>
            <a:spLocks noGrp="1"/>
          </p:cNvSpPr>
          <p:nvPr/>
        </p:nvSpPr>
        <p:spPr>
          <a:xfrm>
            <a:off x="457200" y="47815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Training sequence</a:t>
            </a:r>
          </a:p>
        </p:txBody>
      </p:sp>
      <p:sp>
        <p:nvSpPr>
          <p:cNvPr id="22" name="Fit the exploration round, c">
            <a:extLst>
              <a:ext uri="{FF2B5EF4-FFF2-40B4-BE49-F238E27FC236}">
                <a16:creationId xmlns:a16="http://schemas.microsoft.com/office/drawing/2014/main" id="{C6CA5520-23DC-40FF-97DF-CCB44BEA2DCB}"/>
              </a:ext>
            </a:extLst>
          </p:cNvPr>
          <p:cNvSpPr>
            <a:spLocks noGrp="1"/>
          </p:cNvSpPr>
          <p:nvPr/>
        </p:nvSpPr>
        <p:spPr>
          <a:xfrm>
            <a:off x="457200" y="51435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Fit the exploration round, collect another exploratory round under the rule and Ridge, then retrain and evaluate the resulting policies.</a:t>
            </a:r>
          </a:p>
        </p:txBody>
      </p:sp>
      <p:sp>
        <p:nvSpPr>
          <p:cNvPr id="23" name="Rectangle 22">
            <a:extLst>
              <a:ext uri="{FF2B5EF4-FFF2-40B4-BE49-F238E27FC236}">
                <a16:creationId xmlns:a16="http://schemas.microsoft.com/office/drawing/2014/main" id="{AC82F796-4A90-488E-A6A5-D546DD14A2FA}"/>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1EEC18F6-A7FB-4B6E-B563-A14EC4879FB8}"/>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5" name="Why q × x?">
            <a:extLst>
              <a:ext uri="{FF2B5EF4-FFF2-40B4-BE49-F238E27FC236}">
                <a16:creationId xmlns:a16="http://schemas.microsoft.com/office/drawing/2014/main" id="{F86C1F30-590D-466A-AD9D-E996F42A9A4F}"/>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Why q × x?</a:t>
            </a:r>
          </a:p>
        </p:txBody>
      </p:sp>
      <p:sp>
        <p:nvSpPr>
          <p:cNvPr id="26" name="Interactions let the relativ">
            <a:extLst>
              <a:ext uri="{FF2B5EF4-FFF2-40B4-BE49-F238E27FC236}">
                <a16:creationId xmlns:a16="http://schemas.microsoft.com/office/drawing/2014/main" id="{713680A6-9A5A-4D22-8429-7FC5E92D532F}"/>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Interactions let the relative cost of q change with the observed runtime context.</a:t>
            </a:r>
          </a:p>
        </p:txBody>
      </p:sp>
    </p:spTree>
    <p:extLst>
      <p:ext uri="{BB962C8B-B14F-4D97-AF65-F5344CB8AC3E}">
        <p14:creationId xmlns:p14="http://schemas.microsoft.com/office/powerpoint/2010/main" val="800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LEARNED POLICIES · INFERENCE</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How the trained model selects q at runtime</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1. Read one context x">
            <a:extLst>
              <a:ext uri="{FF2B5EF4-FFF2-40B4-BE49-F238E27FC236}">
                <a16:creationId xmlns:a16="http://schemas.microsoft.com/office/drawing/2014/main" id="{B448AE55-93A6-46DB-8563-699FB09AFB47}"/>
              </a:ext>
            </a:extLst>
          </p:cNvPr>
          <p:cNvSpPr>
            <a:spLocks noGrp="1"/>
          </p:cNvSpPr>
          <p:nvPr/>
        </p:nvSpPr>
        <p:spPr>
          <a:xfrm>
            <a:off x="457200" y="17621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1. Read one context x</a:t>
            </a:r>
          </a:p>
        </p:txBody>
      </p:sp>
      <p:sp>
        <p:nvSpPr>
          <p:cNvPr id="20" name="Routing and the current cach">
            <a:extLst>
              <a:ext uri="{FF2B5EF4-FFF2-40B4-BE49-F238E27FC236}">
                <a16:creationId xmlns:a16="http://schemas.microsoft.com/office/drawing/2014/main" id="{3076A2BA-4C46-48D3-A03E-8D9B9AC3248A}"/>
              </a:ext>
            </a:extLst>
          </p:cNvPr>
          <p:cNvSpPr>
            <a:spLocks noGrp="1"/>
          </p:cNvSpPr>
          <p:nvPr/>
        </p:nvSpPr>
        <p:spPr>
          <a:xfrm>
            <a:off x="457200" y="21240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Routing and the current cache give m. Reuse the same pre-action context for every candidate.</a:t>
            </a:r>
          </a:p>
        </p:txBody>
      </p:sp>
      <p:sp>
        <p:nvSpPr>
          <p:cNvPr id="21" name="2. Score every legal action">
            <a:extLst>
              <a:ext uri="{FF2B5EF4-FFF2-40B4-BE49-F238E27FC236}">
                <a16:creationId xmlns:a16="http://schemas.microsoft.com/office/drawing/2014/main" id="{388A92A0-D973-4F2F-9102-4CEF4DE89C8C}"/>
              </a:ext>
            </a:extLst>
          </p:cNvPr>
          <p:cNvSpPr>
            <a:spLocks noGrp="1"/>
          </p:cNvSpPr>
          <p:nvPr/>
        </p:nvSpPr>
        <p:spPr>
          <a:xfrm>
            <a:off x="457200" y="28670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2. Score every legal action</a:t>
            </a:r>
          </a:p>
        </p:txBody>
      </p:sp>
      <p:sp>
        <p:nvSpPr>
          <p:cNvPr id="22" name="Evaluate L(x,0), L(x,1), …, ">
            <a:extLst>
              <a:ext uri="{FF2B5EF4-FFF2-40B4-BE49-F238E27FC236}">
                <a16:creationId xmlns:a16="http://schemas.microsoft.com/office/drawing/2014/main" id="{E86814E7-3980-4F2F-9C9C-7ABA789D4E47}"/>
              </a:ext>
            </a:extLst>
          </p:cNvPr>
          <p:cNvSpPr>
            <a:spLocks noGrp="1"/>
          </p:cNvSpPr>
          <p:nvPr/>
        </p:nvSpPr>
        <p:spPr>
          <a:xfrm>
            <a:off x="457200" y="32289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Evaluate L(x,0), L(x,1), …, L(x,m). At top_k = 4, there are at most five candidates.</a:t>
            </a:r>
          </a:p>
        </p:txBody>
      </p:sp>
      <p:sp>
        <p:nvSpPr>
          <p:cNvPr id="23" name="3. Execute the minimum-cost ">
            <a:extLst>
              <a:ext uri="{FF2B5EF4-FFF2-40B4-BE49-F238E27FC236}">
                <a16:creationId xmlns:a16="http://schemas.microsoft.com/office/drawing/2014/main" id="{10FC781B-C6E2-42AF-A4B3-8307D2044ED9}"/>
              </a:ext>
            </a:extLst>
          </p:cNvPr>
          <p:cNvSpPr>
            <a:spLocks noGrp="1"/>
          </p:cNvSpPr>
          <p:nvPr/>
        </p:nvSpPr>
        <p:spPr>
          <a:xfrm>
            <a:off x="457200" y="39719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3. Execute the minimum-cost action</a:t>
            </a:r>
          </a:p>
        </p:txBody>
      </p:sp>
      <p:sp>
        <p:nvSpPr>
          <p:cNvPr id="24" name="Choose q* = argmin L(x,q). F">
            <a:extLst>
              <a:ext uri="{FF2B5EF4-FFF2-40B4-BE49-F238E27FC236}">
                <a16:creationId xmlns:a16="http://schemas.microsoft.com/office/drawing/2014/main" id="{F1EE3942-F4EC-43B4-8012-E66FC1C169E2}"/>
              </a:ext>
            </a:extLst>
          </p:cNvPr>
          <p:cNvSpPr>
            <a:spLocks noGrp="1"/>
          </p:cNvSpPr>
          <p:nvPr/>
        </p:nvSpPr>
        <p:spPr>
          <a:xfrm>
            <a:off x="457200" y="43338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Choose q* = argmin L(x,q). Fetch q experts and execute m − q on the CPU.</a:t>
            </a:r>
          </a:p>
        </p:txBody>
      </p:sp>
      <p:sp>
        <p:nvSpPr>
          <p:cNvPr id="25" name="Rectangle 24">
            <a:extLst>
              <a:ext uri="{FF2B5EF4-FFF2-40B4-BE49-F238E27FC236}">
                <a16:creationId xmlns:a16="http://schemas.microsoft.com/office/drawing/2014/main" id="{C65A2FDF-8849-49AB-911C-FD356AEFCF05}"/>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6" name="Rectangle 25">
            <a:extLst>
              <a:ext uri="{FF2B5EF4-FFF2-40B4-BE49-F238E27FC236}">
                <a16:creationId xmlns:a16="http://schemas.microsoft.com/office/drawing/2014/main" id="{E3EC2BD9-CF52-432C-B68C-83E9A363BDA7}"/>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7" name="Example">
            <a:extLst>
              <a:ext uri="{FF2B5EF4-FFF2-40B4-BE49-F238E27FC236}">
                <a16:creationId xmlns:a16="http://schemas.microsoft.com/office/drawing/2014/main" id="{2CF447B1-8108-4B43-8120-43F0BDEF9B5F}"/>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Example</a:t>
            </a:r>
          </a:p>
        </p:txBody>
      </p:sp>
      <p:sp>
        <p:nvSpPr>
          <p:cNvPr id="28" name="When m = 3, score q = 0, 1, ">
            <a:extLst>
              <a:ext uri="{FF2B5EF4-FFF2-40B4-BE49-F238E27FC236}">
                <a16:creationId xmlns:a16="http://schemas.microsoft.com/office/drawing/2014/main" id="{77B5BF83-617D-4936-871A-9A0DF4F57888}"/>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When m = 3, score q = 0, 1, 2, 3. If q = 1 has the lowest predicted cost, fetch one.</a:t>
            </a:r>
          </a:p>
        </p:txBody>
      </p:sp>
    </p:spTree>
    <p:extLst>
      <p:ext uri="{BB962C8B-B14F-4D97-AF65-F5344CB8AC3E}">
        <p14:creationId xmlns:p14="http://schemas.microsoft.com/office/powerpoint/2010/main" val="800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LEARNED POLICIES · ONLINE EXPLORATION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Contextual bandits and measured policy quality</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RL-style experiments: LinUCB">
            <a:extLst>
              <a:ext uri="{FF2B5EF4-FFF2-40B4-BE49-F238E27FC236}">
                <a16:creationId xmlns:a16="http://schemas.microsoft.com/office/drawing/2014/main" id="{4A562B10-9899-4C60-B202-938DBA23064A}"/>
              </a:ext>
            </a:extLst>
          </p:cNvPr>
          <p:cNvSpPr>
            <a:spLocks noGrp="1"/>
          </p:cNvSpPr>
          <p:nvPr/>
        </p:nvSpPr>
        <p:spPr>
          <a:xfrm>
            <a:off x="457200" y="1762125"/>
            <a:ext cx="11277600" cy="571500"/>
          </a:xfrm>
          <a:prstGeom prst="rect">
            <a:avLst/>
          </a:prstGeom>
          <a:noFill/>
          <a:ln w="0">
            <a:noFill/>
          </a:ln>
        </p:spPr>
        <p:txBody>
          <a:bodyPr wrap="square" lIns="0" tIns="0" rIns="0" bIns="0" anchor="t">
            <a:noAutofit/>
          </a:bodyPr>
          <a:lstStyle/>
          <a:p>
            <a:pPr algn="l">
              <a:defRPr sz="1800" b="0">
                <a:solidFill>
                  <a:srgbClr val="2B3139"/>
                </a:solidFill>
                <a:latin typeface="Geist"/>
                <a:ea typeface="Geist"/>
                <a:cs typeface="Geist"/>
              </a:defRPr>
            </a:pPr>
            <a:r>
              <a:rPr sz="1800" b="0">
                <a:solidFill>
                  <a:srgbClr val="2B3139"/>
                </a:solidFill>
                <a:latin typeface="Geist"/>
                <a:ea typeface="Geist"/>
                <a:cs typeface="Geist"/>
              </a:rPr>
              <a:t>RL-style experiments: LinUCB and Thompson sampling learn online from observed cost.</a:t>
            </a:r>
          </a:p>
        </p:txBody>
      </p:sp>
      <p:graphicFrame>
        <p:nvGraphicFramePr>
          <p:cNvPr id="30" name="Table 29"/>
          <p:cNvGraphicFramePr/>
          <p:nvPr/>
        </p:nvGraphicFramePr>
        <p:xfrm>
          <a:off x="457200" y="2581275"/>
          <a:ext cx="11277600" cy="2505075"/>
        </p:xfrm>
        <a:graphic>
          <a:graphicData uri="http://schemas.openxmlformats.org/drawingml/2006/table">
            <a:tbl>
              <a:tblPr/>
              <a:tblGrid>
                <a:gridCol w="41910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2705100">
                  <a:extLst>
                    <a:ext uri="{9D8B030D-6E8A-4147-A177-3AD203B41FA5}">
                      <a16:colId xmlns:a16="http://schemas.microsoft.com/office/drawing/2014/main" val="20002"/>
                    </a:ext>
                  </a:extLst>
                </a:gridCol>
              </a:tblGrid>
              <a:tr h="501015">
                <a:tc>
                  <a:txBody>
                    <a:bodyPr/>
                    <a:lstStyle/>
                    <a:p>
                      <a:r>
                        <a:rPr sz="1500" b="1">
                          <a:solidFill>
                            <a:srgbClr val="FFFFFF"/>
                          </a:solidFill>
                          <a:latin typeface="Geist"/>
                          <a:ea typeface="Geist"/>
                          <a:cs typeface="Geist"/>
                        </a:rPr>
                        <a:t>Policy</a:t>
                      </a:r>
                    </a:p>
                  </a:txBody>
                  <a:tcPr anchor="ctr">
                    <a:solidFill>
                      <a:srgbClr val="4A5B70"/>
                    </a:solidFill>
                  </a:tcPr>
                </a:tc>
                <a:tc>
                  <a:txBody>
                    <a:bodyPr/>
                    <a:lstStyle/>
                    <a:p>
                      <a:r>
                        <a:rPr sz="1500" b="1">
                          <a:solidFill>
                            <a:srgbClr val="FFFFFF"/>
                          </a:solidFill>
                          <a:latin typeface="Geist"/>
                          <a:ea typeface="Geist"/>
                          <a:cs typeface="Geist"/>
                        </a:rPr>
                        <a:t>Cost feedback</a:t>
                      </a:r>
                    </a:p>
                  </a:txBody>
                  <a:tcPr anchor="ctr">
                    <a:solidFill>
                      <a:srgbClr val="4A5B70"/>
                    </a:solidFill>
                  </a:tcPr>
                </a:tc>
                <a:tc>
                  <a:txBody>
                    <a:bodyPr/>
                    <a:lstStyle/>
                    <a:p>
                      <a:r>
                        <a:rPr sz="1500" b="1">
                          <a:solidFill>
                            <a:srgbClr val="FFFFFF"/>
                          </a:solidFill>
                          <a:latin typeface="Geist"/>
                          <a:ea typeface="Geist"/>
                          <a:cs typeface="Geist"/>
                        </a:rPr>
                        <a:t>Speedup vs q*</a:t>
                      </a:r>
                    </a:p>
                  </a:txBody>
                  <a:tcPr anchor="ctr">
                    <a:solidFill>
                      <a:srgbClr val="4A5B70"/>
                    </a:solidFill>
                  </a:tcPr>
                </a:tc>
                <a:extLst>
                  <a:ext uri="{0D108BD9-81ED-4DB2-BD59-A6C34878D82A}">
                    <a16:rowId xmlns:a16="http://schemas.microsoft.com/office/drawing/2014/main" val="10000"/>
                  </a:ext>
                </a:extLst>
              </a:tr>
              <a:tr h="501015">
                <a:tc>
                  <a:txBody>
                    <a:bodyPr/>
                    <a:lstStyle/>
                    <a:p>
                      <a:r>
                        <a:rPr sz="1500" b="0">
                          <a:solidFill>
                            <a:srgbClr val="2B3139"/>
                          </a:solidFill>
                          <a:latin typeface="Geist"/>
                          <a:ea typeface="Geist"/>
                          <a:cs typeface="Geist"/>
                        </a:rPr>
                        <a:t>Ridge / Linear</a:t>
                      </a:r>
                    </a:p>
                  </a:txBody>
                  <a:tcPr anchor="ctr">
                    <a:solidFill>
                      <a:srgbClr val="FFFFFF"/>
                    </a:solidFill>
                  </a:tcPr>
                </a:tc>
                <a:tc>
                  <a:txBody>
                    <a:bodyPr/>
                    <a:lstStyle/>
                    <a:p>
                      <a:r>
                        <a:rPr sz="1500" b="0">
                          <a:solidFill>
                            <a:srgbClr val="2B3139"/>
                          </a:solidFill>
                          <a:latin typeface="Geist"/>
                          <a:ea typeface="Geist"/>
                          <a:cs typeface="Geist"/>
                        </a:rPr>
                        <a:t>Offline fitted cost models</a:t>
                      </a:r>
                    </a:p>
                  </a:txBody>
                  <a:tcPr anchor="ctr">
                    <a:solidFill>
                      <a:srgbClr val="FFFFFF"/>
                    </a:solidFill>
                  </a:tcPr>
                </a:tc>
                <a:tc>
                  <a:txBody>
                    <a:bodyPr/>
                    <a:lstStyle/>
                    <a:p>
                      <a:r>
                        <a:rPr sz="1500" b="0">
                          <a:solidFill>
                            <a:srgbClr val="2B3139"/>
                          </a:solidFill>
                          <a:latin typeface="Geist"/>
                          <a:ea typeface="Geist"/>
                          <a:cs typeface="Geist"/>
                        </a:rPr>
                        <a:t>1.45× / 1.34×</a:t>
                      </a:r>
                    </a:p>
                  </a:txBody>
                  <a:tcPr anchor="ctr">
                    <a:solidFill>
                      <a:srgbClr val="FFFFFF"/>
                    </a:solidFill>
                  </a:tcPr>
                </a:tc>
                <a:extLst>
                  <a:ext uri="{0D108BD9-81ED-4DB2-BD59-A6C34878D82A}">
                    <a16:rowId xmlns:a16="http://schemas.microsoft.com/office/drawing/2014/main" val="10001"/>
                  </a:ext>
                </a:extLst>
              </a:tr>
              <a:tr h="501015">
                <a:tc>
                  <a:txBody>
                    <a:bodyPr/>
                    <a:lstStyle/>
                    <a:p>
                      <a:r>
                        <a:rPr sz="1500" b="0">
                          <a:solidFill>
                            <a:srgbClr val="2B3139"/>
                          </a:solidFill>
                          <a:latin typeface="Geist"/>
                          <a:ea typeface="Geist"/>
                          <a:cs typeface="Geist"/>
                        </a:rPr>
                        <a:t>LinUCB / Thompson sampling</a:t>
                      </a:r>
                    </a:p>
                  </a:txBody>
                  <a:tcPr anchor="ctr">
                    <a:solidFill>
                      <a:srgbClr val="FAF7F0"/>
                    </a:solidFill>
                  </a:tcPr>
                </a:tc>
                <a:tc>
                  <a:txBody>
                    <a:bodyPr/>
                    <a:lstStyle/>
                    <a:p>
                      <a:r>
                        <a:rPr sz="1500" b="0">
                          <a:solidFill>
                            <a:srgbClr val="2B3139"/>
                          </a:solidFill>
                          <a:latin typeface="Geist"/>
                          <a:ea typeface="Geist"/>
                          <a:cs typeface="Geist"/>
                        </a:rPr>
                        <a:t>16-token delayed cost</a:t>
                      </a:r>
                    </a:p>
                  </a:txBody>
                  <a:tcPr anchor="ctr">
                    <a:solidFill>
                      <a:srgbClr val="FAF7F0"/>
                    </a:solidFill>
                  </a:tcPr>
                </a:tc>
                <a:tc>
                  <a:txBody>
                    <a:bodyPr/>
                    <a:lstStyle/>
                    <a:p>
                      <a:r>
                        <a:rPr sz="1500" b="0">
                          <a:solidFill>
                            <a:srgbClr val="2B3139"/>
                          </a:solidFill>
                          <a:latin typeface="Geist"/>
                          <a:ea typeface="Geist"/>
                          <a:cs typeface="Geist"/>
                        </a:rPr>
                        <a:t>1.35× / 1.29×</a:t>
                      </a:r>
                    </a:p>
                  </a:txBody>
                  <a:tcPr anchor="ctr">
                    <a:solidFill>
                      <a:srgbClr val="FAF7F0"/>
                    </a:solidFill>
                  </a:tcPr>
                </a:tc>
                <a:extLst>
                  <a:ext uri="{0D108BD9-81ED-4DB2-BD59-A6C34878D82A}">
                    <a16:rowId xmlns:a16="http://schemas.microsoft.com/office/drawing/2014/main" val="10002"/>
                  </a:ext>
                </a:extLst>
              </a:tr>
              <a:tr h="501015">
                <a:tc>
                  <a:txBody>
                    <a:bodyPr/>
                    <a:lstStyle/>
                    <a:p>
                      <a:r>
                        <a:rPr sz="1500" b="0">
                          <a:solidFill>
                            <a:srgbClr val="2B3139"/>
                          </a:solidFill>
                          <a:latin typeface="Geist"/>
                          <a:ea typeface="Geist"/>
                          <a:cs typeface="Geist"/>
                        </a:rPr>
                        <a:t>Myopic LinUCB</a:t>
                      </a:r>
                    </a:p>
                  </a:txBody>
                  <a:tcPr anchor="ctr">
                    <a:solidFill>
                      <a:srgbClr val="FFFFFF"/>
                    </a:solidFill>
                  </a:tcPr>
                </a:tc>
                <a:tc>
                  <a:txBody>
                    <a:bodyPr/>
                    <a:lstStyle/>
                    <a:p>
                      <a:r>
                        <a:rPr sz="1500" b="0">
                          <a:solidFill>
                            <a:srgbClr val="2B3139"/>
                          </a:solidFill>
                          <a:latin typeface="Geist"/>
                          <a:ea typeface="Geist"/>
                          <a:cs typeface="Geist"/>
                        </a:rPr>
                        <a:t>Immediate layer cost</a:t>
                      </a:r>
                    </a:p>
                  </a:txBody>
                  <a:tcPr anchor="ctr">
                    <a:solidFill>
                      <a:srgbClr val="FFFFFF"/>
                    </a:solidFill>
                  </a:tcPr>
                </a:tc>
                <a:tc>
                  <a:txBody>
                    <a:bodyPr/>
                    <a:lstStyle/>
                    <a:p>
                      <a:r>
                        <a:rPr sz="1500" b="0">
                          <a:solidFill>
                            <a:srgbClr val="2B3139"/>
                          </a:solidFill>
                          <a:latin typeface="Geist"/>
                          <a:ea typeface="Geist"/>
                          <a:cs typeface="Geist"/>
                        </a:rPr>
                        <a:t>0.94×</a:t>
                      </a:r>
                    </a:p>
                  </a:txBody>
                  <a:tcPr anchor="ctr">
                    <a:solidFill>
                      <a:srgbClr val="FFFFFF"/>
                    </a:solidFill>
                  </a:tcPr>
                </a:tc>
                <a:extLst>
                  <a:ext uri="{0D108BD9-81ED-4DB2-BD59-A6C34878D82A}">
                    <a16:rowId xmlns:a16="http://schemas.microsoft.com/office/drawing/2014/main" val="10003"/>
                  </a:ext>
                </a:extLst>
              </a:tr>
              <a:tr h="501015">
                <a:tc>
                  <a:txBody>
                    <a:bodyPr/>
                    <a:lstStyle/>
                    <a:p>
                      <a:r>
                        <a:rPr sz="1500" b="0">
                          <a:solidFill>
                            <a:srgbClr val="2B3139"/>
                          </a:solidFill>
                          <a:latin typeface="Geist"/>
                          <a:ea typeface="Geist"/>
                          <a:cs typeface="Geist"/>
                        </a:rPr>
                        <a:t>ANN-GELU / GBM</a:t>
                      </a:r>
                    </a:p>
                  </a:txBody>
                  <a:tcPr anchor="ctr">
                    <a:solidFill>
                      <a:srgbClr val="FAF7F0"/>
                    </a:solidFill>
                  </a:tcPr>
                </a:tc>
                <a:tc>
                  <a:txBody>
                    <a:bodyPr/>
                    <a:lstStyle/>
                    <a:p>
                      <a:r>
                        <a:rPr sz="1500" b="0">
                          <a:solidFill>
                            <a:srgbClr val="2B3139"/>
                          </a:solidFill>
                          <a:latin typeface="Geist"/>
                          <a:ea typeface="Geist"/>
                          <a:cs typeface="Geist"/>
                        </a:rPr>
                        <a:t>Offline fitted cost models</a:t>
                      </a:r>
                    </a:p>
                  </a:txBody>
                  <a:tcPr anchor="ctr">
                    <a:solidFill>
                      <a:srgbClr val="FAF7F0"/>
                    </a:solidFill>
                  </a:tcPr>
                </a:tc>
                <a:tc>
                  <a:txBody>
                    <a:bodyPr/>
                    <a:lstStyle/>
                    <a:p>
                      <a:r>
                        <a:rPr sz="1500" b="0">
                          <a:solidFill>
                            <a:srgbClr val="2B3139"/>
                          </a:solidFill>
                          <a:latin typeface="Geist"/>
                          <a:ea typeface="Geist"/>
                          <a:cs typeface="Geist"/>
                        </a:rPr>
                        <a:t>0.94× / 0.81×</a:t>
                      </a:r>
                    </a:p>
                  </a:txBody>
                  <a:tcPr anchor="ctr">
                    <a:solidFill>
                      <a:srgbClr val="FAF7F0"/>
                    </a:solidFill>
                  </a:tcPr>
                </a:tc>
                <a:extLst>
                  <a:ext uri="{0D108BD9-81ED-4DB2-BD59-A6C34878D82A}">
                    <a16:rowId xmlns:a16="http://schemas.microsoft.com/office/drawing/2014/main" val="10004"/>
                  </a:ext>
                </a:extLst>
              </a:tr>
            </a:tbl>
          </a:graphicData>
        </a:graphic>
      </p:graphicFrame>
      <p:sp>
        <p:nvSpPr>
          <p:cNvPr id="21" name="Rectangle 20">
            <a:extLst>
              <a:ext uri="{FF2B5EF4-FFF2-40B4-BE49-F238E27FC236}">
                <a16:creationId xmlns:a16="http://schemas.microsoft.com/office/drawing/2014/main" id="{809AF79E-E47D-4634-B397-59A817D21F36}"/>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2" name="Rectangle 21">
            <a:extLst>
              <a:ext uri="{FF2B5EF4-FFF2-40B4-BE49-F238E27FC236}">
                <a16:creationId xmlns:a16="http://schemas.microsoft.com/office/drawing/2014/main" id="{23624876-19FF-46B0-9BB6-176BD26DAE85}"/>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3" name="Observation">
            <a:extLst>
              <a:ext uri="{FF2B5EF4-FFF2-40B4-BE49-F238E27FC236}">
                <a16:creationId xmlns:a16="http://schemas.microsoft.com/office/drawing/2014/main" id="{E5E21A91-CD8D-4FDF-A72F-E8A113CF31D1}"/>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Observation</a:t>
            </a:r>
          </a:p>
        </p:txBody>
      </p:sp>
      <p:sp>
        <p:nvSpPr>
          <p:cNvPr id="24" name="Good cost prediction did not">
            <a:extLst>
              <a:ext uri="{FF2B5EF4-FFF2-40B4-BE49-F238E27FC236}">
                <a16:creationId xmlns:a16="http://schemas.microsoft.com/office/drawing/2014/main" id="{3B0BEC1D-D4D8-4688-A881-AF48F4175ADD}"/>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Good cost prediction did not guarantee good decisions or low runtime overhead.</a:t>
            </a:r>
          </a:p>
        </p:txBody>
      </p:sp>
    </p:spTree>
    <p:extLst>
      <p:ext uri="{BB962C8B-B14F-4D97-AF65-F5344CB8AC3E}">
        <p14:creationId xmlns:p14="http://schemas.microsoft.com/office/powerpoint/2010/main" val="800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FEATURE EVIDENCE · MOTIVATION FOR REUSE-AWARE</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Cache residency provided the decisive signal</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30" name="Table 29"/>
          <p:cNvGraphicFramePr/>
          <p:nvPr/>
        </p:nvGraphicFramePr>
        <p:xfrm>
          <a:off x="457200" y="1790700"/>
          <a:ext cx="11277600" cy="2724150"/>
        </p:xfrm>
        <a:graphic>
          <a:graphicData uri="http://schemas.openxmlformats.org/drawingml/2006/table">
            <a:tbl>
              <a:tblPr/>
              <a:tblGrid>
                <a:gridCol w="471487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tblGrid>
              <a:tr h="544830">
                <a:tc>
                  <a:txBody>
                    <a:bodyPr/>
                    <a:lstStyle/>
                    <a:p>
                      <a:r>
                        <a:rPr sz="1425" b="1">
                          <a:solidFill>
                            <a:srgbClr val="FFFFFF"/>
                          </a:solidFill>
                          <a:latin typeface="Geist"/>
                          <a:ea typeface="Geist"/>
                          <a:cs typeface="Geist"/>
                        </a:rPr>
                        <a:t>Cumulative Ridge feature set</a:t>
                      </a:r>
                    </a:p>
                  </a:txBody>
                  <a:tcPr anchor="ctr">
                    <a:solidFill>
                      <a:srgbClr val="4A5B70"/>
                    </a:solidFill>
                  </a:tcPr>
                </a:tc>
                <a:tc>
                  <a:txBody>
                    <a:bodyPr/>
                    <a:lstStyle/>
                    <a:p>
                      <a:r>
                        <a:rPr sz="1425" b="1">
                          <a:solidFill>
                            <a:srgbClr val="FFFFFF"/>
                          </a:solidFill>
                          <a:latin typeface="Geist"/>
                          <a:ea typeface="Geist"/>
                          <a:cs typeface="Geist"/>
                        </a:rPr>
                        <a:t>Speedup vs q*</a:t>
                      </a:r>
                    </a:p>
                  </a:txBody>
                  <a:tcPr anchor="ctr">
                    <a:solidFill>
                      <a:srgbClr val="4A5B70"/>
                    </a:solidFill>
                  </a:tcPr>
                </a:tc>
                <a:tc>
                  <a:txBody>
                    <a:bodyPr/>
                    <a:lstStyle/>
                    <a:p>
                      <a:r>
                        <a:rPr sz="1425" b="1">
                          <a:solidFill>
                            <a:srgbClr val="FFFFFF"/>
                          </a:solidFill>
                          <a:latin typeface="Geist"/>
                          <a:ea typeface="Geist"/>
                          <a:cs typeface="Geist"/>
                        </a:rPr>
                        <a:t>Interpretation</a:t>
                      </a:r>
                    </a:p>
                  </a:txBody>
                  <a:tcPr anchor="ctr">
                    <a:solidFill>
                      <a:srgbClr val="4A5B70"/>
                    </a:solidFill>
                  </a:tcPr>
                </a:tc>
                <a:extLst>
                  <a:ext uri="{0D108BD9-81ED-4DB2-BD59-A6C34878D82A}">
                    <a16:rowId xmlns:a16="http://schemas.microsoft.com/office/drawing/2014/main" val="10000"/>
                  </a:ext>
                </a:extLst>
              </a:tr>
              <a:tr h="544830">
                <a:tc>
                  <a:txBody>
                    <a:bodyPr/>
                    <a:lstStyle/>
                    <a:p>
                      <a:r>
                        <a:rPr sz="1425" b="0">
                          <a:solidFill>
                            <a:srgbClr val="2B3139"/>
                          </a:solidFill>
                          <a:latin typeface="Geist"/>
                          <a:ea typeface="Geist"/>
                          <a:cs typeface="Geist"/>
                        </a:rPr>
                        <a:t>Base + routing + CPU</a:t>
                      </a:r>
                    </a:p>
                  </a:txBody>
                  <a:tcPr anchor="ctr">
                    <a:solidFill>
                      <a:srgbClr val="FFFFFF"/>
                    </a:solidFill>
                  </a:tcPr>
                </a:tc>
                <a:tc>
                  <a:txBody>
                    <a:bodyPr/>
                    <a:lstStyle/>
                    <a:p>
                      <a:r>
                        <a:rPr sz="1425" b="0">
                          <a:solidFill>
                            <a:srgbClr val="2B3139"/>
                          </a:solidFill>
                          <a:latin typeface="Geist"/>
                          <a:ea typeface="Geist"/>
                          <a:cs typeface="Geist"/>
                        </a:rPr>
                        <a:t>0.96×</a:t>
                      </a:r>
                    </a:p>
                  </a:txBody>
                  <a:tcPr anchor="ctr">
                    <a:solidFill>
                      <a:srgbClr val="FFFFFF"/>
                    </a:solidFill>
                  </a:tcPr>
                </a:tc>
                <a:tc>
                  <a:txBody>
                    <a:bodyPr/>
                    <a:lstStyle/>
                    <a:p>
                      <a:r>
                        <a:rPr sz="1425" b="0">
                          <a:solidFill>
                            <a:srgbClr val="2B3139"/>
                          </a:solidFill>
                          <a:latin typeface="Geist"/>
                          <a:ea typeface="Geist"/>
                          <a:cs typeface="Geist"/>
                        </a:rPr>
                        <a:t>Current host cost alone was insufficient</a:t>
                      </a:r>
                    </a:p>
                  </a:txBody>
                  <a:tcPr anchor="ctr">
                    <a:solidFill>
                      <a:srgbClr val="FFFFFF"/>
                    </a:solidFill>
                  </a:tcPr>
                </a:tc>
                <a:extLst>
                  <a:ext uri="{0D108BD9-81ED-4DB2-BD59-A6C34878D82A}">
                    <a16:rowId xmlns:a16="http://schemas.microsoft.com/office/drawing/2014/main" val="10001"/>
                  </a:ext>
                </a:extLst>
              </a:tr>
              <a:tr h="544830">
                <a:tc>
                  <a:txBody>
                    <a:bodyPr/>
                    <a:lstStyle/>
                    <a:p>
                      <a:r>
                        <a:rPr sz="1425" b="0">
                          <a:solidFill>
                            <a:srgbClr val="2B3139"/>
                          </a:solidFill>
                          <a:latin typeface="Geist"/>
                          <a:ea typeface="Geist"/>
                          <a:cs typeface="Geist"/>
                        </a:rPr>
                        <a:t>Through overlap</a:t>
                      </a:r>
                    </a:p>
                  </a:txBody>
                  <a:tcPr anchor="ctr">
                    <a:solidFill>
                      <a:srgbClr val="FAF7F0"/>
                    </a:solidFill>
                  </a:tcPr>
                </a:tc>
                <a:tc>
                  <a:txBody>
                    <a:bodyPr/>
                    <a:lstStyle/>
                    <a:p>
                      <a:r>
                        <a:rPr sz="1425" b="0">
                          <a:solidFill>
                            <a:srgbClr val="2B3139"/>
                          </a:solidFill>
                          <a:latin typeface="Geist"/>
                          <a:ea typeface="Geist"/>
                          <a:cs typeface="Geist"/>
                        </a:rPr>
                        <a:t>1.22×</a:t>
                      </a:r>
                    </a:p>
                  </a:txBody>
                  <a:tcPr anchor="ctr">
                    <a:solidFill>
                      <a:srgbClr val="FAF7F0"/>
                    </a:solidFill>
                  </a:tcPr>
                </a:tc>
                <a:tc>
                  <a:txBody>
                    <a:bodyPr/>
                    <a:lstStyle/>
                    <a:p>
                      <a:r>
                        <a:rPr sz="1425" b="0">
                          <a:solidFill>
                            <a:srgbClr val="2B3139"/>
                          </a:solidFill>
                          <a:latin typeface="Geist"/>
                          <a:ea typeface="Geist"/>
                          <a:cs typeface="Geist"/>
                        </a:rPr>
                        <a:t>Visible branch cost added useful context</a:t>
                      </a:r>
                    </a:p>
                  </a:txBody>
                  <a:tcPr anchor="ctr">
                    <a:solidFill>
                      <a:srgbClr val="FAF7F0"/>
                    </a:solidFill>
                  </a:tcPr>
                </a:tc>
                <a:extLst>
                  <a:ext uri="{0D108BD9-81ED-4DB2-BD59-A6C34878D82A}">
                    <a16:rowId xmlns:a16="http://schemas.microsoft.com/office/drawing/2014/main" val="10002"/>
                  </a:ext>
                </a:extLst>
              </a:tr>
              <a:tr h="544830">
                <a:tc>
                  <a:txBody>
                    <a:bodyPr/>
                    <a:lstStyle/>
                    <a:p>
                      <a:r>
                        <a:rPr sz="1425" b="0">
                          <a:solidFill>
                            <a:srgbClr val="2B3139"/>
                          </a:solidFill>
                          <a:latin typeface="Geist"/>
                          <a:ea typeface="Geist"/>
                          <a:cs typeface="Geist"/>
                        </a:rPr>
                        <a:t>+ Cache / + Reuse</a:t>
                      </a:r>
                    </a:p>
                  </a:txBody>
                  <a:tcPr anchor="ctr">
                    <a:solidFill>
                      <a:srgbClr val="FFFFFF"/>
                    </a:solidFill>
                  </a:tcPr>
                </a:tc>
                <a:tc>
                  <a:txBody>
                    <a:bodyPr/>
                    <a:lstStyle/>
                    <a:p>
                      <a:r>
                        <a:rPr sz="1425" b="0">
                          <a:solidFill>
                            <a:srgbClr val="2B3139"/>
                          </a:solidFill>
                          <a:latin typeface="Geist"/>
                          <a:ea typeface="Geist"/>
                          <a:cs typeface="Geist"/>
                        </a:rPr>
                        <a:t>1.41× / 1.45×</a:t>
                      </a:r>
                    </a:p>
                  </a:txBody>
                  <a:tcPr anchor="ctr">
                    <a:solidFill>
                      <a:srgbClr val="FFFFFF"/>
                    </a:solidFill>
                  </a:tcPr>
                </a:tc>
                <a:tc>
                  <a:txBody>
                    <a:bodyPr/>
                    <a:lstStyle/>
                    <a:p>
                      <a:r>
                        <a:rPr sz="1425" b="0">
                          <a:solidFill>
                            <a:srgbClr val="2B3139"/>
                          </a:solidFill>
                          <a:latin typeface="Geist"/>
                          <a:ea typeface="Geist"/>
                          <a:cs typeface="Geist"/>
                        </a:rPr>
                        <a:t>Cache state produced the largest jump</a:t>
                      </a:r>
                    </a:p>
                  </a:txBody>
                  <a:tcPr anchor="ctr">
                    <a:solidFill>
                      <a:srgbClr val="FFFFFF"/>
                    </a:solidFill>
                  </a:tcPr>
                </a:tc>
                <a:extLst>
                  <a:ext uri="{0D108BD9-81ED-4DB2-BD59-A6C34878D82A}">
                    <a16:rowId xmlns:a16="http://schemas.microsoft.com/office/drawing/2014/main" val="10003"/>
                  </a:ext>
                </a:extLst>
              </a:tr>
              <a:tr h="544830">
                <a:tc>
                  <a:txBody>
                    <a:bodyPr/>
                    <a:lstStyle/>
                    <a:p>
                      <a:r>
                        <a:rPr sz="1425" b="0">
                          <a:solidFill>
                            <a:srgbClr val="2B3139"/>
                          </a:solidFill>
                          <a:latin typeface="Geist"/>
                          <a:ea typeface="Geist"/>
                          <a:cs typeface="Geist"/>
                        </a:rPr>
                        <a:t>+ Utilization / + Memory / + History</a:t>
                      </a:r>
                    </a:p>
                  </a:txBody>
                  <a:tcPr anchor="ctr">
                    <a:solidFill>
                      <a:srgbClr val="FAF7F0"/>
                    </a:solidFill>
                  </a:tcPr>
                </a:tc>
                <a:tc>
                  <a:txBody>
                    <a:bodyPr/>
                    <a:lstStyle/>
                    <a:p>
                      <a:r>
                        <a:rPr sz="1425" b="0">
                          <a:solidFill>
                            <a:srgbClr val="2B3139"/>
                          </a:solidFill>
                          <a:latin typeface="Geist"/>
                          <a:ea typeface="Geist"/>
                          <a:cs typeface="Geist"/>
                        </a:rPr>
                        <a:t>1.39× / 1.09× / 0.93×</a:t>
                      </a:r>
                    </a:p>
                  </a:txBody>
                  <a:tcPr anchor="ctr">
                    <a:solidFill>
                      <a:srgbClr val="FAF7F0"/>
                    </a:solidFill>
                  </a:tcPr>
                </a:tc>
                <a:tc>
                  <a:txBody>
                    <a:bodyPr/>
                    <a:lstStyle/>
                    <a:p>
                      <a:r>
                        <a:rPr sz="1425" b="0">
                          <a:solidFill>
                            <a:srgbClr val="2B3139"/>
                          </a:solidFill>
                          <a:latin typeface="Geist"/>
                          <a:ea typeface="Geist"/>
                          <a:cs typeface="Geist"/>
                        </a:rPr>
                        <a:t>Additional signals weakened decisions</a:t>
                      </a:r>
                    </a:p>
                  </a:txBody>
                  <a:tcPr anchor="ctr">
                    <a:solidFill>
                      <a:srgbClr val="FAF7F0"/>
                    </a:solidFill>
                  </a:tcPr>
                </a:tc>
                <a:extLst>
                  <a:ext uri="{0D108BD9-81ED-4DB2-BD59-A6C34878D82A}">
                    <a16:rowId xmlns:a16="http://schemas.microsoft.com/office/drawing/2014/main" val="10004"/>
                  </a:ext>
                </a:extLst>
              </a:tr>
            </a:tbl>
          </a:graphicData>
        </a:graphic>
      </p:graphicFrame>
      <p:sp>
        <p:nvSpPr>
          <p:cNvPr id="20" name="The missing quantity">
            <a:extLst>
              <a:ext uri="{FF2B5EF4-FFF2-40B4-BE49-F238E27FC236}">
                <a16:creationId xmlns:a16="http://schemas.microsoft.com/office/drawing/2014/main" id="{7FC14E2F-609F-4E3F-8E7E-A642DAFFE78E}"/>
              </a:ext>
            </a:extLst>
          </p:cNvPr>
          <p:cNvSpPr>
            <a:spLocks noGrp="1"/>
          </p:cNvSpPr>
          <p:nvPr/>
        </p:nvSpPr>
        <p:spPr>
          <a:xfrm>
            <a:off x="457200" y="48482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The missing quantity</a:t>
            </a:r>
          </a:p>
        </p:txBody>
      </p:sp>
      <p:sp>
        <p:nvSpPr>
          <p:cNvPr id="21" name="A fetched expert helps only ">
            <a:extLst>
              <a:ext uri="{FF2B5EF4-FFF2-40B4-BE49-F238E27FC236}">
                <a16:creationId xmlns:a16="http://schemas.microsoft.com/office/drawing/2014/main" id="{3EA8C9FD-32A8-463E-AA8A-46F358ACD1CA}"/>
              </a:ext>
            </a:extLst>
          </p:cNvPr>
          <p:cNvSpPr>
            <a:spLocks noGrp="1"/>
          </p:cNvSpPr>
          <p:nvPr/>
        </p:nvSpPr>
        <p:spPr>
          <a:xfrm>
            <a:off x="457200" y="52101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A fetched expert helps only if it is reused before eviction. Residency limits how much future CPU work the fetch can save.</a:t>
            </a:r>
          </a:p>
        </p:txBody>
      </p:sp>
      <p:sp>
        <p:nvSpPr>
          <p:cNvPr id="22" name="Rectangle 21">
            <a:extLst>
              <a:ext uri="{FF2B5EF4-FFF2-40B4-BE49-F238E27FC236}">
                <a16:creationId xmlns:a16="http://schemas.microsoft.com/office/drawing/2014/main" id="{00867D44-1DEE-4173-B7E4-0081E53BF1D7}"/>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3" name="Rectangle 22">
            <a:extLst>
              <a:ext uri="{FF2B5EF4-FFF2-40B4-BE49-F238E27FC236}">
                <a16:creationId xmlns:a16="http://schemas.microsoft.com/office/drawing/2014/main" id="{C1E0163D-48D2-4906-8921-285FB876A1B9}"/>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4" name="Next step">
            <a:extLst>
              <a:ext uri="{FF2B5EF4-FFF2-40B4-BE49-F238E27FC236}">
                <a16:creationId xmlns:a16="http://schemas.microsoft.com/office/drawing/2014/main" id="{F1971E44-AC39-4F52-B0A8-C684AEC58A72}"/>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Next step</a:t>
            </a:r>
          </a:p>
        </p:txBody>
      </p:sp>
      <p:sp>
        <p:nvSpPr>
          <p:cNvPr id="25" name="Model that future value dire">
            <a:extLst>
              <a:ext uri="{FF2B5EF4-FFF2-40B4-BE49-F238E27FC236}">
                <a16:creationId xmlns:a16="http://schemas.microsoft.com/office/drawing/2014/main" id="{B95CBFB2-223D-4BDC-86D9-4CBD9968C489}"/>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Model that future value directly with an analytic Reuse-Aware rule.</a:t>
            </a:r>
          </a:p>
        </p:txBody>
      </p:sp>
    </p:spTree>
    <p:extLst>
      <p:ext uri="{BB962C8B-B14F-4D97-AF65-F5344CB8AC3E}">
        <p14:creationId xmlns:p14="http://schemas.microsoft.com/office/powerpoint/2010/main" val="800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1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Fetching is a cost now with a possible payoff later</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If we execute a missing expe">
            <a:extLst>
              <a:ext uri="{FF2B5EF4-FFF2-40B4-BE49-F238E27FC236}">
                <a16:creationId xmlns:a16="http://schemas.microsoft.com/office/drawing/2014/main" id="{6285A346-86FA-4446-9E72-66DE4FCA53F5}"/>
              </a:ext>
            </a:extLst>
          </p:cNvPr>
          <p:cNvSpPr>
            <a:spLocks noGrp="1"/>
          </p:cNvSpPr>
          <p:nvPr/>
        </p:nvSpPr>
        <p:spPr>
          <a:xfrm>
            <a:off x="457200" y="177165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If we execute a missing expert on the CPU</a:t>
            </a:r>
          </a:p>
        </p:txBody>
      </p:sp>
      <p:sp>
        <p:nvSpPr>
          <p:cNvPr id="20" name="We pay CPU cost now. Its wei">
            <a:extLst>
              <a:ext uri="{FF2B5EF4-FFF2-40B4-BE49-F238E27FC236}">
                <a16:creationId xmlns:a16="http://schemas.microsoft.com/office/drawing/2014/main" id="{6EB58BDA-7B3B-40B4-B353-9BBAE0735207}"/>
              </a:ext>
            </a:extLst>
          </p:cNvPr>
          <p:cNvSpPr>
            <a:spLocks noGrp="1"/>
          </p:cNvSpPr>
          <p:nvPr/>
        </p:nvSpPr>
        <p:spPr>
          <a:xfrm>
            <a:off x="457200" y="213360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We pay CPU cost now. Its weights remain outside the GPU cache, so another request may require CPU execution again.</a:t>
            </a:r>
          </a:p>
        </p:txBody>
      </p:sp>
      <p:sp>
        <p:nvSpPr>
          <p:cNvPr id="21" name="If we fetch the expert to th">
            <a:extLst>
              <a:ext uri="{FF2B5EF4-FFF2-40B4-BE49-F238E27FC236}">
                <a16:creationId xmlns:a16="http://schemas.microsoft.com/office/drawing/2014/main" id="{606EA25E-D7E5-478E-A051-DDA16959A717}"/>
              </a:ext>
            </a:extLst>
          </p:cNvPr>
          <p:cNvSpPr>
            <a:spLocks noGrp="1"/>
          </p:cNvSpPr>
          <p:nvPr/>
        </p:nvSpPr>
        <p:spPr>
          <a:xfrm>
            <a:off x="457200" y="3057525"/>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If we fetch the expert to the GPU</a:t>
            </a:r>
          </a:p>
        </p:txBody>
      </p:sp>
      <p:sp>
        <p:nvSpPr>
          <p:cNvPr id="22" name="We pay PCIe transfer now. Fu">
            <a:extLst>
              <a:ext uri="{FF2B5EF4-FFF2-40B4-BE49-F238E27FC236}">
                <a16:creationId xmlns:a16="http://schemas.microsoft.com/office/drawing/2014/main" id="{116E06EE-5824-4D48-BD8C-81C300A100A5}"/>
              </a:ext>
            </a:extLst>
          </p:cNvPr>
          <p:cNvSpPr>
            <a:spLocks noGrp="1"/>
          </p:cNvSpPr>
          <p:nvPr/>
        </p:nvSpPr>
        <p:spPr>
          <a:xfrm>
            <a:off x="457200" y="3419475"/>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We pay PCIe transfer now. Future requests can hit the cache until the expert is evicted.</a:t>
            </a:r>
          </a:p>
        </p:txBody>
      </p:sp>
      <p:sp>
        <p:nvSpPr>
          <p:cNvPr id="23" name="Fetch when expected future s">
            <a:extLst>
              <a:ext uri="{FF2B5EF4-FFF2-40B4-BE49-F238E27FC236}">
                <a16:creationId xmlns:a16="http://schemas.microsoft.com/office/drawing/2014/main" id="{14809755-ED8B-40B5-B373-3F37BEF154C4}"/>
              </a:ext>
            </a:extLst>
          </p:cNvPr>
          <p:cNvSpPr>
            <a:spLocks noGrp="1"/>
          </p:cNvSpPr>
          <p:nvPr/>
        </p:nvSpPr>
        <p:spPr>
          <a:xfrm>
            <a:off x="457200" y="4438650"/>
            <a:ext cx="11277600" cy="933450"/>
          </a:xfrm>
          <a:prstGeom prst="rect">
            <a:avLst/>
          </a:prstGeom>
          <a:noFill/>
          <a:ln w="0">
            <a:noFill/>
          </a:ln>
        </p:spPr>
        <p:txBody>
          <a:bodyPr wrap="square" lIns="0" tIns="0" rIns="0" bIns="0" anchor="t">
            <a:noAutofit/>
          </a:bodyPr>
          <a:lstStyle/>
          <a:p>
            <a:pPr algn="l">
              <a:defRPr sz="2625" b="0">
                <a:solidFill>
                  <a:srgbClr val="7A2331"/>
                </a:solidFill>
                <a:latin typeface="Newsreader Medium"/>
                <a:ea typeface="Newsreader Medium"/>
                <a:cs typeface="Newsreader Medium"/>
              </a:defRPr>
            </a:pPr>
            <a:r>
              <a:rPr sz="2625" b="0">
                <a:solidFill>
                  <a:srgbClr val="7A2331"/>
                </a:solidFill>
                <a:latin typeface="Newsreader Medium"/>
                <a:ea typeface="Newsreader Medium"/>
                <a:cs typeface="Newsreader Medium"/>
              </a:rPr>
              <a:t>Fetch when expected future savings cover</a:t>
            </a:r>
          </a:p>
          <a:p>
            <a:pPr algn="l">
              <a:defRPr sz="2625" b="0">
                <a:solidFill>
                  <a:srgbClr val="7A2331"/>
                </a:solidFill>
                <a:latin typeface="Newsreader Medium"/>
                <a:ea typeface="Newsreader Medium"/>
                <a:cs typeface="Newsreader Medium"/>
              </a:defRPr>
            </a:pPr>
            <a:r>
              <a:rPr sz="2625" b="0">
                <a:solidFill>
                  <a:srgbClr val="7A2331"/>
                </a:solidFill>
                <a:latin typeface="Newsreader Medium"/>
                <a:ea typeface="Newsreader Medium"/>
                <a:cs typeface="Newsreader Medium"/>
              </a:rPr>
              <a:t>the extra visible cost paid now.</a:t>
            </a:r>
          </a:p>
        </p:txBody>
      </p:sp>
      <p:sp>
        <p:nvSpPr>
          <p:cNvPr id="24" name="Rectangle 23">
            <a:extLst>
              <a:ext uri="{FF2B5EF4-FFF2-40B4-BE49-F238E27FC236}">
                <a16:creationId xmlns:a16="http://schemas.microsoft.com/office/drawing/2014/main" id="{9922AF5C-1536-4718-B638-4433450C8DF4}"/>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4894C3A4-5ADC-4670-967F-534057A2094A}"/>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What changes?">
            <a:extLst>
              <a:ext uri="{FF2B5EF4-FFF2-40B4-BE49-F238E27FC236}">
                <a16:creationId xmlns:a16="http://schemas.microsoft.com/office/drawing/2014/main" id="{C7D62048-8C22-47D1-A859-E7B7CE11492E}"/>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What changes?</a:t>
            </a:r>
          </a:p>
        </p:txBody>
      </p:sp>
      <p:sp>
        <p:nvSpPr>
          <p:cNvPr id="27" name="The decision affects both th">
            <a:extLst>
              <a:ext uri="{FF2B5EF4-FFF2-40B4-BE49-F238E27FC236}">
                <a16:creationId xmlns:a16="http://schemas.microsoft.com/office/drawing/2014/main" id="{BB1BB0AE-DF46-43EF-901E-2FA7E9994953}"/>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The decision affects both the current layer latency and the future cache state.</a:t>
            </a:r>
          </a:p>
        </p:txBody>
      </p:sp>
    </p:spTree>
    <p:extLst>
      <p:ext uri="{BB962C8B-B14F-4D97-AF65-F5344CB8AC3E}">
        <p14:creationId xmlns:p14="http://schemas.microsoft.com/office/powerpoint/2010/main" val="800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2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Immediate cost comes from the slower branch</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Normalize one CPU expert eva">
            <a:extLst>
              <a:ext uri="{FF2B5EF4-FFF2-40B4-BE49-F238E27FC236}">
                <a16:creationId xmlns:a16="http://schemas.microsoft.com/office/drawing/2014/main" id="{AFD4FB50-9E06-4935-B99A-D62C935BCBC6}"/>
              </a:ext>
            </a:extLst>
          </p:cNvPr>
          <p:cNvSpPr>
            <a:spLocks noGrp="1"/>
          </p:cNvSpPr>
          <p:nvPr/>
        </p:nvSpPr>
        <p:spPr>
          <a:xfrm>
            <a:off x="457200" y="1743075"/>
            <a:ext cx="11277600" cy="381000"/>
          </a:xfrm>
          <a:prstGeom prst="rect">
            <a:avLst/>
          </a:prstGeom>
          <a:noFill/>
          <a:ln w="0">
            <a:noFill/>
          </a:ln>
        </p:spPr>
        <p:txBody>
          <a:bodyPr wrap="square" lIns="0" tIns="0" rIns="0" bIns="0" anchor="t">
            <a:noAutofit/>
          </a:bodyPr>
          <a:lstStyle/>
          <a:p>
            <a:pPr algn="l">
              <a:defRPr sz="1800" b="0">
                <a:solidFill>
                  <a:srgbClr val="2B3139"/>
                </a:solidFill>
                <a:latin typeface="Geist"/>
                <a:ea typeface="Geist"/>
                <a:cs typeface="Geist"/>
              </a:defRPr>
            </a:pPr>
            <a:r>
              <a:rPr sz="1800" b="0">
                <a:solidFill>
                  <a:srgbClr val="2B3139"/>
                </a:solidFill>
                <a:latin typeface="Geist"/>
                <a:ea typeface="Geist"/>
                <a:cs typeface="Geist"/>
              </a:rPr>
              <a:t>Normalize one CPU expert evaluation to 1 unit.</a:t>
            </a:r>
          </a:p>
        </p:txBody>
      </p:sp>
      <p:sp>
        <p:nvSpPr>
          <p:cNvPr id="20" name="ρ = B_P / B_H ≈ 0.188       ">
            <a:extLst>
              <a:ext uri="{FF2B5EF4-FFF2-40B4-BE49-F238E27FC236}">
                <a16:creationId xmlns:a16="http://schemas.microsoft.com/office/drawing/2014/main" id="{E5E8BD45-EBBC-47F6-A61B-0DBB5DF1EE99}"/>
              </a:ext>
            </a:extLst>
          </p:cNvPr>
          <p:cNvSpPr>
            <a:spLocks noGrp="1"/>
          </p:cNvSpPr>
          <p:nvPr/>
        </p:nvSpPr>
        <p:spPr>
          <a:xfrm>
            <a:off x="457200" y="2276475"/>
            <a:ext cx="11277600" cy="428625"/>
          </a:xfrm>
          <a:prstGeom prst="rect">
            <a:avLst/>
          </a:prstGeom>
          <a:noFill/>
          <a:ln w="0">
            <a:noFill/>
          </a:ln>
        </p:spPr>
        <p:txBody>
          <a:bodyPr wrap="square" lIns="0" tIns="0" rIns="0" bIns="0" anchor="t">
            <a:noAutofit/>
          </a:bodyPr>
          <a:lstStyle/>
          <a:p>
            <a:pPr algn="l">
              <a:defRPr sz="1875" b="0">
                <a:solidFill>
                  <a:srgbClr val="1B2638"/>
                </a:solidFill>
                <a:latin typeface="Geist"/>
                <a:ea typeface="Geist"/>
                <a:cs typeface="Geist"/>
              </a:defRPr>
            </a:pPr>
            <a:r>
              <a:rPr sz="1875" b="0">
                <a:solidFill>
                  <a:srgbClr val="1B2638"/>
                </a:solidFill>
                <a:latin typeface="Geist"/>
                <a:ea typeface="Geist"/>
                <a:cs typeface="Geist"/>
              </a:rPr>
              <a:t>ρ = B_P / B_H ≈ 0.188       PCIe fetch cost ≈ 1/ρ = 5.32 units</a:t>
            </a:r>
          </a:p>
        </p:txBody>
      </p:sp>
      <p:sp>
        <p:nvSpPr>
          <p:cNvPr id="21" name="C(m,j) = max(j/ρ, m − j)">
            <a:extLst>
              <a:ext uri="{FF2B5EF4-FFF2-40B4-BE49-F238E27FC236}">
                <a16:creationId xmlns:a16="http://schemas.microsoft.com/office/drawing/2014/main" id="{ACE4B069-5537-4097-AB03-BA2A7F43EC0F}"/>
              </a:ext>
            </a:extLst>
          </p:cNvPr>
          <p:cNvSpPr>
            <a:spLocks noGrp="1"/>
          </p:cNvSpPr>
          <p:nvPr/>
        </p:nvSpPr>
        <p:spPr>
          <a:xfrm>
            <a:off x="457200" y="3086100"/>
            <a:ext cx="11277600" cy="571500"/>
          </a:xfrm>
          <a:prstGeom prst="rect">
            <a:avLst/>
          </a:prstGeom>
          <a:noFill/>
          <a:ln w="0">
            <a:noFill/>
          </a:ln>
        </p:spPr>
        <p:txBody>
          <a:bodyPr wrap="square" lIns="0" tIns="0" rIns="0" bIns="0" anchor="t">
            <a:noAutofit/>
          </a:bodyPr>
          <a:lstStyle/>
          <a:p>
            <a:pPr algn="l">
              <a:defRPr sz="2925" b="0">
                <a:solidFill>
                  <a:srgbClr val="1B2638"/>
                </a:solidFill>
                <a:latin typeface="Newsreader Medium"/>
                <a:ea typeface="Newsreader Medium"/>
                <a:cs typeface="Newsreader Medium"/>
              </a:defRPr>
            </a:pPr>
            <a:r>
              <a:rPr sz="2925" b="0">
                <a:solidFill>
                  <a:srgbClr val="1B2638"/>
                </a:solidFill>
                <a:latin typeface="Newsreader Medium"/>
                <a:ea typeface="Newsreader Medium"/>
                <a:cs typeface="Newsreader Medium"/>
              </a:rPr>
              <a:t>C(m,j) = max(j/ρ, m − j)</a:t>
            </a:r>
          </a:p>
        </p:txBody>
      </p:sp>
      <p:sp>
        <p:nvSpPr>
          <p:cNvPr id="22" name="j experts fetched: PCIe bran">
            <a:extLst>
              <a:ext uri="{FF2B5EF4-FFF2-40B4-BE49-F238E27FC236}">
                <a16:creationId xmlns:a16="http://schemas.microsoft.com/office/drawing/2014/main" id="{D1C2671E-7E0C-423B-AA59-B1B409826C39}"/>
              </a:ext>
            </a:extLst>
          </p:cNvPr>
          <p:cNvSpPr>
            <a:spLocks noGrp="1"/>
          </p:cNvSpPr>
          <p:nvPr/>
        </p:nvSpPr>
        <p:spPr>
          <a:xfrm>
            <a:off x="457200" y="3829050"/>
            <a:ext cx="11277600" cy="371475"/>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j experts fetched: PCIe branch = j/ρ, CPU branch = m − j.</a:t>
            </a:r>
          </a:p>
        </p:txBody>
      </p:sp>
      <p:sp>
        <p:nvSpPr>
          <p:cNvPr id="23" name="Δ(m,j) = C(m,j+1) − C(m,j)">
            <a:extLst>
              <a:ext uri="{FF2B5EF4-FFF2-40B4-BE49-F238E27FC236}">
                <a16:creationId xmlns:a16="http://schemas.microsoft.com/office/drawing/2014/main" id="{F1090795-A7D6-42D1-AA4C-2EC493A088BF}"/>
              </a:ext>
            </a:extLst>
          </p:cNvPr>
          <p:cNvSpPr>
            <a:spLocks noGrp="1"/>
          </p:cNvSpPr>
          <p:nvPr/>
        </p:nvSpPr>
        <p:spPr>
          <a:xfrm>
            <a:off x="457200" y="4543425"/>
            <a:ext cx="11277600" cy="542925"/>
          </a:xfrm>
          <a:prstGeom prst="rect">
            <a:avLst/>
          </a:prstGeom>
          <a:noFill/>
          <a:ln w="0">
            <a:noFill/>
          </a:ln>
        </p:spPr>
        <p:txBody>
          <a:bodyPr wrap="square" lIns="0" tIns="0" rIns="0" bIns="0" anchor="t">
            <a:noAutofit/>
          </a:bodyPr>
          <a:lstStyle/>
          <a:p>
            <a:pPr algn="l">
              <a:defRPr sz="2700" b="0">
                <a:solidFill>
                  <a:srgbClr val="7A2331"/>
                </a:solidFill>
                <a:latin typeface="Newsreader Medium"/>
                <a:ea typeface="Newsreader Medium"/>
                <a:cs typeface="Newsreader Medium"/>
              </a:defRPr>
            </a:pPr>
            <a:r>
              <a:rPr sz="2700" b="0">
                <a:solidFill>
                  <a:srgbClr val="7A2331"/>
                </a:solidFill>
                <a:latin typeface="Newsreader Medium"/>
                <a:ea typeface="Newsreader Medium"/>
                <a:cs typeface="Newsreader Medium"/>
              </a:rPr>
              <a:t>Δ(m,j) = C(m,j+1) − C(m,j)</a:t>
            </a:r>
          </a:p>
        </p:txBody>
      </p:sp>
      <p:sp>
        <p:nvSpPr>
          <p:cNvPr id="24" name="Rectangle 23">
            <a:extLst>
              <a:ext uri="{FF2B5EF4-FFF2-40B4-BE49-F238E27FC236}">
                <a16:creationId xmlns:a16="http://schemas.microsoft.com/office/drawing/2014/main" id="{A72DBE2E-C31C-4E80-B116-8CF2F46606F3}"/>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1396E244-0841-4A43-B399-EEF95FDD65E4}"/>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Example: m = 4">
            <a:extLst>
              <a:ext uri="{FF2B5EF4-FFF2-40B4-BE49-F238E27FC236}">
                <a16:creationId xmlns:a16="http://schemas.microsoft.com/office/drawing/2014/main" id="{C63FF65B-3208-4543-BD00-1A52A92184AE}"/>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Example: m = 4</a:t>
            </a:r>
          </a:p>
        </p:txBody>
      </p:sp>
      <p:sp>
        <p:nvSpPr>
          <p:cNvPr id="27" name="C(4,0) = 4 and C(4,1) = 5.32">
            <a:extLst>
              <a:ext uri="{FF2B5EF4-FFF2-40B4-BE49-F238E27FC236}">
                <a16:creationId xmlns:a16="http://schemas.microsoft.com/office/drawing/2014/main" id="{D074DC55-5788-47E6-AA64-DEEA1CC9DA7C}"/>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C(4,0) = 4 and C(4,1) = 5.32. First fetch adds only 1.32 units.</a:t>
            </a:r>
          </a:p>
        </p:txBody>
      </p:sp>
    </p:spTree>
    <p:extLst>
      <p:ext uri="{BB962C8B-B14F-4D97-AF65-F5344CB8AC3E}">
        <p14:creationId xmlns:p14="http://schemas.microsoft.com/office/powerpoint/2010/main" val="800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3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Future benefit depends on reuse and residency</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R = p × T_res">
            <a:extLst>
              <a:ext uri="{FF2B5EF4-FFF2-40B4-BE49-F238E27FC236}">
                <a16:creationId xmlns:a16="http://schemas.microsoft.com/office/drawing/2014/main" id="{0AE54DA6-9F33-44D3-9D14-A0CF6354EB0F}"/>
              </a:ext>
            </a:extLst>
          </p:cNvPr>
          <p:cNvSpPr>
            <a:spLocks noGrp="1"/>
          </p:cNvSpPr>
          <p:nvPr/>
        </p:nvSpPr>
        <p:spPr>
          <a:xfrm>
            <a:off x="457200" y="1743075"/>
            <a:ext cx="11277600" cy="628650"/>
          </a:xfrm>
          <a:prstGeom prst="rect">
            <a:avLst/>
          </a:prstGeom>
          <a:noFill/>
          <a:ln w="0">
            <a:noFill/>
          </a:ln>
        </p:spPr>
        <p:txBody>
          <a:bodyPr wrap="square" lIns="0" tIns="0" rIns="0" bIns="0" anchor="t">
            <a:noAutofit/>
          </a:bodyPr>
          <a:lstStyle/>
          <a:p>
            <a:pPr algn="l">
              <a:defRPr sz="3300" b="0">
                <a:solidFill>
                  <a:srgbClr val="7A2331"/>
                </a:solidFill>
                <a:latin typeface="Newsreader Medium"/>
                <a:ea typeface="Newsreader Medium"/>
                <a:cs typeface="Newsreader Medium"/>
              </a:defRPr>
            </a:pPr>
            <a:r>
              <a:rPr sz="3300" b="0">
                <a:solidFill>
                  <a:srgbClr val="7A2331"/>
                </a:solidFill>
                <a:latin typeface="Newsreader Medium"/>
                <a:ea typeface="Newsreader Medium"/>
                <a:cs typeface="Newsreader Medium"/>
              </a:rPr>
              <a:t>R = p × T_res</a:t>
            </a:r>
          </a:p>
        </p:txBody>
      </p:sp>
      <p:sp>
        <p:nvSpPr>
          <p:cNvPr id="20" name="Expected future CPU-expert w">
            <a:extLst>
              <a:ext uri="{FF2B5EF4-FFF2-40B4-BE49-F238E27FC236}">
                <a16:creationId xmlns:a16="http://schemas.microsoft.com/office/drawing/2014/main" id="{BB14C9F8-BAB7-4C34-B792-5F7BAB8298A7}"/>
              </a:ext>
            </a:extLst>
          </p:cNvPr>
          <p:cNvSpPr>
            <a:spLocks noGrp="1"/>
          </p:cNvSpPr>
          <p:nvPr/>
        </p:nvSpPr>
        <p:spPr>
          <a:xfrm>
            <a:off x="457200" y="2505075"/>
            <a:ext cx="11277600" cy="561975"/>
          </a:xfrm>
          <a:prstGeom prst="rect">
            <a:avLst/>
          </a:prstGeom>
          <a:noFill/>
          <a:ln w="0">
            <a:noFill/>
          </a:ln>
        </p:spPr>
        <p:txBody>
          <a:bodyPr wrap="square" lIns="0" tIns="0" rIns="0" bIns="0" anchor="t">
            <a:noAutofit/>
          </a:bodyPr>
          <a:lstStyle/>
          <a:p>
            <a:pPr algn="l">
              <a:defRPr sz="1725" b="0">
                <a:solidFill>
                  <a:srgbClr val="2B3139"/>
                </a:solidFill>
                <a:latin typeface="Geist"/>
                <a:ea typeface="Geist"/>
                <a:cs typeface="Geist"/>
              </a:defRPr>
            </a:pPr>
            <a:r>
              <a:rPr sz="1725" b="0">
                <a:solidFill>
                  <a:srgbClr val="2B3139"/>
                </a:solidFill>
                <a:latin typeface="Geist"/>
                <a:ea typeface="Geist"/>
                <a:cs typeface="Geist"/>
              </a:rPr>
              <a:t>Expected future CPU-expert work saved ≈ reuse probability per token × resident tokens.</a:t>
            </a:r>
          </a:p>
        </p:txBody>
      </p:sp>
      <p:graphicFrame>
        <p:nvGraphicFramePr>
          <p:cNvPr id="32" name="Table 31"/>
          <p:cNvGraphicFramePr/>
          <p:nvPr/>
        </p:nvGraphicFramePr>
        <p:xfrm>
          <a:off x="457200" y="3305175"/>
          <a:ext cx="11277600" cy="2030380"/>
        </p:xfrm>
        <a:graphic>
          <a:graphicData uri="http://schemas.openxmlformats.org/drawingml/2006/table">
            <a:tbl>
              <a:tblPr/>
              <a:tblGrid>
                <a:gridCol w="223837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848225">
                  <a:extLst>
                    <a:ext uri="{9D8B030D-6E8A-4147-A177-3AD203B41FA5}">
                      <a16:colId xmlns:a16="http://schemas.microsoft.com/office/drawing/2014/main" val="20002"/>
                    </a:ext>
                  </a:extLst>
                </a:gridCol>
              </a:tblGrid>
              <a:tr h="497681">
                <a:tc>
                  <a:txBody>
                    <a:bodyPr/>
                    <a:lstStyle/>
                    <a:p>
                      <a:r>
                        <a:rPr sz="1463" b="1">
                          <a:solidFill>
                            <a:srgbClr val="FFFFFF"/>
                          </a:solidFill>
                          <a:latin typeface="Geist"/>
                          <a:ea typeface="Geist"/>
                          <a:cs typeface="Geist"/>
                        </a:rPr>
                        <a:t>Quantity</a:t>
                      </a:r>
                    </a:p>
                  </a:txBody>
                  <a:tcPr anchor="ctr">
                    <a:solidFill>
                      <a:srgbClr val="4A5B70"/>
                    </a:solidFill>
                  </a:tcPr>
                </a:tc>
                <a:tc>
                  <a:txBody>
                    <a:bodyPr/>
                    <a:lstStyle/>
                    <a:p>
                      <a:r>
                        <a:rPr sz="1463" b="1">
                          <a:solidFill>
                            <a:srgbClr val="FFFFFF"/>
                          </a:solidFill>
                          <a:latin typeface="Geist"/>
                          <a:ea typeface="Geist"/>
                          <a:cs typeface="Geist"/>
                        </a:rPr>
                        <a:t>Simple estimate</a:t>
                      </a:r>
                    </a:p>
                  </a:txBody>
                  <a:tcPr anchor="ctr">
                    <a:solidFill>
                      <a:srgbClr val="4A5B70"/>
                    </a:solidFill>
                  </a:tcPr>
                </a:tc>
                <a:tc>
                  <a:txBody>
                    <a:bodyPr/>
                    <a:lstStyle/>
                    <a:p>
                      <a:r>
                        <a:rPr sz="1463" b="1">
                          <a:solidFill>
                            <a:srgbClr val="FFFFFF"/>
                          </a:solidFill>
                          <a:latin typeface="Geist"/>
                          <a:ea typeface="Geist"/>
                          <a:cs typeface="Geist"/>
                        </a:rPr>
                        <a:t>Intuition</a:t>
                      </a:r>
                    </a:p>
                  </a:txBody>
                  <a:tcPr anchor="ctr">
                    <a:solidFill>
                      <a:srgbClr val="4A5B70"/>
                    </a:solidFill>
                  </a:tcPr>
                </a:tc>
                <a:extLst>
                  <a:ext uri="{0D108BD9-81ED-4DB2-BD59-A6C34878D82A}">
                    <a16:rowId xmlns:a16="http://schemas.microsoft.com/office/drawing/2014/main" val="10000"/>
                  </a:ext>
                </a:extLst>
              </a:tr>
              <a:tr h="497681">
                <a:tc>
                  <a:txBody>
                    <a:bodyPr/>
                    <a:lstStyle/>
                    <a:p>
                      <a:r>
                        <a:rPr sz="1463" b="0">
                          <a:solidFill>
                            <a:srgbClr val="2B3139"/>
                          </a:solidFill>
                          <a:latin typeface="Geist"/>
                          <a:ea typeface="Geist"/>
                          <a:cs typeface="Geist"/>
                        </a:rPr>
                        <a:t>p</a:t>
                      </a:r>
                    </a:p>
                  </a:txBody>
                  <a:tcPr anchor="ctr">
                    <a:solidFill>
                      <a:srgbClr val="FFFFFF"/>
                    </a:solidFill>
                  </a:tcPr>
                </a:tc>
                <a:tc>
                  <a:txBody>
                    <a:bodyPr/>
                    <a:lstStyle/>
                    <a:p>
                      <a:r>
                        <a:rPr sz="1463" b="0">
                          <a:solidFill>
                            <a:srgbClr val="2B3139"/>
                          </a:solidFill>
                          <a:latin typeface="Geist"/>
                          <a:ea typeface="Geist"/>
                          <a:cs typeface="Geist"/>
                        </a:rPr>
                        <a:t>top_k / E = 4 / 32 = 0.125</a:t>
                      </a:r>
                    </a:p>
                  </a:txBody>
                  <a:tcPr anchor="ctr">
                    <a:solidFill>
                      <a:srgbClr val="FFFFFF"/>
                    </a:solidFill>
                  </a:tcPr>
                </a:tc>
                <a:tc>
                  <a:txBody>
                    <a:bodyPr/>
                    <a:lstStyle/>
                    <a:p>
                      <a:r>
                        <a:rPr sz="1463" b="0">
                          <a:solidFill>
                            <a:srgbClr val="2B3139"/>
                          </a:solidFill>
                          <a:latin typeface="Geist"/>
                          <a:ea typeface="Geist"/>
                          <a:cs typeface="Geist"/>
                        </a:rPr>
                        <a:t>An expert is requested on 12.5% of tokens</a:t>
                      </a:r>
                    </a:p>
                  </a:txBody>
                  <a:tcPr anchor="ctr">
                    <a:solidFill>
                      <a:srgbClr val="FFFFFF"/>
                    </a:solidFill>
                  </a:tcPr>
                </a:tc>
                <a:extLst>
                  <a:ext uri="{0D108BD9-81ED-4DB2-BD59-A6C34878D82A}">
                    <a16:rowId xmlns:a16="http://schemas.microsoft.com/office/drawing/2014/main" val="10001"/>
                  </a:ext>
                </a:extLst>
              </a:tr>
              <a:tr h="497681">
                <a:tc>
                  <a:txBody>
                    <a:bodyPr/>
                    <a:lstStyle/>
                    <a:p>
                      <a:r>
                        <a:rPr sz="1463" b="0">
                          <a:solidFill>
                            <a:srgbClr val="2B3139"/>
                          </a:solidFill>
                          <a:latin typeface="Geist"/>
                          <a:ea typeface="Geist"/>
                          <a:cs typeface="Geist"/>
                        </a:rPr>
                        <a:t>T_res with a free slot</a:t>
                      </a:r>
                    </a:p>
                  </a:txBody>
                  <a:tcPr anchor="ctr">
                    <a:solidFill>
                      <a:srgbClr val="FAF7F0"/>
                    </a:solidFill>
                  </a:tcPr>
                </a:tc>
                <a:tc>
                  <a:txBody>
                    <a:bodyPr/>
                    <a:lstStyle/>
                    <a:p>
                      <a:r>
                        <a:rPr sz="1463" b="0">
                          <a:solidFill>
                            <a:srgbClr val="2B3139"/>
                          </a:solidFill>
                          <a:latin typeface="Geist"/>
                          <a:ea typeface="Geist"/>
                          <a:cs typeface="Geist"/>
                        </a:rPr>
                        <a:t>T_free = 32 tokens</a:t>
                      </a:r>
                    </a:p>
                  </a:txBody>
                  <a:tcPr anchor="ctr">
                    <a:solidFill>
                      <a:srgbClr val="FAF7F0"/>
                    </a:solidFill>
                  </a:tcPr>
                </a:tc>
                <a:tc>
                  <a:txBody>
                    <a:bodyPr/>
                    <a:lstStyle/>
                    <a:p>
                      <a:r>
                        <a:rPr sz="1463" b="0">
                          <a:solidFill>
                            <a:srgbClr val="2B3139"/>
                          </a:solidFill>
                          <a:latin typeface="Geist"/>
                          <a:ea typeface="Geist"/>
                          <a:cs typeface="Geist"/>
                        </a:rPr>
                        <a:t>A fixed assumed residency horizon</a:t>
                      </a:r>
                    </a:p>
                  </a:txBody>
                  <a:tcPr anchor="ctr">
                    <a:solidFill>
                      <a:srgbClr val="FAF7F0"/>
                    </a:solidFill>
                  </a:tcPr>
                </a:tc>
                <a:extLst>
                  <a:ext uri="{0D108BD9-81ED-4DB2-BD59-A6C34878D82A}">
                    <a16:rowId xmlns:a16="http://schemas.microsoft.com/office/drawing/2014/main" val="10002"/>
                  </a:ext>
                </a:extLst>
              </a:tr>
              <a:tr h="497681">
                <a:tc>
                  <a:txBody>
                    <a:bodyPr/>
                    <a:lstStyle/>
                    <a:p>
                      <a:r>
                        <a:rPr sz="1463" b="0">
                          <a:solidFill>
                            <a:srgbClr val="2B3139"/>
                          </a:solidFill>
                          <a:latin typeface="Geist"/>
                          <a:ea typeface="Geist"/>
                          <a:cs typeface="Geist"/>
                        </a:rPr>
                        <a:t>T_res when cache is full</a:t>
                      </a:r>
                    </a:p>
                  </a:txBody>
                  <a:tcPr anchor="ctr">
                    <a:solidFill>
                      <a:srgbClr val="FFFFFF"/>
                    </a:solidFill>
                  </a:tcPr>
                </a:tc>
                <a:tc>
                  <a:txBody>
                    <a:bodyPr/>
                    <a:lstStyle/>
                    <a:p>
                      <a:r>
                        <a:rPr sz="1463" b="0">
                          <a:solidFill>
                            <a:srgbClr val="2B3139"/>
                          </a:solidFill>
                          <a:latin typeface="Geist"/>
                          <a:ea typeface="Geist"/>
                          <a:cs typeface="Geist"/>
                        </a:rPr>
                        <a:t>Age of the LRU victim</a:t>
                      </a:r>
                    </a:p>
                  </a:txBody>
                  <a:tcPr anchor="ctr">
                    <a:solidFill>
                      <a:srgbClr val="FFFFFF"/>
                    </a:solidFill>
                  </a:tcPr>
                </a:tc>
                <a:tc>
                  <a:txBody>
                    <a:bodyPr/>
                    <a:lstStyle/>
                    <a:p>
                      <a:r>
                        <a:rPr sz="1463" b="0">
                          <a:solidFill>
                            <a:srgbClr val="2B3139"/>
                          </a:solidFill>
                          <a:latin typeface="Geist"/>
                          <a:ea typeface="Geist"/>
                          <a:cs typeface="Geist"/>
                        </a:rPr>
                        <a:t>A proxy for the current cache lifetime scale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22" name="Rectangle 21">
            <a:extLst>
              <a:ext uri="{FF2B5EF4-FFF2-40B4-BE49-F238E27FC236}">
                <a16:creationId xmlns:a16="http://schemas.microsoft.com/office/drawing/2014/main" id="{755B5CD1-E9C1-479F-BC80-8192D7CBC341}"/>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3" name="Rectangle 22">
            <a:extLst>
              <a:ext uri="{FF2B5EF4-FFF2-40B4-BE49-F238E27FC236}">
                <a16:creationId xmlns:a16="http://schemas.microsoft.com/office/drawing/2014/main" id="{D6C34DD9-780F-4F30-9DDF-E442FE169FF0}"/>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4" name="Example">
            <a:extLst>
              <a:ext uri="{FF2B5EF4-FFF2-40B4-BE49-F238E27FC236}">
                <a16:creationId xmlns:a16="http://schemas.microsoft.com/office/drawing/2014/main" id="{0F6EE9DA-EF87-4A15-AF44-4E39EB196122}"/>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Example</a:t>
            </a:r>
          </a:p>
        </p:txBody>
      </p:sp>
      <p:sp>
        <p:nvSpPr>
          <p:cNvPr id="25" name="Free slot: R = 0.125 × 32 = ">
            <a:extLst>
              <a:ext uri="{FF2B5EF4-FFF2-40B4-BE49-F238E27FC236}">
                <a16:creationId xmlns:a16="http://schemas.microsoft.com/office/drawing/2014/main" id="{591304CC-E6E2-47D8-8BF9-734517F1A74C}"/>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Free slot: R = 0.125 × 32 = 4. Full cache with age 8: R = 1.</a:t>
            </a:r>
          </a:p>
        </p:txBody>
      </p:sp>
    </p:spTree>
    <p:extLst>
      <p:ext uri="{BB962C8B-B14F-4D97-AF65-F5344CB8AC3E}">
        <p14:creationId xmlns:p14="http://schemas.microsoft.com/office/powerpoint/2010/main" val="800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REUSE-AWARE · DERIVATION 4 OF 4</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The final rule compares benefit with marginal cost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19" name="Fetch the next expert while ">
            <a:extLst>
              <a:ext uri="{FF2B5EF4-FFF2-40B4-BE49-F238E27FC236}">
                <a16:creationId xmlns:a16="http://schemas.microsoft.com/office/drawing/2014/main" id="{CCCBE23B-0D82-45A0-8064-EE64E731114D}"/>
              </a:ext>
            </a:extLst>
          </p:cNvPr>
          <p:cNvSpPr>
            <a:spLocks noGrp="1"/>
          </p:cNvSpPr>
          <p:nvPr/>
        </p:nvSpPr>
        <p:spPr>
          <a:xfrm>
            <a:off x="457200" y="1724025"/>
            <a:ext cx="11277600" cy="476250"/>
          </a:xfrm>
          <a:prstGeom prst="rect">
            <a:avLst/>
          </a:prstGeom>
          <a:noFill/>
          <a:ln w="0">
            <a:noFill/>
          </a:ln>
        </p:spPr>
        <p:txBody>
          <a:bodyPr wrap="square" lIns="0" tIns="0" rIns="0" bIns="0" anchor="t">
            <a:noAutofit/>
          </a:bodyPr>
          <a:lstStyle/>
          <a:p>
            <a:pPr algn="l">
              <a:defRPr sz="2325" b="0">
                <a:solidFill>
                  <a:srgbClr val="7A2331"/>
                </a:solidFill>
                <a:latin typeface="Newsreader Medium"/>
                <a:ea typeface="Newsreader Medium"/>
                <a:cs typeface="Newsreader Medium"/>
              </a:defRPr>
            </a:pPr>
            <a:r>
              <a:rPr sz="2325" b="0">
                <a:solidFill>
                  <a:srgbClr val="7A2331"/>
                </a:solidFill>
                <a:latin typeface="Newsreader Medium"/>
                <a:ea typeface="Newsreader Medium"/>
                <a:cs typeface="Newsreader Medium"/>
              </a:rPr>
              <a:t>Fetch the next expert while  R ≥ κ Δ(m,j),   κ = 1</a:t>
            </a:r>
          </a:p>
        </p:txBody>
      </p:sp>
      <p:sp>
        <p:nvSpPr>
          <p:cNvPr id="20" name="p T_res ≥ max((j+1)/ρ, m−j−1">
            <a:extLst>
              <a:ext uri="{FF2B5EF4-FFF2-40B4-BE49-F238E27FC236}">
                <a16:creationId xmlns:a16="http://schemas.microsoft.com/office/drawing/2014/main" id="{50C7DBEC-2DC8-4D2B-BA64-0506E69B362A}"/>
              </a:ext>
            </a:extLst>
          </p:cNvPr>
          <p:cNvSpPr>
            <a:spLocks noGrp="1"/>
          </p:cNvSpPr>
          <p:nvPr/>
        </p:nvSpPr>
        <p:spPr>
          <a:xfrm>
            <a:off x="457200" y="2343150"/>
            <a:ext cx="11277600" cy="438150"/>
          </a:xfrm>
          <a:prstGeom prst="rect">
            <a:avLst/>
          </a:prstGeom>
          <a:noFill/>
          <a:ln w="0">
            <a:noFill/>
          </a:ln>
        </p:spPr>
        <p:txBody>
          <a:bodyPr wrap="square" lIns="0" tIns="0" rIns="0" bIns="0" anchor="t">
            <a:noAutofit/>
          </a:bodyPr>
          <a:lstStyle/>
          <a:p>
            <a:pPr algn="l">
              <a:defRPr sz="2025" b="0">
                <a:solidFill>
                  <a:srgbClr val="1B2638"/>
                </a:solidFill>
                <a:latin typeface="Geist"/>
                <a:ea typeface="Geist"/>
                <a:cs typeface="Geist"/>
              </a:defRPr>
            </a:pPr>
            <a:r>
              <a:rPr sz="2025" b="0">
                <a:solidFill>
                  <a:srgbClr val="1B2638"/>
                </a:solidFill>
                <a:latin typeface="Geist"/>
                <a:ea typeface="Geist"/>
                <a:cs typeface="Geist"/>
              </a:rPr>
              <a:t>p T_res ≥ max((j+1)/ρ, m−j−1) − max(j/ρ, m−j)</a:t>
            </a:r>
          </a:p>
        </p:txBody>
      </p:sp>
      <p:sp>
        <p:nvSpPr>
          <p:cNvPr id="21" name="Start j = 0. Accept one more">
            <a:extLst>
              <a:ext uri="{FF2B5EF4-FFF2-40B4-BE49-F238E27FC236}">
                <a16:creationId xmlns:a16="http://schemas.microsoft.com/office/drawing/2014/main" id="{97A74568-F1F0-4804-B147-155E01694E25}"/>
              </a:ext>
            </a:extLst>
          </p:cNvPr>
          <p:cNvSpPr>
            <a:spLocks noGrp="1"/>
          </p:cNvSpPr>
          <p:nvPr/>
        </p:nvSpPr>
        <p:spPr>
          <a:xfrm>
            <a:off x="457200" y="2914650"/>
            <a:ext cx="11277600" cy="523875"/>
          </a:xfrm>
          <a:prstGeom prst="rect">
            <a:avLst/>
          </a:prstGeom>
          <a:noFill/>
          <a:ln w="0">
            <a:noFill/>
          </a:ln>
        </p:spPr>
        <p:txBody>
          <a:bodyPr wrap="square" lIns="0" tIns="0" rIns="0" bIns="0" anchor="t">
            <a:noAutofit/>
          </a:bodyPr>
          <a:lstStyle/>
          <a:p>
            <a:pPr algn="l">
              <a:defRPr sz="1650" b="0">
                <a:solidFill>
                  <a:srgbClr val="2B3139"/>
                </a:solidFill>
                <a:latin typeface="Geist"/>
                <a:ea typeface="Geist"/>
                <a:cs typeface="Geist"/>
              </a:defRPr>
            </a:pPr>
            <a:r>
              <a:rPr sz="1650" b="0">
                <a:solidFill>
                  <a:srgbClr val="2B3139"/>
                </a:solidFill>
                <a:latin typeface="Geist"/>
                <a:ea typeface="Geist"/>
                <a:cs typeface="Geist"/>
              </a:rPr>
              <a:t>Start j = 0. Accept one more while the condition holds. Stop on failure and set q = j.</a:t>
            </a:r>
          </a:p>
        </p:txBody>
      </p:sp>
      <p:graphicFrame>
        <p:nvGraphicFramePr>
          <p:cNvPr id="35" name="Table 34"/>
          <p:cNvGraphicFramePr/>
          <p:nvPr/>
        </p:nvGraphicFramePr>
        <p:xfrm>
          <a:off x="457200" y="3648075"/>
          <a:ext cx="11277600" cy="1381125"/>
        </p:xfrm>
        <a:graphic>
          <a:graphicData uri="http://schemas.openxmlformats.org/drawingml/2006/table">
            <a:tbl>
              <a:tblPr/>
              <a:tblGrid>
                <a:gridCol w="5000625">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133725">
                  <a:extLst>
                    <a:ext uri="{9D8B030D-6E8A-4147-A177-3AD203B41FA5}">
                      <a16:colId xmlns:a16="http://schemas.microsoft.com/office/drawing/2014/main" val="20002"/>
                    </a:ext>
                  </a:extLst>
                </a:gridCol>
              </a:tblGrid>
              <a:tr h="460375">
                <a:tc>
                  <a:txBody>
                    <a:bodyPr/>
                    <a:lstStyle/>
                    <a:p>
                      <a:r>
                        <a:rPr sz="1500" b="1">
                          <a:solidFill>
                            <a:srgbClr val="FFFFFF"/>
                          </a:solidFill>
                          <a:latin typeface="Geist"/>
                          <a:ea typeface="Geist"/>
                          <a:cs typeface="Geist"/>
                        </a:rPr>
                        <a:t>m = 4, free space: R = 4</a:t>
                      </a:r>
                    </a:p>
                  </a:txBody>
                  <a:tcPr anchor="ctr">
                    <a:solidFill>
                      <a:srgbClr val="4A5B70"/>
                    </a:solidFill>
                  </a:tcPr>
                </a:tc>
                <a:tc>
                  <a:txBody>
                    <a:bodyPr/>
                    <a:lstStyle/>
                    <a:p>
                      <a:r>
                        <a:rPr sz="1500" b="1">
                          <a:solidFill>
                            <a:srgbClr val="FFFFFF"/>
                          </a:solidFill>
                          <a:latin typeface="Geist"/>
                          <a:ea typeface="Geist"/>
                          <a:cs typeface="Geist"/>
                        </a:rPr>
                        <a:t>Marginal cost Δ</a:t>
                      </a:r>
                    </a:p>
                  </a:txBody>
                  <a:tcPr anchor="ctr">
                    <a:solidFill>
                      <a:srgbClr val="4A5B70"/>
                    </a:solidFill>
                  </a:tcPr>
                </a:tc>
                <a:tc>
                  <a:txBody>
                    <a:bodyPr/>
                    <a:lstStyle/>
                    <a:p>
                      <a:r>
                        <a:rPr sz="1500" b="1">
                          <a:solidFill>
                            <a:srgbClr val="FFFFFF"/>
                          </a:solidFill>
                          <a:latin typeface="Geist"/>
                          <a:ea typeface="Geist"/>
                          <a:cs typeface="Geist"/>
                        </a:rPr>
                        <a:t>Decision</a:t>
                      </a:r>
                    </a:p>
                  </a:txBody>
                  <a:tcPr anchor="ctr">
                    <a:solidFill>
                      <a:srgbClr val="4A5B70"/>
                    </a:solidFill>
                  </a:tcPr>
                </a:tc>
                <a:extLst>
                  <a:ext uri="{0D108BD9-81ED-4DB2-BD59-A6C34878D82A}">
                    <a16:rowId xmlns:a16="http://schemas.microsoft.com/office/drawing/2014/main" val="10000"/>
                  </a:ext>
                </a:extLst>
              </a:tr>
              <a:tr h="460375">
                <a:tc>
                  <a:txBody>
                    <a:bodyPr/>
                    <a:lstStyle/>
                    <a:p>
                      <a:r>
                        <a:rPr sz="1500" b="0">
                          <a:solidFill>
                            <a:srgbClr val="2B3139"/>
                          </a:solidFill>
                          <a:latin typeface="Geist"/>
                          <a:ea typeface="Geist"/>
                          <a:cs typeface="Geist"/>
                        </a:rPr>
                        <a:t>First fetch: C(4,1) − C(4,0)</a:t>
                      </a:r>
                    </a:p>
                  </a:txBody>
                  <a:tcPr anchor="ctr">
                    <a:solidFill>
                      <a:srgbClr val="FFFFFF"/>
                    </a:solidFill>
                  </a:tcPr>
                </a:tc>
                <a:tc>
                  <a:txBody>
                    <a:bodyPr/>
                    <a:lstStyle/>
                    <a:p>
                      <a:r>
                        <a:rPr sz="1500" b="0">
                          <a:solidFill>
                            <a:srgbClr val="2B3139"/>
                          </a:solidFill>
                          <a:latin typeface="Geist"/>
                          <a:ea typeface="Geist"/>
                          <a:cs typeface="Geist"/>
                        </a:rPr>
                        <a:t>5.32 − 4 = 1.32</a:t>
                      </a:r>
                    </a:p>
                  </a:txBody>
                  <a:tcPr anchor="ctr">
                    <a:solidFill>
                      <a:srgbClr val="FFFFFF"/>
                    </a:solidFill>
                  </a:tcPr>
                </a:tc>
                <a:tc>
                  <a:txBody>
                    <a:bodyPr/>
                    <a:lstStyle/>
                    <a:p>
                      <a:r>
                        <a:rPr sz="1500" b="0">
                          <a:solidFill>
                            <a:srgbClr val="2B3139"/>
                          </a:solidFill>
                          <a:latin typeface="Geist"/>
                          <a:ea typeface="Geist"/>
                          <a:cs typeface="Geist"/>
                        </a:rPr>
                        <a:t>4 ≥ 1.32: accept</a:t>
                      </a:r>
                    </a:p>
                  </a:txBody>
                  <a:tcPr anchor="ctr">
                    <a:solidFill>
                      <a:srgbClr val="FFFFFF"/>
                    </a:solidFill>
                  </a:tcPr>
                </a:tc>
                <a:extLst>
                  <a:ext uri="{0D108BD9-81ED-4DB2-BD59-A6C34878D82A}">
                    <a16:rowId xmlns:a16="http://schemas.microsoft.com/office/drawing/2014/main" val="10001"/>
                  </a:ext>
                </a:extLst>
              </a:tr>
              <a:tr h="460375">
                <a:tc>
                  <a:txBody>
                    <a:bodyPr/>
                    <a:lstStyle/>
                    <a:p>
                      <a:r>
                        <a:rPr sz="1500" b="0">
                          <a:solidFill>
                            <a:srgbClr val="2B3139"/>
                          </a:solidFill>
                          <a:latin typeface="Geist"/>
                          <a:ea typeface="Geist"/>
                          <a:cs typeface="Geist"/>
                        </a:rPr>
                        <a:t>Second fetch: C(4,2) − C(4,1)</a:t>
                      </a:r>
                    </a:p>
                  </a:txBody>
                  <a:tcPr anchor="ctr">
                    <a:solidFill>
                      <a:srgbClr val="FAF7F0"/>
                    </a:solidFill>
                  </a:tcPr>
                </a:tc>
                <a:tc>
                  <a:txBody>
                    <a:bodyPr/>
                    <a:lstStyle/>
                    <a:p>
                      <a:r>
                        <a:rPr sz="1500" b="0">
                          <a:solidFill>
                            <a:srgbClr val="2B3139"/>
                          </a:solidFill>
                          <a:latin typeface="Geist"/>
                          <a:ea typeface="Geist"/>
                          <a:cs typeface="Geist"/>
                        </a:rPr>
                        <a:t>10.64 − 5.32 = 5.32</a:t>
                      </a:r>
                    </a:p>
                  </a:txBody>
                  <a:tcPr anchor="ctr">
                    <a:solidFill>
                      <a:srgbClr val="FAF7F0"/>
                    </a:solidFill>
                  </a:tcPr>
                </a:tc>
                <a:tc>
                  <a:txBody>
                    <a:bodyPr/>
                    <a:lstStyle/>
                    <a:p>
                      <a:r>
                        <a:rPr sz="1500" b="0">
                          <a:solidFill>
                            <a:srgbClr val="2B3139"/>
                          </a:solidFill>
                          <a:latin typeface="Geist"/>
                          <a:ea typeface="Geist"/>
                          <a:cs typeface="Geist"/>
                        </a:rPr>
                        <a:t>4 &lt; 5.32: stop, q = 1</a:t>
                      </a:r>
                    </a:p>
                  </a:txBody>
                  <a:tcPr anchor="ctr">
                    <a:solidFill>
                      <a:srgbClr val="FAF7F0"/>
                    </a:solidFill>
                  </a:tcPr>
                </a:tc>
                <a:extLst>
                  <a:ext uri="{0D108BD9-81ED-4DB2-BD59-A6C34878D82A}">
                    <a16:rowId xmlns:a16="http://schemas.microsoft.com/office/drawing/2014/main" val="10002"/>
                  </a:ext>
                </a:extLst>
              </a:tr>
            </a:tbl>
          </a:graphicData>
        </a:graphic>
      </p:graphicFrame>
      <p:sp>
        <p:nvSpPr>
          <p:cNvPr id="23" name="With m = 1, the first fetch ">
            <a:extLst>
              <a:ext uri="{FF2B5EF4-FFF2-40B4-BE49-F238E27FC236}">
                <a16:creationId xmlns:a16="http://schemas.microsoft.com/office/drawing/2014/main" id="{00892A55-F040-469D-87B7-2B7793FF3A6A}"/>
              </a:ext>
            </a:extLst>
          </p:cNvPr>
          <p:cNvSpPr>
            <a:spLocks noGrp="1"/>
          </p:cNvSpPr>
          <p:nvPr/>
        </p:nvSpPr>
        <p:spPr>
          <a:xfrm>
            <a:off x="457200" y="5257800"/>
            <a:ext cx="11277600" cy="3619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With m = 1, the first fetch costs 4.32 units, so R = 4 gives q = 0.</a:t>
            </a:r>
          </a:p>
        </p:txBody>
      </p:sp>
      <p:sp>
        <p:nvSpPr>
          <p:cNvPr id="24" name="Rectangle 23">
            <a:extLst>
              <a:ext uri="{FF2B5EF4-FFF2-40B4-BE49-F238E27FC236}">
                <a16:creationId xmlns:a16="http://schemas.microsoft.com/office/drawing/2014/main" id="{2AB1F565-B3E6-4DF8-8B35-774B4CC8F0A8}"/>
              </a:ext>
            </a:extLst>
          </p:cNvPr>
          <p:cNvSpPr>
            <a:spLocks noGrp="1"/>
          </p:cNvSpPr>
          <p:nvPr/>
        </p:nvSpPr>
        <p:spPr>
          <a:xfrm>
            <a:off x="457200" y="5791200"/>
            <a:ext cx="11277600" cy="600075"/>
          </a:xfrm>
          <a:prstGeom prst="rect">
            <a:avLst/>
          </a:prstGeom>
          <a:solidFill>
            <a:srgbClr val="EFEAE0"/>
          </a:solidFill>
          <a:ln w="0">
            <a:noFill/>
          </a:ln>
        </p:spPr>
        <p:txBody>
          <a:bodyPr wrap="square" lIns="0" tIns="0" rIns="0" bIns="0" anchor="t">
            <a:noAutofit/>
          </a:bodyPr>
          <a:lstStyle/>
          <a:p>
            <a:endParaRPr/>
          </a:p>
        </p:txBody>
      </p:sp>
      <p:sp>
        <p:nvSpPr>
          <p:cNvPr id="25" name="Rectangle 24">
            <a:extLst>
              <a:ext uri="{FF2B5EF4-FFF2-40B4-BE49-F238E27FC236}">
                <a16:creationId xmlns:a16="http://schemas.microsoft.com/office/drawing/2014/main" id="{30161DB6-506F-43F4-A38C-49D36B792E01}"/>
              </a:ext>
            </a:extLst>
          </p:cNvPr>
          <p:cNvSpPr>
            <a:spLocks noGrp="1"/>
          </p:cNvSpPr>
          <p:nvPr/>
        </p:nvSpPr>
        <p:spPr>
          <a:xfrm>
            <a:off x="457200" y="5791200"/>
            <a:ext cx="28575" cy="600075"/>
          </a:xfrm>
          <a:prstGeom prst="rect">
            <a:avLst/>
          </a:prstGeom>
          <a:solidFill>
            <a:srgbClr val="7A2331"/>
          </a:solidFill>
          <a:ln w="0">
            <a:noFill/>
          </a:ln>
        </p:spPr>
        <p:txBody>
          <a:bodyPr wrap="square" lIns="0" tIns="0" rIns="0" bIns="0" anchor="t">
            <a:noAutofit/>
          </a:bodyPr>
          <a:lstStyle/>
          <a:p>
            <a:endParaRPr/>
          </a:p>
        </p:txBody>
      </p:sp>
      <p:sp>
        <p:nvSpPr>
          <p:cNvPr id="26" name="Full-cache thresholds">
            <a:extLst>
              <a:ext uri="{FF2B5EF4-FFF2-40B4-BE49-F238E27FC236}">
                <a16:creationId xmlns:a16="http://schemas.microsoft.com/office/drawing/2014/main" id="{CB337B7F-9C4E-44F8-8CFD-9710E2456BAF}"/>
              </a:ext>
            </a:extLst>
          </p:cNvPr>
          <p:cNvSpPr>
            <a:spLocks noGrp="1"/>
          </p:cNvSpPr>
          <p:nvPr/>
        </p:nvSpPr>
        <p:spPr>
          <a:xfrm>
            <a:off x="647700" y="5915025"/>
            <a:ext cx="1428750" cy="4572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Full-cache thresholds</a:t>
            </a:r>
          </a:p>
        </p:txBody>
      </p:sp>
      <p:sp>
        <p:nvSpPr>
          <p:cNvPr id="27" name="First fetch needs LRU age ≈ ">
            <a:extLst>
              <a:ext uri="{FF2B5EF4-FFF2-40B4-BE49-F238E27FC236}">
                <a16:creationId xmlns:a16="http://schemas.microsoft.com/office/drawing/2014/main" id="{F6460CCC-FB4F-4841-AF48-0F424C3E1F23}"/>
              </a:ext>
            </a:extLst>
          </p:cNvPr>
          <p:cNvSpPr>
            <a:spLocks noGrp="1"/>
          </p:cNvSpPr>
          <p:nvPr/>
        </p:nvSpPr>
        <p:spPr>
          <a:xfrm>
            <a:off x="2076450" y="5915025"/>
            <a:ext cx="9458325" cy="4572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First fetch needs LRU age ≈ 11, 19, 27, 35 tokens for m = 4, 3, 2, 1.</a:t>
            </a:r>
          </a:p>
        </p:txBody>
      </p:sp>
    </p:spTree>
    <p:extLst>
      <p:ext uri="{BB962C8B-B14F-4D97-AF65-F5344CB8AC3E}">
        <p14:creationId xmlns:p14="http://schemas.microsoft.com/office/powerpoint/2010/main" val="800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RESULTS AND SCOPE</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Reuse-Aware improved sustained decode on this setup</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31" name="Table 30"/>
          <p:cNvGraphicFramePr/>
          <p:nvPr/>
        </p:nvGraphicFramePr>
        <p:xfrm>
          <a:off x="457200" y="1762125"/>
          <a:ext cx="11277600" cy="2466975"/>
        </p:xfrm>
        <a:graphic>
          <a:graphicData uri="http://schemas.openxmlformats.org/drawingml/2006/table">
            <a:tbl>
              <a:tblPr/>
              <a:tblGrid>
                <a:gridCol w="4048125">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800225">
                  <a:extLst>
                    <a:ext uri="{9D8B030D-6E8A-4147-A177-3AD203B41FA5}">
                      <a16:colId xmlns:a16="http://schemas.microsoft.com/office/drawing/2014/main" val="20004"/>
                    </a:ext>
                  </a:extLst>
                </a:gridCol>
              </a:tblGrid>
              <a:tr h="493395">
                <a:tc>
                  <a:txBody>
                    <a:bodyPr/>
                    <a:lstStyle/>
                    <a:p>
                      <a:r>
                        <a:rPr sz="1500" b="1">
                          <a:solidFill>
                            <a:srgbClr val="FFFFFF"/>
                          </a:solidFill>
                          <a:latin typeface="Geist"/>
                          <a:ea typeface="Geist"/>
                          <a:cs typeface="Geist"/>
                        </a:rPr>
                        <a:t>Policy</a:t>
                      </a:r>
                    </a:p>
                  </a:txBody>
                  <a:tcPr anchor="ctr">
                    <a:solidFill>
                      <a:srgbClr val="4A5B70"/>
                    </a:solidFill>
                  </a:tcPr>
                </a:tc>
                <a:tc>
                  <a:txBody>
                    <a:bodyPr/>
                    <a:lstStyle/>
                    <a:p>
                      <a:r>
                        <a:rPr sz="1500" b="1">
                          <a:solidFill>
                            <a:srgbClr val="FFFFFF"/>
                          </a:solidFill>
                          <a:latin typeface="Geist"/>
                          <a:ea typeface="Geist"/>
                          <a:cs typeface="Geist"/>
                        </a:rPr>
                        <a:t>Low miss</a:t>
                      </a:r>
                    </a:p>
                  </a:txBody>
                  <a:tcPr anchor="ctr">
                    <a:solidFill>
                      <a:srgbClr val="4A5B70"/>
                    </a:solidFill>
                  </a:tcPr>
                </a:tc>
                <a:tc>
                  <a:txBody>
                    <a:bodyPr/>
                    <a:lstStyle/>
                    <a:p>
                      <a:r>
                        <a:rPr sz="1500" b="1">
                          <a:solidFill>
                            <a:srgbClr val="FFFFFF"/>
                          </a:solidFill>
                          <a:latin typeface="Geist"/>
                          <a:ea typeface="Geist"/>
                          <a:cs typeface="Geist"/>
                        </a:rPr>
                        <a:t>Medium miss</a:t>
                      </a:r>
                    </a:p>
                  </a:txBody>
                  <a:tcPr anchor="ctr">
                    <a:solidFill>
                      <a:srgbClr val="4A5B70"/>
                    </a:solidFill>
                  </a:tcPr>
                </a:tc>
                <a:tc>
                  <a:txBody>
                    <a:bodyPr/>
                    <a:lstStyle/>
                    <a:p>
                      <a:r>
                        <a:rPr sz="1500" b="1">
                          <a:solidFill>
                            <a:srgbClr val="FFFFFF"/>
                          </a:solidFill>
                          <a:latin typeface="Geist"/>
                          <a:ea typeface="Geist"/>
                          <a:cs typeface="Geist"/>
                        </a:rPr>
                        <a:t>High miss</a:t>
                      </a:r>
                    </a:p>
                  </a:txBody>
                  <a:tcPr anchor="ctr">
                    <a:solidFill>
                      <a:srgbClr val="4A5B70"/>
                    </a:solidFill>
                  </a:tcPr>
                </a:tc>
                <a:tc>
                  <a:txBody>
                    <a:bodyPr/>
                    <a:lstStyle/>
                    <a:p>
                      <a:r>
                        <a:rPr sz="1500" b="1">
                          <a:solidFill>
                            <a:srgbClr val="FFFFFF"/>
                          </a:solidFill>
                          <a:latin typeface="Geist"/>
                          <a:ea typeface="Geist"/>
                          <a:cs typeface="Geist"/>
                        </a:rPr>
                        <a:t>Geo. speedup</a:t>
                      </a:r>
                    </a:p>
                  </a:txBody>
                  <a:tcPr anchor="ctr">
                    <a:solidFill>
                      <a:srgbClr val="4A5B70"/>
                    </a:solidFill>
                  </a:tcPr>
                </a:tc>
                <a:extLst>
                  <a:ext uri="{0D108BD9-81ED-4DB2-BD59-A6C34878D82A}">
                    <a16:rowId xmlns:a16="http://schemas.microsoft.com/office/drawing/2014/main" val="10000"/>
                  </a:ext>
                </a:extLst>
              </a:tr>
              <a:tr h="493395">
                <a:tc>
                  <a:txBody>
                    <a:bodyPr/>
                    <a:lstStyle/>
                    <a:p>
                      <a:r>
                        <a:rPr sz="1500" b="0">
                          <a:solidFill>
                            <a:srgbClr val="2B3139"/>
                          </a:solidFill>
                          <a:latin typeface="Geist"/>
                          <a:ea typeface="Geist"/>
                          <a:cs typeface="Geist"/>
                        </a:rPr>
                        <a:t>FreeToken q*</a:t>
                      </a:r>
                    </a:p>
                  </a:txBody>
                  <a:tcPr anchor="ctr">
                    <a:solidFill>
                      <a:srgbClr val="FFFFFF"/>
                    </a:solidFill>
                  </a:tcPr>
                </a:tc>
                <a:tc>
                  <a:txBody>
                    <a:bodyPr/>
                    <a:lstStyle/>
                    <a:p>
                      <a:r>
                        <a:rPr sz="1500" b="0">
                          <a:solidFill>
                            <a:srgbClr val="2B3139"/>
                          </a:solidFill>
                          <a:latin typeface="Geist"/>
                          <a:ea typeface="Geist"/>
                          <a:cs typeface="Geist"/>
                        </a:rPr>
                        <a:t>65.0</a:t>
                      </a:r>
                    </a:p>
                  </a:txBody>
                  <a:tcPr anchor="ctr">
                    <a:solidFill>
                      <a:srgbClr val="FFFFFF"/>
                    </a:solidFill>
                  </a:tcPr>
                </a:tc>
                <a:tc>
                  <a:txBody>
                    <a:bodyPr/>
                    <a:lstStyle/>
                    <a:p>
                      <a:r>
                        <a:rPr sz="1500" b="0">
                          <a:solidFill>
                            <a:srgbClr val="2B3139"/>
                          </a:solidFill>
                          <a:latin typeface="Geist"/>
                          <a:ea typeface="Geist"/>
                          <a:cs typeface="Geist"/>
                        </a:rPr>
                        <a:t>66.0</a:t>
                      </a:r>
                    </a:p>
                  </a:txBody>
                  <a:tcPr anchor="ctr">
                    <a:solidFill>
                      <a:srgbClr val="FFFFFF"/>
                    </a:solidFill>
                  </a:tcPr>
                </a:tc>
                <a:tc>
                  <a:txBody>
                    <a:bodyPr/>
                    <a:lstStyle/>
                    <a:p>
                      <a:r>
                        <a:rPr sz="1500" b="0">
                          <a:solidFill>
                            <a:srgbClr val="2B3139"/>
                          </a:solidFill>
                          <a:latin typeface="Geist"/>
                          <a:ea typeface="Geist"/>
                          <a:cs typeface="Geist"/>
                        </a:rPr>
                        <a:t>65.0</a:t>
                      </a:r>
                    </a:p>
                  </a:txBody>
                  <a:tcPr anchor="ctr">
                    <a:solidFill>
                      <a:srgbClr val="FFFFFF"/>
                    </a:solidFill>
                  </a:tcPr>
                </a:tc>
                <a:tc>
                  <a:txBody>
                    <a:bodyPr/>
                    <a:lstStyle/>
                    <a:p>
                      <a:r>
                        <a:rPr sz="1500" b="0">
                          <a:solidFill>
                            <a:srgbClr val="2B3139"/>
                          </a:solidFill>
                          <a:latin typeface="Geist"/>
                          <a:ea typeface="Geist"/>
                          <a:cs typeface="Geist"/>
                        </a:rPr>
                        <a:t>1.00×</a:t>
                      </a:r>
                    </a:p>
                  </a:txBody>
                  <a:tcPr anchor="ctr">
                    <a:solidFill>
                      <a:srgbClr val="FFFFFF"/>
                    </a:solidFill>
                  </a:tcPr>
                </a:tc>
                <a:extLst>
                  <a:ext uri="{0D108BD9-81ED-4DB2-BD59-A6C34878D82A}">
                    <a16:rowId xmlns:a16="http://schemas.microsoft.com/office/drawing/2014/main" val="10001"/>
                  </a:ext>
                </a:extLst>
              </a:tr>
              <a:tr h="493395">
                <a:tc>
                  <a:txBody>
                    <a:bodyPr/>
                    <a:lstStyle/>
                    <a:p>
                      <a:r>
                        <a:rPr sz="1500" b="0">
                          <a:solidFill>
                            <a:srgbClr val="2B3139"/>
                          </a:solidFill>
                          <a:latin typeface="Geist"/>
                          <a:ea typeface="Geist"/>
                          <a:cs typeface="Geist"/>
                        </a:rPr>
                        <a:t>Ridge</a:t>
                      </a:r>
                    </a:p>
                  </a:txBody>
                  <a:tcPr anchor="ctr">
                    <a:solidFill>
                      <a:srgbClr val="FAF7F0"/>
                    </a:solidFill>
                  </a:tcPr>
                </a:tc>
                <a:tc>
                  <a:txBody>
                    <a:bodyPr/>
                    <a:lstStyle/>
                    <a:p>
                      <a:r>
                        <a:rPr sz="1500" b="0">
                          <a:solidFill>
                            <a:srgbClr val="2B3139"/>
                          </a:solidFill>
                          <a:latin typeface="Geist"/>
                          <a:ea typeface="Geist"/>
                          <a:cs typeface="Geist"/>
                        </a:rPr>
                        <a:t>33.4</a:t>
                      </a:r>
                    </a:p>
                  </a:txBody>
                  <a:tcPr anchor="ctr">
                    <a:solidFill>
                      <a:srgbClr val="FAF7F0"/>
                    </a:solidFill>
                  </a:tcPr>
                </a:tc>
                <a:tc>
                  <a:txBody>
                    <a:bodyPr/>
                    <a:lstStyle/>
                    <a:p>
                      <a:r>
                        <a:rPr sz="1500" b="0">
                          <a:solidFill>
                            <a:srgbClr val="2B3139"/>
                          </a:solidFill>
                          <a:latin typeface="Geist"/>
                          <a:ea typeface="Geist"/>
                          <a:cs typeface="Geist"/>
                        </a:rPr>
                        <a:t>46.7</a:t>
                      </a:r>
                    </a:p>
                  </a:txBody>
                  <a:tcPr anchor="ctr">
                    <a:solidFill>
                      <a:srgbClr val="FAF7F0"/>
                    </a:solidFill>
                  </a:tcPr>
                </a:tc>
                <a:tc>
                  <a:txBody>
                    <a:bodyPr/>
                    <a:lstStyle/>
                    <a:p>
                      <a:r>
                        <a:rPr sz="1500" b="0">
                          <a:solidFill>
                            <a:srgbClr val="2B3139"/>
                          </a:solidFill>
                          <a:latin typeface="Geist"/>
                          <a:ea typeface="Geist"/>
                          <a:cs typeface="Geist"/>
                        </a:rPr>
                        <a:t>58.2</a:t>
                      </a:r>
                    </a:p>
                  </a:txBody>
                  <a:tcPr anchor="ctr">
                    <a:solidFill>
                      <a:srgbClr val="FAF7F0"/>
                    </a:solidFill>
                  </a:tcPr>
                </a:tc>
                <a:tc>
                  <a:txBody>
                    <a:bodyPr/>
                    <a:lstStyle/>
                    <a:p>
                      <a:r>
                        <a:rPr sz="1500" b="0">
                          <a:solidFill>
                            <a:srgbClr val="2B3139"/>
                          </a:solidFill>
                          <a:latin typeface="Geist"/>
                          <a:ea typeface="Geist"/>
                          <a:cs typeface="Geist"/>
                        </a:rPr>
                        <a:t>1.45×</a:t>
                      </a:r>
                    </a:p>
                  </a:txBody>
                  <a:tcPr anchor="ctr">
                    <a:solidFill>
                      <a:srgbClr val="FAF7F0"/>
                    </a:solidFill>
                  </a:tcPr>
                </a:tc>
                <a:extLst>
                  <a:ext uri="{0D108BD9-81ED-4DB2-BD59-A6C34878D82A}">
                    <a16:rowId xmlns:a16="http://schemas.microsoft.com/office/drawing/2014/main" val="10002"/>
                  </a:ext>
                </a:extLst>
              </a:tr>
              <a:tr h="493395">
                <a:tc>
                  <a:txBody>
                    <a:bodyPr/>
                    <a:lstStyle/>
                    <a:p>
                      <a:r>
                        <a:rPr sz="1500" b="0">
                          <a:solidFill>
                            <a:srgbClr val="2B3139"/>
                          </a:solidFill>
                          <a:latin typeface="Geist"/>
                          <a:ea typeface="Geist"/>
                          <a:cs typeface="Geist"/>
                        </a:rPr>
                        <a:t>Reuse-Aware</a:t>
                      </a:r>
                    </a:p>
                  </a:txBody>
                  <a:tcPr anchor="ctr">
                    <a:solidFill>
                      <a:srgbClr val="FFFFFF"/>
                    </a:solidFill>
                  </a:tcPr>
                </a:tc>
                <a:tc>
                  <a:txBody>
                    <a:bodyPr/>
                    <a:lstStyle/>
                    <a:p>
                      <a:r>
                        <a:rPr sz="1500" b="0">
                          <a:solidFill>
                            <a:srgbClr val="2B3139"/>
                          </a:solidFill>
                          <a:latin typeface="Geist"/>
                          <a:ea typeface="Geist"/>
                          <a:cs typeface="Geist"/>
                        </a:rPr>
                        <a:t>31.6</a:t>
                      </a:r>
                    </a:p>
                  </a:txBody>
                  <a:tcPr anchor="ctr">
                    <a:solidFill>
                      <a:srgbClr val="FFFFFF"/>
                    </a:solidFill>
                  </a:tcPr>
                </a:tc>
                <a:tc>
                  <a:txBody>
                    <a:bodyPr/>
                    <a:lstStyle/>
                    <a:p>
                      <a:r>
                        <a:rPr sz="1500" b="0">
                          <a:solidFill>
                            <a:srgbClr val="2B3139"/>
                          </a:solidFill>
                          <a:latin typeface="Geist"/>
                          <a:ea typeface="Geist"/>
                          <a:cs typeface="Geist"/>
                        </a:rPr>
                        <a:t>45.0</a:t>
                      </a:r>
                    </a:p>
                  </a:txBody>
                  <a:tcPr anchor="ctr">
                    <a:solidFill>
                      <a:srgbClr val="FFFFFF"/>
                    </a:solidFill>
                  </a:tcPr>
                </a:tc>
                <a:tc>
                  <a:txBody>
                    <a:bodyPr/>
                    <a:lstStyle/>
                    <a:p>
                      <a:r>
                        <a:rPr sz="1500" b="0">
                          <a:solidFill>
                            <a:srgbClr val="2B3139"/>
                          </a:solidFill>
                          <a:latin typeface="Geist"/>
                          <a:ea typeface="Geist"/>
                          <a:cs typeface="Geist"/>
                        </a:rPr>
                        <a:t>55.9</a:t>
                      </a:r>
                    </a:p>
                  </a:txBody>
                  <a:tcPr anchor="ctr">
                    <a:solidFill>
                      <a:srgbClr val="FFFFFF"/>
                    </a:solidFill>
                  </a:tcPr>
                </a:tc>
                <a:tc>
                  <a:txBody>
                    <a:bodyPr/>
                    <a:lstStyle/>
                    <a:p>
                      <a:r>
                        <a:rPr sz="1500" b="0">
                          <a:solidFill>
                            <a:srgbClr val="2B3139"/>
                          </a:solidFill>
                          <a:latin typeface="Geist"/>
                          <a:ea typeface="Geist"/>
                          <a:cs typeface="Geist"/>
                        </a:rPr>
                        <a:t>1.52×</a:t>
                      </a:r>
                    </a:p>
                  </a:txBody>
                  <a:tcPr anchor="ctr">
                    <a:solidFill>
                      <a:srgbClr val="FFFFFF"/>
                    </a:solidFill>
                  </a:tcPr>
                </a:tc>
                <a:extLst>
                  <a:ext uri="{0D108BD9-81ED-4DB2-BD59-A6C34878D82A}">
                    <a16:rowId xmlns:a16="http://schemas.microsoft.com/office/drawing/2014/main" val="10003"/>
                  </a:ext>
                </a:extLst>
              </a:tr>
              <a:tr h="493395">
                <a:tc>
                  <a:txBody>
                    <a:bodyPr/>
                    <a:lstStyle/>
                    <a:p>
                      <a:r>
                        <a:rPr sz="1500" b="0">
                          <a:solidFill>
                            <a:srgbClr val="2B3139"/>
                          </a:solidFill>
                          <a:latin typeface="Geist"/>
                          <a:ea typeface="Geist"/>
                          <a:cs typeface="Geist"/>
                        </a:rPr>
                        <a:t>Best fixed split per regime</a:t>
                      </a:r>
                    </a:p>
                  </a:txBody>
                  <a:tcPr anchor="ctr">
                    <a:solidFill>
                      <a:srgbClr val="FAF7F0"/>
                    </a:solidFill>
                  </a:tcPr>
                </a:tc>
                <a:tc>
                  <a:txBody>
                    <a:bodyPr/>
                    <a:lstStyle/>
                    <a:p>
                      <a:r>
                        <a:rPr sz="1500" b="0">
                          <a:solidFill>
                            <a:srgbClr val="2B3139"/>
                          </a:solidFill>
                          <a:latin typeface="Geist"/>
                          <a:ea typeface="Geist"/>
                          <a:cs typeface="Geist"/>
                        </a:rPr>
                        <a:t>34.9 (50%)</a:t>
                      </a:r>
                    </a:p>
                  </a:txBody>
                  <a:tcPr anchor="ctr">
                    <a:solidFill>
                      <a:srgbClr val="FAF7F0"/>
                    </a:solidFill>
                  </a:tcPr>
                </a:tc>
                <a:tc>
                  <a:txBody>
                    <a:bodyPr/>
                    <a:lstStyle/>
                    <a:p>
                      <a:r>
                        <a:rPr sz="1500" b="0">
                          <a:solidFill>
                            <a:srgbClr val="2B3139"/>
                          </a:solidFill>
                          <a:latin typeface="Geist"/>
                          <a:ea typeface="Geist"/>
                          <a:cs typeface="Geist"/>
                        </a:rPr>
                        <a:t>45.8 (25%)</a:t>
                      </a:r>
                    </a:p>
                  </a:txBody>
                  <a:tcPr anchor="ctr">
                    <a:solidFill>
                      <a:srgbClr val="FAF7F0"/>
                    </a:solidFill>
                  </a:tcPr>
                </a:tc>
                <a:tc>
                  <a:txBody>
                    <a:bodyPr/>
                    <a:lstStyle/>
                    <a:p>
                      <a:r>
                        <a:rPr sz="1500" b="0">
                          <a:solidFill>
                            <a:srgbClr val="2B3139"/>
                          </a:solidFill>
                          <a:latin typeface="Geist"/>
                          <a:ea typeface="Geist"/>
                          <a:cs typeface="Geist"/>
                        </a:rPr>
                        <a:t>54.4 (25%)</a:t>
                      </a:r>
                    </a:p>
                  </a:txBody>
                  <a:tcPr anchor="ctr">
                    <a:solidFill>
                      <a:srgbClr val="FAF7F0"/>
                    </a:solidFill>
                  </a:tcPr>
                </a:tc>
                <a:tc>
                  <a:txBody>
                    <a:bodyPr/>
                    <a:lstStyle/>
                    <a:p>
                      <a:r>
                        <a:rPr sz="1500" b="0">
                          <a:solidFill>
                            <a:srgbClr val="2B3139"/>
                          </a:solidFill>
                          <a:latin typeface="Geist"/>
                          <a:ea typeface="Geist"/>
                          <a:cs typeface="Geist"/>
                        </a:rPr>
                        <a:t>—</a:t>
                      </a:r>
                    </a:p>
                  </a:txBody>
                  <a:tcPr anchor="ctr">
                    <a:solidFill>
                      <a:srgbClr val="FAF7F0"/>
                    </a:solidFill>
                  </a:tcPr>
                </a:tc>
                <a:extLst>
                  <a:ext uri="{0D108BD9-81ED-4DB2-BD59-A6C34878D82A}">
                    <a16:rowId xmlns:a16="http://schemas.microsoft.com/office/drawing/2014/main" val="10004"/>
                  </a:ext>
                </a:extLst>
              </a:tr>
            </a:tbl>
          </a:graphicData>
        </a:graphic>
      </p:graphicFrame>
      <p:sp>
        <p:nvSpPr>
          <p:cNvPr id="20" name="Latency: ms/token in eager m">
            <a:extLst>
              <a:ext uri="{FF2B5EF4-FFF2-40B4-BE49-F238E27FC236}">
                <a16:creationId xmlns:a16="http://schemas.microsoft.com/office/drawing/2014/main" id="{34C07ED5-EDE9-455C-96B5-4AC1B6FCA4AA}"/>
              </a:ext>
            </a:extLst>
          </p:cNvPr>
          <p:cNvSpPr>
            <a:spLocks noGrp="1"/>
          </p:cNvSpPr>
          <p:nvPr/>
        </p:nvSpPr>
        <p:spPr>
          <a:xfrm>
            <a:off x="457200" y="4381500"/>
            <a:ext cx="11277600" cy="276225"/>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Latency: ms/token in eager mode. Three repeats per policy and cache regime.</a:t>
            </a:r>
          </a:p>
        </p:txBody>
      </p:sp>
      <p:sp>
        <p:nvSpPr>
          <p:cNvPr id="21" name="Small decision cost: about 0">
            <a:extLst>
              <a:ext uri="{FF2B5EF4-FFF2-40B4-BE49-F238E27FC236}">
                <a16:creationId xmlns:a16="http://schemas.microsoft.com/office/drawing/2014/main" id="{31FEE505-3627-4E48-AD33-8181E64A38B8}"/>
              </a:ext>
            </a:extLst>
          </p:cNvPr>
          <p:cNvSpPr>
            <a:spLocks noGrp="1"/>
          </p:cNvSpPr>
          <p:nvPr/>
        </p:nvSpPr>
        <p:spPr>
          <a:xfrm>
            <a:off x="457200" y="4838700"/>
            <a:ext cx="11277600" cy="30480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Small decision cost: about 0.9 μs</a:t>
            </a:r>
          </a:p>
        </p:txBody>
      </p:sp>
      <p:sp>
        <p:nvSpPr>
          <p:cNvPr id="22" name="Uniform reuse prior: 1.51×. ">
            <a:extLst>
              <a:ext uri="{FF2B5EF4-FFF2-40B4-BE49-F238E27FC236}">
                <a16:creationId xmlns:a16="http://schemas.microsoft.com/office/drawing/2014/main" id="{921265EA-1276-4BC2-8CA6-905BFEB6B364}"/>
              </a:ext>
            </a:extLst>
          </p:cNvPr>
          <p:cNvSpPr>
            <a:spLocks noGrp="1"/>
          </p:cNvSpPr>
          <p:nvPr/>
        </p:nvSpPr>
        <p:spPr>
          <a:xfrm>
            <a:off x="457200" y="5200650"/>
            <a:ext cx="11277600" cy="62865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Uniform reuse prior: 1.51×. The main rule uses recent expert frequency and reaches 1.52×.</a:t>
            </a:r>
          </a:p>
        </p:txBody>
      </p:sp>
      <p:sp>
        <p:nvSpPr>
          <p:cNvPr id="23" name="Rectangle 22">
            <a:extLst>
              <a:ext uri="{FF2B5EF4-FFF2-40B4-BE49-F238E27FC236}">
                <a16:creationId xmlns:a16="http://schemas.microsoft.com/office/drawing/2014/main" id="{164B2D0D-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4B-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29-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Validation scope</a:t>
            </a:r>
          </a:p>
        </p:txBody>
      </p:sp>
      <p:sp>
        <p:nvSpPr>
          <p:cNvPr id="26" name="gpt-oss-20b, RTX 4070 + Ryze">
            <a:extLst>
              <a:ext uri="{FF2B5EF4-FFF2-40B4-BE49-F238E27FC236}">
                <a16:creationId xmlns:a16="http://schemas.microsoft.com/office/drawing/2014/main" id="{223D032C-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gpt-oss-20b, RTX 4070 + Ryzen 5 8500G. Device-side and cross-model tests remain open.</a:t>
            </a:r>
          </a:p>
        </p:txBody>
      </p:sp>
    </p:spTree>
    <p:extLst>
      <p:ext uri="{BB962C8B-B14F-4D97-AF65-F5344CB8AC3E}">
        <p14:creationId xmlns:p14="http://schemas.microsoft.com/office/powerpoint/2010/main" val="800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END-TO-END LATENCY</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Most runtime-aware policies beat q*; ANN and GBM did not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40" name="Figure 18" descr="Most runtime-aware policies beat q*; ANN and GBM did not"/>
          <p:cNvPicPr>
            <a:picLocks noChangeAspect="1"/>
          </p:cNvPicPr>
          <p:nvPr/>
        </p:nvPicPr>
        <p:blipFill>
          <a:blip r:embed="rIdFig"/>
          <a:stretch>
            <a:fillRect/>
          </a:stretch>
        </p:blipFill>
        <p:spPr>
          <a:xfrm>
            <a:off x="1995842" y="1620000"/>
            <a:ext cx="8200315" cy="4340000"/>
          </a:xfrm>
          <a:prstGeom prst="rect">
            <a:avLst/>
          </a:prstGeom>
        </p:spPr>
      </p:pic>
      <p:sp>
        <p:nvSpPr>
          <p:cNvPr id="23" name="Rectangle 22">
            <a:extLst>
              <a:ext uri="{FF2B5EF4-FFF2-40B4-BE49-F238E27FC236}">
                <a16:creationId xmlns:a16="http://schemas.microsoft.com/office/drawing/2014/main"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Reading</a:t>
            </a:r>
          </a:p>
        </p:txBody>
      </p:sp>
      <p:sp>
        <p:nvSpPr>
          <p:cNvPr id="26" name="gpt-oss-20b, RTX 4070 + Ryze">
            <a:extLst>
              <a:ext uri="{FF2B5EF4-FFF2-40B4-BE49-F238E27FC236}">
                <a16:creationId xmlns:a16="http://schemas.microsoft.com/office/drawing/2014/main"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Reuse-Aware is lowest at low and medium miss; fixed 25% edges it at high miss. GBM's interval is wide.</a:t>
            </a:r>
          </a:p>
        </p:txBody>
      </p:sp>
    </p:spTree>
    <p:extLst>
      <p:ext uri="{BB962C8B-B14F-4D97-AF65-F5344CB8AC3E}">
        <p14:creationId xmlns:p14="http://schemas.microsoft.com/office/powerpoint/2010/main" val="800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REGRET</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Reuse-Aware variants stay closest to the best policy</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40" name="Figure 19" descr="Reuse-Aware variants stay closest to the best policy"/>
          <p:cNvPicPr>
            <a:picLocks noChangeAspect="1"/>
          </p:cNvPicPr>
          <p:nvPr/>
        </p:nvPicPr>
        <p:blipFill>
          <a:blip r:embed="rIdFig"/>
          <a:stretch>
            <a:fillRect/>
          </a:stretch>
        </p:blipFill>
        <p:spPr>
          <a:xfrm>
            <a:off x="1871783" y="1620000"/>
            <a:ext cx="8448433" cy="4340000"/>
          </a:xfrm>
          <a:prstGeom prst="rect">
            <a:avLst/>
          </a:prstGeom>
        </p:spPr>
      </p:pic>
      <p:sp>
        <p:nvSpPr>
          <p:cNvPr id="23" name="Rectangle 22">
            <a:extLst>
              <a:ext uri="{FF2B5EF4-FFF2-40B4-BE49-F238E27FC236}">
                <a16:creationId xmlns:a16="http://schemas.microsoft.com/office/drawing/2014/main" id="{164B2D20-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5E-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3C-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Regret</a:t>
            </a:r>
          </a:p>
        </p:txBody>
      </p:sp>
      <p:sp>
        <p:nvSpPr>
          <p:cNvPr id="26" name="gpt-oss-20b, RTX 4070 + Ryze">
            <a:extLst>
              <a:ext uri="{FF2B5EF4-FFF2-40B4-BE49-F238E27FC236}">
                <a16:creationId xmlns:a16="http://schemas.microsoft.com/office/drawing/2014/main" id="{223D033F-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Gap to the best policy in each regime. Without the cache term, high-miss regret rises to ~54 ms.</a:t>
            </a:r>
          </a:p>
        </p:txBody>
      </p:sp>
    </p:spTree>
    <p:extLst>
      <p:ext uri="{BB962C8B-B14F-4D97-AF65-F5344CB8AC3E}">
        <p14:creationId xmlns:p14="http://schemas.microsoft.com/office/powerpoint/2010/main" val="8000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17"/>
          <p:cNvPicPr>
            <a:picLocks noChangeAspect="1"/>
          </p:cNvPicPr>
          <p:nvPr/>
        </p:nvPicPr>
        <p:blipFill>
          <a:blip r:embed="rId3"/>
          <a:stretch>
            <a:fillRect/>
          </a:stretch>
        </p:blipFill>
        <p:spPr>
          <a:xfrm>
            <a:off x="0" y="0"/>
            <a:ext cx="12192000" cy="6858000"/>
          </a:xfrm>
          <a:prstGeom prst="rect">
            <a:avLst/>
          </a:prstGeom>
        </p:spPr>
      </p:pic>
      <p:sp>
        <p:nvSpPr>
          <p:cNvPr id="2" name="Text 0">
            <a:extLst>
              <a:ext uri="{FF2B5EF4-FFF2-40B4-BE49-F238E27FC236}">
                <a16:creationId xmlns:a16="http://schemas.microsoft.com/office/drawing/2014/main"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1 · GENERALISATION</a:t>
            </a:r>
            <a:endParaRPr sz="1150"/>
          </a:p>
        </p:txBody>
      </p:sp>
      <p:sp>
        <p:nvSpPr>
          <p:cNvPr id="3" name="Text 1">
            <a:extLst>
              <a:ext uri="{FF2B5EF4-FFF2-40B4-BE49-F238E27FC236}">
                <a16:creationId xmlns:a16="http://schemas.microsoft.com/office/drawing/2014/main"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Reuse-Aware generalised; Ridge and Linear did not</a:t>
            </a:r>
            <a:endParaRPr sz="3100"/>
          </a:p>
        </p:txBody>
      </p:sp>
      <p:sp>
        <p:nvSpPr>
          <p:cNvPr id="4" name="Shape 2">
            <a:extLst>
              <a:ext uri="{FF2B5EF4-FFF2-40B4-BE49-F238E27FC236}">
                <a16:creationId xmlns:a16="http://schemas.microsoft.com/office/drawing/2014/main"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40" name="Figure 20" descr="Reuse-Aware generalised; Ridge and Linear did not"/>
          <p:cNvPicPr>
            <a:picLocks noChangeAspect="1"/>
          </p:cNvPicPr>
          <p:nvPr/>
        </p:nvPicPr>
        <p:blipFill>
          <a:blip r:embed="rIdFig"/>
          <a:stretch>
            <a:fillRect/>
          </a:stretch>
        </p:blipFill>
        <p:spPr>
          <a:xfrm>
            <a:off x="457200" y="1795104"/>
            <a:ext cx="11277600" cy="3989792"/>
          </a:xfrm>
          <a:prstGeom prst="rect">
            <a:avLst/>
          </a:prstGeom>
        </p:spPr>
      </p:pic>
      <p:sp>
        <p:nvSpPr>
          <p:cNvPr id="23" name="Rectangle 22">
            <a:extLst>
              <a:ext uri="{FF2B5EF4-FFF2-40B4-BE49-F238E27FC236}">
                <a16:creationId xmlns:a16="http://schemas.microsoft.com/office/drawing/2014/main" id="{164B2D21-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24" name="Rectangle 23">
            <a:extLst>
              <a:ext uri="{FF2B5EF4-FFF2-40B4-BE49-F238E27FC236}">
                <a16:creationId xmlns:a16="http://schemas.microsoft.com/office/drawing/2014/main" id="{55DA9B5F-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25" name="Validation scope">
            <a:extLst>
              <a:ext uri="{FF2B5EF4-FFF2-40B4-BE49-F238E27FC236}">
                <a16:creationId xmlns:a16="http://schemas.microsoft.com/office/drawing/2014/main" id="{2F05233D-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Held out</a:t>
            </a:r>
          </a:p>
        </p:txBody>
      </p:sp>
      <p:sp>
        <p:nvSpPr>
          <p:cNvPr id="26" name="gpt-oss-20b, RTX 4070 + Ryze">
            <a:extLst>
              <a:ext uri="{FF2B5EF4-FFF2-40B4-BE49-F238E27FC236}">
                <a16:creationId xmlns:a16="http://schemas.microsoft.com/office/drawing/2014/main" id="{223D0340-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On p1_high and rate015, Ridge and Linear were slower than q*; Reuse-Aware stayed at or near the best.</a:t>
            </a:r>
          </a:p>
        </p:txBody>
      </p:sp>
    </p:spTree>
    <p:extLst>
      <p:ext uri="{BB962C8B-B14F-4D97-AF65-F5344CB8AC3E}">
        <p14:creationId xmlns:p14="http://schemas.microsoft.com/office/powerpoint/2010/main" val="800020"/>
      </p:ext>
    </p:extLst>
  </p:cSld>
  <p:clrMapOvr>
    <a:masterClrMapping/>
  </p:clrMapOvr>
</p:sld>
</file>

<file path=ppt/slides/slide21.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OBJECTIVE 2 · STATIC PRUNING</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Can a fixed expert set reduce missing work?</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6" name="Reproduction complete">
            <a:extLst>
              <a:ext uri="{FF2B5EF4-FFF2-40B4-BE49-F238E27FC236}">
                <a16:creationId id="{4ECA6FF7-A24A-48F4-9470-401E23849A37}"/>
              </a:ext>
            </a:extLst>
          </p:cNvPr>
          <p:cNvSpPr>
            <a:spLocks noGrp="1"/>
          </p:cNvSpPr>
          <p:nvPr/>
        </p:nvSpPr>
        <p:spPr>
          <a:xfrm>
            <a:off x="457200" y="1810512"/>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Retain the most frequently accessed 75% per layer</a:t>
            </a:r>
          </a:p>
        </p:txBody>
      </p:sp>
      <p:sp>
        <p:nvSpPr>
          <p:cNvPr id="7" name="Read the paper, reproduced t">
            <a:extLst>
              <a:ext uri="{FF2B5EF4-FFF2-40B4-BE49-F238E27FC236}">
                <a16:creationId id="{7BC0B933-8CCA-43FF-98D1-732B75D8B253}"/>
              </a:ext>
            </a:extLst>
          </p:cNvPr>
          <p:cNvSpPr>
            <a:spLocks noGrp="1"/>
          </p:cNvSpPr>
          <p:nvPr/>
        </p:nvSpPr>
        <p:spPr>
          <a:xfrm>
            <a:off x="457200" y="2173529"/>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Fit task-specific and mixed expert rankings on calibration requests. Shared branches remain active; native top-k routing is recorded before masking.</a:t>
            </a:r>
          </a:p>
        </p:txBody>
      </p:sp>
      <p:sp>
        <p:nvSpPr>
          <p:cNvPr id="8" name="Reproduction complete">
            <a:extLst>
              <a:ext uri="{FF2B5EF4-FFF2-40B4-BE49-F238E27FC236}">
                <a16:creationId id="{4ECA6FF7-A24A-48F4-9470-401E23849A37}"/>
              </a:ext>
            </a:extLst>
          </p:cNvPr>
          <p:cNvSpPr>
            <a:spLocks noGrp="1"/>
          </p:cNvSpPr>
          <p:nvPr/>
        </p:nvSpPr>
        <p:spPr>
          <a:xfrm>
            <a:off x="457200" y="2971800"/>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Collect and evaluate held-out routing</a:t>
            </a:r>
          </a:p>
        </p:txBody>
      </p:sp>
      <p:sp>
        <p:nvSpPr>
          <p:cNvPr id="9" name="Read the paper, reproduced t">
            <a:extLst>
              <a:ext uri="{FF2B5EF4-FFF2-40B4-BE49-F238E27FC236}">
                <a16:creationId id="{7BC0B933-8CCA-43FF-98D1-732B75D8B253}"/>
              </a:ext>
            </a:extLst>
          </p:cNvPr>
          <p:cNvSpPr>
            <a:spLocks noGrp="1"/>
          </p:cNvSpPr>
          <p:nvPr/>
        </p:nvSpPr>
        <p:spPr>
          <a:xfrm>
            <a:off x="457200" y="3334817"/>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90 distinct requests per checkpoint: 30 math, 30 code, 30 incident. Five grouped folds; 18 extra captures of nine requests assess repeat sensitivity.</a:t>
            </a:r>
          </a:p>
        </p:txBody>
      </p:sp>
      <p:sp>
        <p:nvSpPr>
          <p:cNvPr id="10" name="Reproduction complete">
            <a:extLst>
              <a:ext uri="{FF2B5EF4-FFF2-40B4-BE49-F238E27FC236}">
                <a16:creationId id="{4ECA6FF7-A24A-48F4-9470-401E23849A37}"/>
              </a:ext>
            </a:extLst>
          </p:cNvPr>
          <p:cNvSpPr>
            <a:spLocks noGrp="1"/>
          </p:cNvSpPr>
          <p:nvPr/>
        </p:nvSpPr>
        <p:spPr>
          <a:xfrm>
            <a:off x="457200" y="4133088"/>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Separate coverage from systems effects</a:t>
            </a:r>
          </a:p>
        </p:txBody>
      </p:sp>
      <p:sp>
        <p:nvSpPr>
          <p:cNvPr id="11" name="Read the paper, reproduced t">
            <a:extLst>
              <a:ext uri="{FF2B5EF4-FFF2-40B4-BE49-F238E27FC236}">
                <a16:creationId id="{7BC0B933-8CCA-43FF-98D1-732B75D8B253}"/>
              </a:ext>
            </a:extLst>
          </p:cNvPr>
          <p:cNvSpPr>
            <a:spLocks noGrp="1"/>
          </p:cNvSpPr>
          <p:nvPr/>
        </p:nvSpPr>
        <p:spPr>
          <a:xfrm>
            <a:off x="457200" y="4496105"/>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Measure access coverage, retained routing weight, workload transfer and ranking stability. Replay cache demand with fixed and reduced cache budgets.</a:t>
            </a:r>
          </a:p>
        </p:txBody>
      </p:sp>
      <p:sp>
        <p:nvSpPr>
          <p:cNvPr id="12"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13"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14"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Scope</a:t>
            </a:r>
          </a:p>
        </p:txBody>
      </p:sp>
      <p:sp>
        <p:nvSpPr>
          <p:cNvPr id="15"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This stage measured routing and conditional cache replay. Task quality and serving speed were unmeasured.</a:t>
            </a:r>
          </a:p>
        </p:txBody>
      </p:sp>
    </p:spTree>
    <p:extLst>
      <p:ext uri="{BB962C8B-B14F-4D97-AF65-F5344CB8AC3E}">
        <ns4:creationId val="800000"/>
      </p:ext>
    </p:extLst>
  </p:cSld>
  <p:clrMapOvr>
    <a:masterClrMapping/>
  </p:clrMapOvr>
</p:sld>
</file>

<file path=ppt/slides/slide22.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EXPERIMENT · MODEL CONFIGURATIONS</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Three supported MoE configurations on one device</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6" name="Table 30"/>
          <p:cNvGraphicFramePr/>
          <p:nvPr/>
        </p:nvGraphicFramePr>
        <p:xfrm>
          <a:off x="457200" y="1755648"/>
          <a:ext cx="11277295" cy="2340864"/>
        </p:xfrm>
        <a:graphic>
          <a:graphicData uri="http://schemas.openxmlformats.org/drawingml/2006/table">
            <a:tbl>
              <a:tblPr/>
              <a:tblGrid>
                <a:gridCol w="4480560"/>
                <a:gridCol w="960120"/>
                <a:gridCol w="2240280"/>
                <a:gridCol w="1005840"/>
                <a:gridCol w="2590495"/>
              </a:tblGrid>
              <a:tr h="585216">
                <a:tc>
                  <a:txBody>
                    <a:bodyPr/>
                    <a:lstStyle/>
                    <a:p>
                      <a:r>
                        <a:rPr sz="1500" b="1">
                          <a:solidFill>
                            <a:srgbClr val="FFFFFF"/>
                          </a:solidFill>
                          <a:latin typeface="Geist"/>
                          <a:ea typeface="Geist"/>
                          <a:cs typeface="Geist"/>
                        </a:rPr>
                        <a:t>Checkpoint</a:t>
                      </a:r>
                    </a:p>
                  </a:txBody>
                  <a:tcPr anchor="ctr">
                    <a:solidFill>
                      <a:srgbClr val="4A5B70"/>
                    </a:solidFill>
                  </a:tcPr>
                </a:tc>
                <a:tc>
                  <a:txBody>
                    <a:bodyPr/>
                    <a:lstStyle/>
                    <a:p>
                      <a:r>
                        <a:rPr sz="1500" b="1">
                          <a:solidFill>
                            <a:srgbClr val="FFFFFF"/>
                          </a:solidFill>
                          <a:latin typeface="Geist"/>
                          <a:ea typeface="Geist"/>
                          <a:cs typeface="Geist"/>
                        </a:rPr>
                        <a:t>Layers</a:t>
                      </a:r>
                    </a:p>
                  </a:txBody>
                  <a:tcPr anchor="ctr">
                    <a:solidFill>
                      <a:srgbClr val="4A5B70"/>
                    </a:solidFill>
                  </a:tcPr>
                </a:tc>
                <a:tc>
                  <a:txBody>
                    <a:bodyPr/>
                    <a:lstStyle/>
                    <a:p>
                      <a:r>
                        <a:rPr sz="1500" b="1">
                          <a:solidFill>
                            <a:srgbClr val="FFFFFF"/>
                          </a:solidFill>
                          <a:latin typeface="Geist"/>
                          <a:ea typeface="Geist"/>
                          <a:cs typeface="Geist"/>
                        </a:rPr>
                        <a:t>Experts / retained</a:t>
                      </a:r>
                    </a:p>
                  </a:txBody>
                  <a:tcPr anchor="ctr">
                    <a:solidFill>
                      <a:srgbClr val="4A5B70"/>
                    </a:solidFill>
                  </a:tcPr>
                </a:tc>
                <a:tc>
                  <a:txBody>
                    <a:bodyPr/>
                    <a:lstStyle/>
                    <a:p>
                      <a:r>
                        <a:rPr sz="1500" b="1">
                          <a:solidFill>
                            <a:srgbClr val="FFFFFF"/>
                          </a:solidFill>
                          <a:latin typeface="Geist"/>
                          <a:ea typeface="Geist"/>
                          <a:cs typeface="Geist"/>
                        </a:rPr>
                        <a:t>Top k</a:t>
                      </a:r>
                    </a:p>
                  </a:txBody>
                  <a:tcPr anchor="ctr">
                    <a:solidFill>
                      <a:srgbClr val="4A5B70"/>
                    </a:solidFill>
                  </a:tcPr>
                </a:tc>
                <a:tc>
                  <a:txBody>
                    <a:bodyPr/>
                    <a:lstStyle/>
                    <a:p>
                      <a:r>
                        <a:rPr sz="1500" b="1">
                          <a:solidFill>
                            <a:srgbClr val="FFFFFF"/>
                          </a:solidFill>
                          <a:latin typeface="Geist"/>
                          <a:ea typeface="Geist"/>
                          <a:cs typeface="Geist"/>
                        </a:rPr>
                        <a:t>Cache slots</a:t>
                      </a:r>
                    </a:p>
                  </a:txBody>
                  <a:tcPr anchor="ctr">
                    <a:solidFill>
                      <a:srgbClr val="4A5B70"/>
                    </a:solidFill>
                  </a:tcPr>
                </a:tc>
              </a:tr>
              <a:tr h="585216">
                <a:tc>
                  <a:txBody>
                    <a:bodyPr/>
                    <a:lstStyle/>
                    <a:p>
                      <a:r>
                        <a:rPr sz="1500" b="0">
                          <a:solidFill>
                            <a:srgbClr val="2B3139"/>
                          </a:solidFill>
                          <a:latin typeface="Geist"/>
                          <a:ea typeface="Geist"/>
                          <a:cs typeface="Geist"/>
                        </a:rPr>
                        <a:t>nvidia/Qwen3.6-35B-A3B-NVFP4</a:t>
                      </a:r>
                    </a:p>
                  </a:txBody>
                  <a:tcPr anchor="ctr">
                    <a:solidFill>
                      <a:srgbClr val="FFFFFF"/>
                    </a:solidFill>
                  </a:tcPr>
                </a:tc>
                <a:tc>
                  <a:txBody>
                    <a:bodyPr/>
                    <a:lstStyle/>
                    <a:p>
                      <a:r>
                        <a:rPr sz="1500" b="0">
                          <a:solidFill>
                            <a:srgbClr val="2B3139"/>
                          </a:solidFill>
                          <a:latin typeface="Geist"/>
                          <a:ea typeface="Geist"/>
                          <a:cs typeface="Geist"/>
                        </a:rPr>
                        <a:t>40</a:t>
                      </a:r>
                    </a:p>
                  </a:txBody>
                  <a:tcPr anchor="ctr">
                    <a:solidFill>
                      <a:srgbClr val="FFFFFF"/>
                    </a:solidFill>
                  </a:tcPr>
                </a:tc>
                <a:tc>
                  <a:txBody>
                    <a:bodyPr/>
                    <a:lstStyle/>
                    <a:p>
                      <a:r>
                        <a:rPr sz="1500" b="0">
                          <a:solidFill>
                            <a:srgbClr val="2B3139"/>
                          </a:solidFill>
                          <a:latin typeface="Geist"/>
                          <a:ea typeface="Geist"/>
                          <a:cs typeface="Geist"/>
                        </a:rPr>
                        <a:t>256 / 192</a:t>
                      </a:r>
                    </a:p>
                  </a:txBody>
                  <a:tcPr anchor="ctr">
                    <a:solidFill>
                      <a:srgbClr val="FFFFFF"/>
                    </a:solidFill>
                  </a:tcPr>
                </a:tc>
                <a:tc>
                  <a:txBody>
                    <a:bodyPr/>
                    <a:lstStyle/>
                    <a:p>
                      <a:r>
                        <a:rPr sz="1500" b="0">
                          <a:solidFill>
                            <a:srgbClr val="2B3139"/>
                          </a:solidFill>
                          <a:latin typeface="Geist"/>
                          <a:ea typeface="Geist"/>
                          <a:cs typeface="Geist"/>
                        </a:rPr>
                        <a:t>8</a:t>
                      </a:r>
                    </a:p>
                  </a:txBody>
                  <a:tcPr anchor="ctr">
                    <a:solidFill>
                      <a:srgbClr val="FFFFFF"/>
                    </a:solidFill>
                  </a:tcPr>
                </a:tc>
                <a:tc>
                  <a:txBody>
                    <a:bodyPr/>
                    <a:lstStyle/>
                    <a:p>
                      <a:r>
                        <a:rPr sz="1500" b="0">
                          <a:solidFill>
                            <a:srgbClr val="2B3139"/>
                          </a:solidFill>
                          <a:latin typeface="Geist"/>
                          <a:ea typeface="Geist"/>
                          <a:cs typeface="Geist"/>
                        </a:rPr>
                        <a:t>2048</a:t>
                      </a:r>
                    </a:p>
                  </a:txBody>
                  <a:tcPr anchor="ctr">
                    <a:solidFill>
                      <a:srgbClr val="FFFFFF"/>
                    </a:solidFill>
                  </a:tcPr>
                </a:tc>
              </a:tr>
              <a:tr h="585216">
                <a:tc>
                  <a:txBody>
                    <a:bodyPr/>
                    <a:lstStyle/>
                    <a:p>
                      <a:r>
                        <a:rPr sz="1500" b="0">
                          <a:solidFill>
                            <a:srgbClr val="2B3139"/>
                          </a:solidFill>
                          <a:latin typeface="Geist"/>
                          <a:ea typeface="Geist"/>
                          <a:cs typeface="Geist"/>
                        </a:rPr>
                        <a:t>openai/gpt-oss-20b</a:t>
                      </a:r>
                    </a:p>
                  </a:txBody>
                  <a:tcPr anchor="ctr">
                    <a:solidFill>
                      <a:srgbClr val="FAF7F0"/>
                    </a:solidFill>
                  </a:tcPr>
                </a:tc>
                <a:tc>
                  <a:txBody>
                    <a:bodyPr/>
                    <a:lstStyle/>
                    <a:p>
                      <a:r>
                        <a:rPr sz="1500" b="0">
                          <a:solidFill>
                            <a:srgbClr val="2B3139"/>
                          </a:solidFill>
                          <a:latin typeface="Geist"/>
                          <a:ea typeface="Geist"/>
                          <a:cs typeface="Geist"/>
                        </a:rPr>
                        <a:t>24</a:t>
                      </a:r>
                    </a:p>
                  </a:txBody>
                  <a:tcPr anchor="ctr">
                    <a:solidFill>
                      <a:srgbClr val="FAF7F0"/>
                    </a:solidFill>
                  </a:tcPr>
                </a:tc>
                <a:tc>
                  <a:txBody>
                    <a:bodyPr/>
                    <a:lstStyle/>
                    <a:p>
                      <a:r>
                        <a:rPr sz="1500" b="0">
                          <a:solidFill>
                            <a:srgbClr val="2B3139"/>
                          </a:solidFill>
                          <a:latin typeface="Geist"/>
                          <a:ea typeface="Geist"/>
                          <a:cs typeface="Geist"/>
                        </a:rPr>
                        <a:t>32 / 24</a:t>
                      </a:r>
                    </a:p>
                  </a:txBody>
                  <a:tcPr anchor="ctr">
                    <a:solidFill>
                      <a:srgbClr val="FAF7F0"/>
                    </a:solidFill>
                  </a:tcPr>
                </a:tc>
                <a:tc>
                  <a:txBody>
                    <a:bodyPr/>
                    <a:lstStyle/>
                    <a:p>
                      <a:r>
                        <a:rPr sz="1500" b="0">
                          <a:solidFill>
                            <a:srgbClr val="2B3139"/>
                          </a:solidFill>
                          <a:latin typeface="Geist"/>
                          <a:ea typeface="Geist"/>
                          <a:cs typeface="Geist"/>
                        </a:rPr>
                        <a:t>4</a:t>
                      </a:r>
                    </a:p>
                  </a:txBody>
                  <a:tcPr anchor="ctr">
                    <a:solidFill>
                      <a:srgbClr val="FAF7F0"/>
                    </a:solidFill>
                  </a:tcPr>
                </a:tc>
                <a:tc>
                  <a:txBody>
                    <a:bodyPr/>
                    <a:lstStyle/>
                    <a:p>
                      <a:r>
                        <a:rPr sz="1500" b="0">
                          <a:solidFill>
                            <a:srgbClr val="2B3139"/>
                          </a:solidFill>
                          <a:latin typeface="Geist"/>
                          <a:ea typeface="Geist"/>
                          <a:cs typeface="Geist"/>
                        </a:rPr>
                        <a:t>154</a:t>
                      </a:r>
                    </a:p>
                  </a:txBody>
                  <a:tcPr anchor="ctr">
                    <a:solidFill>
                      <a:srgbClr val="FAF7F0"/>
                    </a:solidFill>
                  </a:tcPr>
                </a:tc>
              </a:tr>
              <a:tr h="585216">
                <a:tc>
                  <a:txBody>
                    <a:bodyPr/>
                    <a:lstStyle/>
                    <a:p>
                      <a:r>
                        <a:rPr sz="1500" b="0">
                          <a:solidFill>
                            <a:srgbClr val="2B3139"/>
                          </a:solidFill>
                          <a:latin typeface="Geist"/>
                          <a:ea typeface="Geist"/>
                          <a:cs typeface="Geist"/>
                        </a:rPr>
                        <a:t>nvidia/Gemma-4-26B-A4B-NVFP4</a:t>
                      </a:r>
                    </a:p>
                  </a:txBody>
                  <a:tcPr anchor="ctr">
                    <a:solidFill>
                      <a:srgbClr val="FFFFFF"/>
                    </a:solidFill>
                  </a:tcPr>
                </a:tc>
                <a:tc>
                  <a:txBody>
                    <a:bodyPr/>
                    <a:lstStyle/>
                    <a:p>
                      <a:r>
                        <a:rPr sz="1500" b="0">
                          <a:solidFill>
                            <a:srgbClr val="2B3139"/>
                          </a:solidFill>
                          <a:latin typeface="Geist"/>
                          <a:ea typeface="Geist"/>
                          <a:cs typeface="Geist"/>
                        </a:rPr>
                        <a:t>30</a:t>
                      </a:r>
                    </a:p>
                  </a:txBody>
                  <a:tcPr anchor="ctr">
                    <a:solidFill>
                      <a:srgbClr val="FFFFFF"/>
                    </a:solidFill>
                  </a:tcPr>
                </a:tc>
                <a:tc>
                  <a:txBody>
                    <a:bodyPr/>
                    <a:lstStyle/>
                    <a:p>
                      <a:r>
                        <a:rPr sz="1500" b="0">
                          <a:solidFill>
                            <a:srgbClr val="2B3139"/>
                          </a:solidFill>
                          <a:latin typeface="Geist"/>
                          <a:ea typeface="Geist"/>
                          <a:cs typeface="Geist"/>
                        </a:rPr>
                        <a:t>128 / 96</a:t>
                      </a:r>
                    </a:p>
                  </a:txBody>
                  <a:tcPr anchor="ctr">
                    <a:solidFill>
                      <a:srgbClr val="FFFFFF"/>
                    </a:solidFill>
                  </a:tcPr>
                </a:tc>
                <a:tc>
                  <a:txBody>
                    <a:bodyPr/>
                    <a:lstStyle/>
                    <a:p>
                      <a:r>
                        <a:rPr sz="1500" b="0">
                          <a:solidFill>
                            <a:srgbClr val="2B3139"/>
                          </a:solidFill>
                          <a:latin typeface="Geist"/>
                          <a:ea typeface="Geist"/>
                          <a:cs typeface="Geist"/>
                        </a:rPr>
                        <a:t>8</a:t>
                      </a:r>
                    </a:p>
                  </a:txBody>
                  <a:tcPr anchor="ctr">
                    <a:solidFill>
                      <a:srgbClr val="FFFFFF"/>
                    </a:solidFill>
                  </a:tcPr>
                </a:tc>
                <a:tc>
                  <a:txBody>
                    <a:bodyPr/>
                    <a:lstStyle/>
                    <a:p>
                      <a:r>
                        <a:rPr sz="1500" b="0">
                          <a:solidFill>
                            <a:srgbClr val="2B3139"/>
                          </a:solidFill>
                          <a:latin typeface="Geist"/>
                          <a:ea typeface="Geist"/>
                          <a:cs typeface="Geist"/>
                        </a:rPr>
                        <a:t>768</a:t>
                      </a:r>
                    </a:p>
                  </a:txBody>
                  <a:tcPr anchor="ctr">
                    <a:solidFill>
                      <a:srgbClr val="FFFFFF"/>
                    </a:solidFill>
                  </a:tcPr>
                </a:tc>
              </a:tr>
            </a:tbl>
          </a:graphicData>
        </a:graphic>
      </p:graphicFrame>
      <p:sp>
        <p:nvSpPr>
          <p:cNvPr id="7" name="Latency: ms/token in eager m">
            <a:extLst>
              <a:ext uri="{FF2B5EF4-FFF2-40B4-BE49-F238E27FC236}">
                <a16:creationId id="{34C07ED5-EDE9-455C-96B5-4AC1B6FCA4AA}"/>
              </a:ext>
            </a:extLst>
          </p:cNvPr>
          <p:cNvSpPr>
            <a:spLocks noGrp="1"/>
          </p:cNvSpPr>
          <p:nvPr/>
        </p:nvSpPr>
        <p:spPr>
          <a:xfrm>
            <a:off x="457200" y="4206240"/>
            <a:ext cx="11277295" cy="365760"/>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Retained experts are per layer. Checkpoint precision: Qwen/Gemma NVFP4; GPT-OSS MXFP4.</a:t>
            </a:r>
          </a:p>
        </p:txBody>
      </p:sp>
      <p:sp>
        <p:nvSpPr>
          <p:cNvPr id="8" name="Reproduction complete">
            <a:extLst>
              <a:ext uri="{FF2B5EF4-FFF2-40B4-BE49-F238E27FC236}">
                <a16:creationId id="{4ECA6FF7-A24A-48F4-9470-401E23849A37}"/>
              </a:ext>
            </a:extLst>
          </p:cNvPr>
          <p:cNvSpPr>
            <a:spLocks noGrp="1"/>
          </p:cNvSpPr>
          <p:nvPr/>
        </p:nvSpPr>
        <p:spPr>
          <a:xfrm>
            <a:off x="457200" y="4681728"/>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RTX 4070 (12 GB) + Ryzen 5 8500G</a:t>
            </a:r>
          </a:p>
        </p:txBody>
      </p:sp>
      <p:sp>
        <p:nvSpPr>
          <p:cNvPr id="9" name="Read the paper, reproduced t">
            <a:extLst>
              <a:ext uri="{FF2B5EF4-FFF2-40B4-BE49-F238E27FC236}">
                <a16:creationId id="{7BC0B933-8CCA-43FF-98D1-732B75D8B253}"/>
              </a:ext>
            </a:extLst>
          </p:cNvPr>
          <p:cNvSpPr>
            <a:spLocks noGrp="1"/>
          </p:cNvSpPr>
          <p:nvPr/>
        </p:nvSpPr>
        <p:spPr>
          <a:xfrm>
            <a:off x="457200" y="5038344"/>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FreeToken hybrid execution; one request at a time; CUDA graphs disabled. Gemma used text-only mode, memory ratio 0.8 and a 1,280-token sequence limit.</a:t>
            </a:r>
          </a:p>
        </p:txBody>
      </p:sp>
      <p:sp>
        <p:nvSpPr>
          <p:cNvPr id="10"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11"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12"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Controls</a:t>
            </a:r>
          </a:p>
        </p:txBody>
      </p:sp>
      <p:sp>
        <p:nvSpPr>
          <p:cNvPr id="13"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Exact revisions and cache budgets were frozen. Kimi was excluded; shared experts were not ranked.</a:t>
            </a:r>
          </a:p>
        </p:txBody>
      </p:sp>
    </p:spTree>
    <p:extLst>
      <p:ext uri="{BB962C8B-B14F-4D97-AF65-F5344CB8AC3E}">
        <ns4:creationId val="800000"/>
      </p:ext>
    </p:extLst>
  </p:cSld>
  <p:clrMapOvr>
    <a:masterClrMapping/>
  </p:clrMapOvr>
</p:sld>
</file>

<file path=ppt/slides/slide23.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STATIC PRUNING · HELD-OUT COVERAGE</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Task-specific masks preserve most decode accesses</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6" name="Figure 18" descr="Most runtime-aware policies beat q*; ANN and GBM did not"/>
          <p:cNvPicPr>
            <a:picLocks noChangeAspect="1"/>
          </p:cNvPicPr>
          <p:nvPr/>
        </p:nvPicPr>
        <p:blipFill>
          <a:blip r:embed="rIdStaticFigure"/>
          <a:stretch>
            <a:fillRect/>
          </a:stretch>
        </p:blipFill>
        <p:spPr>
          <a:xfrm>
            <a:off x="1995842" y="1620000"/>
            <a:ext cx="8200315" cy="4340000"/>
          </a:xfrm>
          <a:prstGeom prst="rect">
            <a:avLst/>
          </a:prstGeom>
        </p:spPr>
      </p:pic>
      <p:sp>
        <p:nvSpPr>
          <p:cNvPr id="7"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8"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9"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Reading</a:t>
            </a:r>
          </a:p>
        </p:txBody>
      </p:sp>
      <p:sp>
        <p:nvSpPr>
          <p:cNvPr id="10"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Gemma reaches 99.32-99.57% coverage. Access coverage alone does not establish answer quality.</a:t>
            </a:r>
          </a:p>
        </p:txBody>
      </p:sp>
    </p:spTree>
    <p:extLst>
      <p:ext uri="{BB962C8B-B14F-4D97-AF65-F5344CB8AC3E}">
        <ns4:creationId val="800000"/>
      </p:ext>
    </p:extLst>
  </p:cSld>
  <p:clrMapOvr>
    <a:masterClrMapping/>
  </p:clrMapOvr>
</p:sld>
</file>

<file path=ppt/slides/slide24.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STATIC PRUNING · WORKLOAD TRANSFER</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A task-specific mask can lose coverage on another task</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6" name="Figure 18" descr="Most runtime-aware policies beat q*; ANN and GBM did not"/>
          <p:cNvPicPr>
            <a:picLocks noChangeAspect="1"/>
          </p:cNvPicPr>
          <p:nvPr/>
        </p:nvPicPr>
        <p:blipFill>
          <a:blip r:embed="rIdStaticFigure"/>
          <a:stretch>
            <a:fillRect/>
          </a:stretch>
        </p:blipFill>
        <p:spPr>
          <a:xfrm>
            <a:off x="1995842" y="1620000"/>
            <a:ext cx="8200315" cy="4340000"/>
          </a:xfrm>
          <a:prstGeom prst="rect">
            <a:avLst/>
          </a:prstGeom>
        </p:spPr>
      </p:pic>
      <p:sp>
        <p:nvSpPr>
          <p:cNvPr id="7"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8"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9"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Transfer</a:t>
            </a:r>
          </a:p>
        </p:txBody>
      </p:sp>
      <p:sp>
        <p:nvSpPr>
          <p:cNvPr id="10"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GPT-OSS incident mask: 97.7% on incident, 63.2% on math. Mixed rankings trade specialisation for coverage.</a:t>
            </a:r>
          </a:p>
        </p:txBody>
      </p:sp>
    </p:spTree>
    <p:extLst>
      <p:ext uri="{BB962C8B-B14F-4D97-AF65-F5344CB8AC3E}">
        <ns4:creationId val="800000"/>
      </p:ext>
    </p:extLst>
  </p:cSld>
  <p:clrMapOvr>
    <a:masterClrMapping/>
  </p:clrMapOvr>
</p:sld>
</file>

<file path=ppt/slides/slide25.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STATIC PRUNING · PREFILL TRANSFER</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Decode rankings transfer poorly to prefill</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pic>
        <p:nvPicPr>
          <p:cNvPr id="6" name="Figure 18" descr="Most runtime-aware policies beat q*; ANN and GBM did not"/>
          <p:cNvPicPr>
            <a:picLocks noChangeAspect="1"/>
          </p:cNvPicPr>
          <p:nvPr/>
        </p:nvPicPr>
        <p:blipFill>
          <a:blip r:embed="rIdStaticFigure"/>
          <a:stretch>
            <a:fillRect/>
          </a:stretch>
        </p:blipFill>
        <p:spPr>
          <a:xfrm>
            <a:off x="1995842" y="1620000"/>
            <a:ext cx="8200315" cy="4340000"/>
          </a:xfrm>
          <a:prstGeom prst="rect">
            <a:avLst/>
          </a:prstGeom>
        </p:spPr>
      </p:pic>
      <p:sp>
        <p:nvSpPr>
          <p:cNvPr id="7"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8"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9"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Phase shift</a:t>
            </a:r>
          </a:p>
        </p:txBody>
      </p:sp>
      <p:sp>
        <p:nvSpPr>
          <p:cNvPr id="10"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GPT-OSS mixed mask retains about 74-76% of prefill accesses versus 93-95% of decode accesses.</a:t>
            </a:r>
          </a:p>
        </p:txBody>
      </p:sp>
    </p:spTree>
    <p:extLst>
      <p:ext uri="{BB962C8B-B14F-4D97-AF65-F5344CB8AC3E}">
        <ns4:creationId val="800000"/>
      </p:ext>
    </p:extLst>
  </p:cSld>
  <p:clrMapOvr>
    <a:masterClrMapping/>
  </p:clrMapOvr>
</p:sld>
</file>

<file path=ppt/slides/slide26.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STATIC PRUNING · RANKING STABILITY</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Stable rankings can still omit important routes</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6" name="Table 30"/>
          <p:cNvGraphicFramePr/>
          <p:nvPr/>
        </p:nvGraphicFramePr>
        <p:xfrm>
          <a:off x="457200" y="1755648"/>
          <a:ext cx="11277295" cy="2340864"/>
        </p:xfrm>
        <a:graphic>
          <a:graphicData uri="http://schemas.openxmlformats.org/drawingml/2006/table">
            <a:tbl>
              <a:tblPr/>
              <a:tblGrid>
                <a:gridCol w="2834640"/>
                <a:gridCol w="2926080"/>
                <a:gridCol w="2880360"/>
                <a:gridCol w="2636215"/>
              </a:tblGrid>
              <a:tr h="585216">
                <a:tc>
                  <a:txBody>
                    <a:bodyPr/>
                    <a:lstStyle/>
                    <a:p>
                      <a:r>
                        <a:rPr sz="1500" b="1">
                          <a:solidFill>
                            <a:srgbClr val="FFFFFF"/>
                          </a:solidFill>
                          <a:latin typeface="Geist"/>
                          <a:ea typeface="Geist"/>
                          <a:cs typeface="Geist"/>
                        </a:rPr>
                        <a:t>Model</a:t>
                      </a:r>
                    </a:p>
                  </a:txBody>
                  <a:tcPr anchor="ctr">
                    <a:solidFill>
                      <a:srgbClr val="4A5B70"/>
                    </a:solidFill>
                  </a:tcPr>
                </a:tc>
                <a:tc>
                  <a:txBody>
                    <a:bodyPr/>
                    <a:lstStyle/>
                    <a:p>
                      <a:r>
                        <a:rPr sz="1500" b="1">
                          <a:solidFill>
                            <a:srgbClr val="FFFFFF"/>
                          </a:solidFill>
                          <a:latin typeface="Geist"/>
                          <a:ea typeface="Geist"/>
                          <a:cs typeface="Geist"/>
                        </a:rPr>
                        <a:t>Retained-set Jaccard</a:t>
                      </a:r>
                    </a:p>
                  </a:txBody>
                  <a:tcPr anchor="ctr">
                    <a:solidFill>
                      <a:srgbClr val="4A5B70"/>
                    </a:solidFill>
                  </a:tcPr>
                </a:tc>
                <a:tc>
                  <a:txBody>
                    <a:bodyPr/>
                    <a:lstStyle/>
                    <a:p>
                      <a:r>
                        <a:rPr sz="1500" b="1">
                          <a:solidFill>
                            <a:srgbClr val="FFFFFF"/>
                          </a:solidFill>
                          <a:latin typeface="Geist"/>
                          <a:ea typeface="Geist"/>
                          <a:cs typeface="Geist"/>
                        </a:rPr>
                        <a:t>Random reference</a:t>
                      </a:r>
                    </a:p>
                  </a:txBody>
                  <a:tcPr anchor="ctr">
                    <a:solidFill>
                      <a:srgbClr val="4A5B70"/>
                    </a:solidFill>
                  </a:tcPr>
                </a:tc>
                <a:tc>
                  <a:txBody>
                    <a:bodyPr/>
                    <a:lstStyle/>
                    <a:p>
                      <a:r>
                        <a:rPr sz="1500" b="1">
                          <a:solidFill>
                            <a:srgbClr val="FFFFFF"/>
                          </a:solidFill>
                          <a:latin typeface="Geist"/>
                          <a:ea typeface="Geist"/>
                          <a:cs typeface="Geist"/>
                        </a:rPr>
                        <a:t>Excess overlap</a:t>
                      </a:r>
                    </a:p>
                  </a:txBody>
                  <a:tcPr anchor="ctr">
                    <a:solidFill>
                      <a:srgbClr val="4A5B70"/>
                    </a:solidFill>
                  </a:tcPr>
                </a:tc>
              </a:tr>
              <a:tr h="585216">
                <a:tc>
                  <a:txBody>
                    <a:bodyPr/>
                    <a:lstStyle/>
                    <a:p>
                      <a:r>
                        <a:rPr sz="1500" b="0">
                          <a:solidFill>
                            <a:srgbClr val="2B3139"/>
                          </a:solidFill>
                          <a:latin typeface="Geist"/>
                          <a:ea typeface="Geist"/>
                          <a:cs typeface="Geist"/>
                        </a:rPr>
                        <a:t>Qwen3.6</a:t>
                      </a:r>
                    </a:p>
                  </a:txBody>
                  <a:tcPr anchor="ctr">
                    <a:solidFill>
                      <a:srgbClr val="FFFFFF"/>
                    </a:solidFill>
                  </a:tcPr>
                </a:tc>
                <a:tc>
                  <a:txBody>
                    <a:bodyPr/>
                    <a:lstStyle/>
                    <a:p>
                      <a:r>
                        <a:rPr sz="1500" b="0">
                          <a:solidFill>
                            <a:srgbClr val="2B3139"/>
                          </a:solidFill>
                          <a:latin typeface="Geist"/>
                          <a:ea typeface="Geist"/>
                          <a:cs typeface="Geist"/>
                        </a:rPr>
                        <a:t>0.891</a:t>
                      </a:r>
                    </a:p>
                  </a:txBody>
                  <a:tcPr anchor="ctr">
                    <a:solidFill>
                      <a:srgbClr val="FFFFFF"/>
                    </a:solidFill>
                  </a:tcPr>
                </a:tc>
                <a:tc>
                  <a:txBody>
                    <a:bodyPr/>
                    <a:lstStyle/>
                    <a:p>
                      <a:r>
                        <a:rPr sz="1500" b="0">
                          <a:solidFill>
                            <a:srgbClr val="2B3139"/>
                          </a:solidFill>
                          <a:latin typeface="Geist"/>
                          <a:ea typeface="Geist"/>
                          <a:cs typeface="Geist"/>
                        </a:rPr>
                        <a:t>0.600</a:t>
                      </a:r>
                    </a:p>
                  </a:txBody>
                  <a:tcPr anchor="ctr">
                    <a:solidFill>
                      <a:srgbClr val="FFFFFF"/>
                    </a:solidFill>
                  </a:tcPr>
                </a:tc>
                <a:tc>
                  <a:txBody>
                    <a:bodyPr/>
                    <a:lstStyle/>
                    <a:p>
                      <a:r>
                        <a:rPr sz="1500" b="0">
                          <a:solidFill>
                            <a:srgbClr val="2B3139"/>
                          </a:solidFill>
                          <a:latin typeface="Geist"/>
                          <a:ea typeface="Geist"/>
                          <a:cs typeface="Geist"/>
                        </a:rPr>
                        <a:t>0.291</a:t>
                      </a:r>
                    </a:p>
                  </a:txBody>
                  <a:tcPr anchor="ctr">
                    <a:solidFill>
                      <a:srgbClr val="FFFFFF"/>
                    </a:solidFill>
                  </a:tcPr>
                </a:tc>
              </a:tr>
              <a:tr h="585216">
                <a:tc>
                  <a:txBody>
                    <a:bodyPr/>
                    <a:lstStyle/>
                    <a:p>
                      <a:r>
                        <a:rPr sz="1500" b="0">
                          <a:solidFill>
                            <a:srgbClr val="2B3139"/>
                          </a:solidFill>
                          <a:latin typeface="Geist"/>
                          <a:ea typeface="Geist"/>
                          <a:cs typeface="Geist"/>
                        </a:rPr>
                        <a:t>GPT-OSS</a:t>
                      </a:r>
                    </a:p>
                  </a:txBody>
                  <a:tcPr anchor="ctr">
                    <a:solidFill>
                      <a:srgbClr val="FAF7F0"/>
                    </a:solidFill>
                  </a:tcPr>
                </a:tc>
                <a:tc>
                  <a:txBody>
                    <a:bodyPr/>
                    <a:lstStyle/>
                    <a:p>
                      <a:r>
                        <a:rPr sz="1500" b="0">
                          <a:solidFill>
                            <a:srgbClr val="2B3139"/>
                          </a:solidFill>
                          <a:latin typeface="Geist"/>
                          <a:ea typeface="Geist"/>
                          <a:cs typeface="Geist"/>
                        </a:rPr>
                        <a:t>0.943</a:t>
                      </a:r>
                    </a:p>
                  </a:txBody>
                  <a:tcPr anchor="ctr">
                    <a:solidFill>
                      <a:srgbClr val="FAF7F0"/>
                    </a:solidFill>
                  </a:tcPr>
                </a:tc>
                <a:tc>
                  <a:txBody>
                    <a:bodyPr/>
                    <a:lstStyle/>
                    <a:p>
                      <a:r>
                        <a:rPr sz="1500" b="0">
                          <a:solidFill>
                            <a:srgbClr val="2B3139"/>
                          </a:solidFill>
                          <a:latin typeface="Geist"/>
                          <a:ea typeface="Geist"/>
                          <a:cs typeface="Geist"/>
                        </a:rPr>
                        <a:t>0.601</a:t>
                      </a:r>
                    </a:p>
                  </a:txBody>
                  <a:tcPr anchor="ctr">
                    <a:solidFill>
                      <a:srgbClr val="FAF7F0"/>
                    </a:solidFill>
                  </a:tcPr>
                </a:tc>
                <a:tc>
                  <a:txBody>
                    <a:bodyPr/>
                    <a:lstStyle/>
                    <a:p>
                      <a:r>
                        <a:rPr sz="1500" b="0">
                          <a:solidFill>
                            <a:srgbClr val="2B3139"/>
                          </a:solidFill>
                          <a:latin typeface="Geist"/>
                          <a:ea typeface="Geist"/>
                          <a:cs typeface="Geist"/>
                        </a:rPr>
                        <a:t>0.342</a:t>
                      </a:r>
                    </a:p>
                  </a:txBody>
                  <a:tcPr anchor="ctr">
                    <a:solidFill>
                      <a:srgbClr val="FAF7F0"/>
                    </a:solidFill>
                  </a:tcPr>
                </a:tc>
              </a:tr>
              <a:tr h="585216">
                <a:tc>
                  <a:txBody>
                    <a:bodyPr/>
                    <a:lstStyle/>
                    <a:p>
                      <a:r>
                        <a:rPr sz="1500" b="0">
                          <a:solidFill>
                            <a:srgbClr val="2B3139"/>
                          </a:solidFill>
                          <a:latin typeface="Geist"/>
                          <a:ea typeface="Geist"/>
                          <a:cs typeface="Geist"/>
                        </a:rPr>
                        <a:t>Gemma 4</a:t>
                      </a:r>
                    </a:p>
                  </a:txBody>
                  <a:tcPr anchor="ctr">
                    <a:solidFill>
                      <a:srgbClr val="FFFFFF"/>
                    </a:solidFill>
                  </a:tcPr>
                </a:tc>
                <a:tc>
                  <a:txBody>
                    <a:bodyPr/>
                    <a:lstStyle/>
                    <a:p>
                      <a:r>
                        <a:rPr sz="1500" b="0">
                          <a:solidFill>
                            <a:srgbClr val="2B3139"/>
                          </a:solidFill>
                          <a:latin typeface="Geist"/>
                          <a:ea typeface="Geist"/>
                          <a:cs typeface="Geist"/>
                        </a:rPr>
                        <a:t>0.937</a:t>
                      </a:r>
                    </a:p>
                  </a:txBody>
                  <a:tcPr anchor="ctr">
                    <a:solidFill>
                      <a:srgbClr val="FFFFFF"/>
                    </a:solidFill>
                  </a:tcPr>
                </a:tc>
                <a:tc>
                  <a:txBody>
                    <a:bodyPr/>
                    <a:lstStyle/>
                    <a:p>
                      <a:r>
                        <a:rPr sz="1500" b="0">
                          <a:solidFill>
                            <a:srgbClr val="2B3139"/>
                          </a:solidFill>
                          <a:latin typeface="Geist"/>
                          <a:ea typeface="Geist"/>
                          <a:cs typeface="Geist"/>
                        </a:rPr>
                        <a:t>0.601</a:t>
                      </a:r>
                    </a:p>
                  </a:txBody>
                  <a:tcPr anchor="ctr">
                    <a:solidFill>
                      <a:srgbClr val="FFFFFF"/>
                    </a:solidFill>
                  </a:tcPr>
                </a:tc>
                <a:tc>
                  <a:txBody>
                    <a:bodyPr/>
                    <a:lstStyle/>
                    <a:p>
                      <a:r>
                        <a:rPr sz="1500" b="0">
                          <a:solidFill>
                            <a:srgbClr val="2B3139"/>
                          </a:solidFill>
                          <a:latin typeface="Geist"/>
                          <a:ea typeface="Geist"/>
                          <a:cs typeface="Geist"/>
                        </a:rPr>
                        <a:t>0.336</a:t>
                      </a:r>
                    </a:p>
                  </a:txBody>
                  <a:tcPr anchor="ctr">
                    <a:solidFill>
                      <a:srgbClr val="FFFFFF"/>
                    </a:solidFill>
                  </a:tcPr>
                </a:tc>
              </a:tr>
            </a:tbl>
          </a:graphicData>
        </a:graphic>
      </p:graphicFrame>
      <p:sp>
        <p:nvSpPr>
          <p:cNvPr id="7" name="Latency: ms/token in eager m">
            <a:extLst>
              <a:ext uri="{FF2B5EF4-FFF2-40B4-BE49-F238E27FC236}">
                <a16:creationId id="{34C07ED5-EDE9-455C-96B5-4AC1B6FCA4AA}"/>
              </a:ext>
            </a:extLst>
          </p:cNvPr>
          <p:cNvSpPr>
            <a:spLocks noGrp="1"/>
          </p:cNvSpPr>
          <p:nvPr/>
        </p:nvSpPr>
        <p:spPr>
          <a:xfrm>
            <a:off x="457200" y="4206240"/>
            <a:ext cx="11277295" cy="365760"/>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Mean per-layer Jaccard across disjoint calibration halves; mixed decode mask, 75% retained.</a:t>
            </a:r>
          </a:p>
        </p:txBody>
      </p:sp>
      <p:sp>
        <p:nvSpPr>
          <p:cNvPr id="8" name="Reproduction complete">
            <a:extLst>
              <a:ext uri="{FF2B5EF4-FFF2-40B4-BE49-F238E27FC236}">
                <a16:creationId id="{4ECA6FF7-A24A-48F4-9470-401E23849A37}"/>
              </a:ext>
            </a:extLst>
          </p:cNvPr>
          <p:cNvSpPr>
            <a:spLocks noGrp="1"/>
          </p:cNvSpPr>
          <p:nvPr/>
        </p:nvSpPr>
        <p:spPr>
          <a:xfrm>
            <a:off x="457200" y="4681728"/>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All three clear the 0.10 excess-overlap screen</a:t>
            </a:r>
          </a:p>
        </p:txBody>
      </p:sp>
      <p:sp>
        <p:nvSpPr>
          <p:cNvPr id="9" name="Read the paper, reproduced t">
            <a:extLst>
              <a:ext uri="{FF2B5EF4-FFF2-40B4-BE49-F238E27FC236}">
                <a16:creationId id="{7BC0B933-8CCA-43FF-98D1-732B75D8B253}"/>
              </a:ext>
            </a:extLst>
          </p:cNvPr>
          <p:cNvSpPr>
            <a:spLocks noGrp="1"/>
          </p:cNvSpPr>
          <p:nvPr/>
        </p:nvSpPr>
        <p:spPr>
          <a:xfrm>
            <a:off x="457200" y="5038344"/>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Retained sets overlap more than random 75% masks. The layer/subset comparisons are dependent; high overlap does not guarantee coverage across tasks or phases.</a:t>
            </a:r>
          </a:p>
        </p:txBody>
      </p:sp>
      <p:sp>
        <p:nvSpPr>
          <p:cNvPr id="10"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11"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12"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Sensitivity</a:t>
            </a:r>
          </a:p>
        </p:txBody>
      </p:sp>
      <p:sp>
        <p:nvSpPr>
          <p:cNvPr id="13"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18 additional captures per checkpoint assess repeat sensitivity; they do not add independent tasks.</a:t>
            </a:r>
          </a:p>
        </p:txBody>
      </p:sp>
    </p:spTree>
    <p:extLst>
      <p:ext uri="{BB962C8B-B14F-4D97-AF65-F5344CB8AC3E}">
        <ns4:creationId val="800000"/>
      </p:ext>
    </p:extLst>
  </p:cSld>
  <p:clrMapOvr>
    <a:masterClrMapping/>
  </p:clrMapOvr>
</p:sld>
</file>

<file path=ppt/slides/slide27.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STATIC PRUNING · NATIVE CACHE REPLAY</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Rerouting gives little benefit at the fixed cache budget</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graphicFrame>
        <p:nvGraphicFramePr>
          <p:cNvPr id="6" name="Table 30"/>
          <p:cNvGraphicFramePr/>
          <p:nvPr/>
        </p:nvGraphicFramePr>
        <p:xfrm>
          <a:off x="457200" y="1755648"/>
          <a:ext cx="11277295" cy="3511296"/>
        </p:xfrm>
        <a:graphic>
          <a:graphicData uri="http://schemas.openxmlformats.org/drawingml/2006/table">
            <a:tbl>
              <a:tblPr/>
              <a:tblGrid>
                <a:gridCol w="2971800"/>
                <a:gridCol w="2926080"/>
                <a:gridCol w="2971800"/>
                <a:gridCol w="2407615"/>
              </a:tblGrid>
              <a:tr h="585216">
                <a:tc>
                  <a:txBody>
                    <a:bodyPr/>
                    <a:lstStyle/>
                    <a:p>
                      <a:r>
                        <a:rPr sz="1500" b="1">
                          <a:solidFill>
                            <a:srgbClr val="FFFFFF"/>
                          </a:solidFill>
                          <a:latin typeface="Geist"/>
                          <a:ea typeface="Geist"/>
                          <a:cs typeface="Geist"/>
                        </a:rPr>
                        <a:t>Model / workload</a:t>
                      </a:r>
                    </a:p>
                  </a:txBody>
                  <a:tcPr anchor="ctr">
                    <a:solidFill>
                      <a:srgbClr val="4A5B70"/>
                    </a:solidFill>
                  </a:tcPr>
                </a:tc>
                <a:tc>
                  <a:txBody>
                    <a:bodyPr/>
                    <a:lstStyle/>
                    <a:p>
                      <a:r>
                        <a:rPr sz="1500" b="1">
                          <a:solidFill>
                            <a:srgbClr val="FFFFFF"/>
                          </a:solidFill>
                          <a:latin typeface="Geist"/>
                          <a:ea typeface="Geist"/>
                          <a:cs typeface="Geist"/>
                        </a:rPr>
                        <a:t>Fixed-cache reduction</a:t>
                      </a:r>
                    </a:p>
                  </a:txBody>
                  <a:tcPr anchor="ctr">
                    <a:solidFill>
                      <a:srgbClr val="4A5B70"/>
                    </a:solidFill>
                  </a:tcPr>
                </a:tc>
                <a:tc>
                  <a:txBody>
                    <a:bodyPr/>
                    <a:lstStyle/>
                    <a:p>
                      <a:r>
                        <a:rPr sz="1500" b="1">
                          <a:solidFill>
                            <a:srgbClr val="FFFFFF"/>
                          </a:solidFill>
                          <a:latin typeface="Geist"/>
                          <a:ea typeface="Geist"/>
                          <a:cs typeface="Geist"/>
                        </a:rPr>
                        <a:t>75%-cache reduction</a:t>
                      </a:r>
                    </a:p>
                  </a:txBody>
                  <a:tcPr anchor="ctr">
                    <a:solidFill>
                      <a:srgbClr val="4A5B70"/>
                    </a:solidFill>
                  </a:tcPr>
                </a:tc>
                <a:tc>
                  <a:txBody>
                    <a:bodyPr/>
                    <a:lstStyle/>
                    <a:p>
                      <a:r>
                        <a:rPr sz="1500" b="1">
                          <a:solidFill>
                            <a:srgbClr val="FFFFFF"/>
                          </a:solidFill>
                          <a:latin typeface="Geist"/>
                          <a:ea typeface="Geist"/>
                          <a:cs typeface="Geist"/>
                        </a:rPr>
                        <a:t>Scope</a:t>
                      </a:r>
                    </a:p>
                  </a:txBody>
                  <a:tcPr anchor="ctr">
                    <a:solidFill>
                      <a:srgbClr val="4A5B70"/>
                    </a:solidFill>
                  </a:tcPr>
                </a:tc>
              </a:tr>
              <a:tr h="585216">
                <a:tc>
                  <a:txBody>
                    <a:bodyPr/>
                    <a:lstStyle/>
                    <a:p>
                      <a:r>
                        <a:rPr sz="1500" b="0">
                          <a:solidFill>
                            <a:srgbClr val="2B3139"/>
                          </a:solidFill>
                          <a:latin typeface="Geist"/>
                          <a:ea typeface="Geist"/>
                          <a:cs typeface="Geist"/>
                        </a:rPr>
                        <a:t>Qwen / math</a:t>
                      </a:r>
                    </a:p>
                  </a:txBody>
                  <a:tcPr anchor="ctr">
                    <a:solidFill>
                      <a:srgbClr val="FFFFFF"/>
                    </a:solidFill>
                  </a:tcPr>
                </a:tc>
                <a:tc>
                  <a:txBody>
                    <a:bodyPr/>
                    <a:lstStyle/>
                    <a:p>
                      <a:r>
                        <a:rPr sz="1500" b="0">
                          <a:solidFill>
                            <a:srgbClr val="2B3139"/>
                          </a:solidFill>
                          <a:latin typeface="Geist"/>
                          <a:ea typeface="Geist"/>
                          <a:cs typeface="Geist"/>
                        </a:rPr>
                        <a:t>2.24%</a:t>
                      </a:r>
                    </a:p>
                  </a:txBody>
                  <a:tcPr anchor="ctr">
                    <a:solidFill>
                      <a:srgbClr val="FFFFFF"/>
                    </a:solidFill>
                  </a:tcPr>
                </a:tc>
                <a:tc>
                  <a:txBody>
                    <a:bodyPr/>
                    <a:lstStyle/>
                    <a:p>
                      <a:r>
                        <a:rPr sz="1500" b="0">
                          <a:solidFill>
                            <a:srgbClr val="2B3139"/>
                          </a:solidFill>
                          <a:latin typeface="Geist"/>
                          <a:ea typeface="Geist"/>
                          <a:cs typeface="Geist"/>
                        </a:rPr>
                        <a:t>-4.73%</a:t>
                      </a:r>
                    </a:p>
                  </a:txBody>
                  <a:tcPr anchor="ctr">
                    <a:solidFill>
                      <a:srgbClr val="FFFFFF"/>
                    </a:solidFill>
                  </a:tcPr>
                </a:tc>
                <a:tc>
                  <a:txBody>
                    <a:bodyPr/>
                    <a:lstStyle/>
                    <a:p>
                      <a:r>
                        <a:rPr sz="1500" b="0">
                          <a:solidFill>
                            <a:srgbClr val="2B3139"/>
                          </a:solidFill>
                          <a:latin typeface="Geist"/>
                          <a:ea typeface="Geist"/>
                          <a:cs typeface="Geist"/>
                        </a:rPr>
                        <a:t>3 requests</a:t>
                      </a:r>
                    </a:p>
                  </a:txBody>
                  <a:tcPr anchor="ctr">
                    <a:solidFill>
                      <a:srgbClr val="FFFFFF"/>
                    </a:solidFill>
                  </a:tcPr>
                </a:tc>
              </a:tr>
              <a:tr h="585216">
                <a:tc>
                  <a:txBody>
                    <a:bodyPr/>
                    <a:lstStyle/>
                    <a:p>
                      <a:r>
                        <a:rPr sz="1500" b="0">
                          <a:solidFill>
                            <a:srgbClr val="2B3139"/>
                          </a:solidFill>
                          <a:latin typeface="Geist"/>
                          <a:ea typeface="Geist"/>
                          <a:cs typeface="Geist"/>
                        </a:rPr>
                        <a:t>Qwen / code</a:t>
                      </a:r>
                    </a:p>
                  </a:txBody>
                  <a:tcPr anchor="ctr">
                    <a:solidFill>
                      <a:srgbClr val="FAF7F0"/>
                    </a:solidFill>
                  </a:tcPr>
                </a:tc>
                <a:tc>
                  <a:txBody>
                    <a:bodyPr/>
                    <a:lstStyle/>
                    <a:p>
                      <a:r>
                        <a:rPr sz="1500" b="0">
                          <a:solidFill>
                            <a:srgbClr val="2B3139"/>
                          </a:solidFill>
                          <a:latin typeface="Geist"/>
                          <a:ea typeface="Geist"/>
                          <a:cs typeface="Geist"/>
                        </a:rPr>
                        <a:t>0.96%</a:t>
                      </a:r>
                    </a:p>
                  </a:txBody>
                  <a:tcPr anchor="ctr">
                    <a:solidFill>
                      <a:srgbClr val="FAF7F0"/>
                    </a:solidFill>
                  </a:tcPr>
                </a:tc>
                <a:tc>
                  <a:txBody>
                    <a:bodyPr/>
                    <a:lstStyle/>
                    <a:p>
                      <a:r>
                        <a:rPr sz="1500" b="0">
                          <a:solidFill>
                            <a:srgbClr val="2B3139"/>
                          </a:solidFill>
                          <a:latin typeface="Geist"/>
                          <a:ea typeface="Geist"/>
                          <a:cs typeface="Geist"/>
                        </a:rPr>
                        <a:t>-4.30%</a:t>
                      </a:r>
                    </a:p>
                  </a:txBody>
                  <a:tcPr anchor="ctr">
                    <a:solidFill>
                      <a:srgbClr val="FAF7F0"/>
                    </a:solidFill>
                  </a:tcPr>
                </a:tc>
                <a:tc>
                  <a:txBody>
                    <a:bodyPr/>
                    <a:lstStyle/>
                    <a:p>
                      <a:r>
                        <a:rPr sz="1500" b="0">
                          <a:solidFill>
                            <a:srgbClr val="2B3139"/>
                          </a:solidFill>
                          <a:latin typeface="Geist"/>
                          <a:ea typeface="Geist"/>
                          <a:cs typeface="Geist"/>
                        </a:rPr>
                        <a:t>3 requests</a:t>
                      </a:r>
                    </a:p>
                  </a:txBody>
                  <a:tcPr anchor="ctr">
                    <a:solidFill>
                      <a:srgbClr val="FAF7F0"/>
                    </a:solidFill>
                  </a:tcPr>
                </a:tc>
              </a:tr>
              <a:tr h="585216">
                <a:tc>
                  <a:txBody>
                    <a:bodyPr/>
                    <a:lstStyle/>
                    <a:p>
                      <a:r>
                        <a:rPr sz="1500" b="0">
                          <a:solidFill>
                            <a:srgbClr val="2B3139"/>
                          </a:solidFill>
                          <a:latin typeface="Geist"/>
                          <a:ea typeface="Geist"/>
                          <a:cs typeface="Geist"/>
                        </a:rPr>
                        <a:t>Qwen / incident</a:t>
                      </a:r>
                    </a:p>
                  </a:txBody>
                  <a:tcPr anchor="ctr">
                    <a:solidFill>
                      <a:srgbClr val="FFFFFF"/>
                    </a:solidFill>
                  </a:tcPr>
                </a:tc>
                <a:tc>
                  <a:txBody>
                    <a:bodyPr/>
                    <a:lstStyle/>
                    <a:p>
                      <a:r>
                        <a:rPr sz="1500" b="0">
                          <a:solidFill>
                            <a:srgbClr val="2B3139"/>
                          </a:solidFill>
                          <a:latin typeface="Geist"/>
                          <a:ea typeface="Geist"/>
                          <a:cs typeface="Geist"/>
                        </a:rPr>
                        <a:t>0.87%</a:t>
                      </a:r>
                    </a:p>
                  </a:txBody>
                  <a:tcPr anchor="ctr">
                    <a:solidFill>
                      <a:srgbClr val="FFFFFF"/>
                    </a:solidFill>
                  </a:tcPr>
                </a:tc>
                <a:tc>
                  <a:txBody>
                    <a:bodyPr/>
                    <a:lstStyle/>
                    <a:p>
                      <a:r>
                        <a:rPr sz="1500" b="0">
                          <a:solidFill>
                            <a:srgbClr val="2B3139"/>
                          </a:solidFill>
                          <a:latin typeface="Geist"/>
                          <a:ea typeface="Geist"/>
                          <a:cs typeface="Geist"/>
                        </a:rPr>
                        <a:t>-5.05%</a:t>
                      </a:r>
                    </a:p>
                  </a:txBody>
                  <a:tcPr anchor="ctr">
                    <a:solidFill>
                      <a:srgbClr val="FFFFFF"/>
                    </a:solidFill>
                  </a:tcPr>
                </a:tc>
                <a:tc>
                  <a:txBody>
                    <a:bodyPr/>
                    <a:lstStyle/>
                    <a:p>
                      <a:r>
                        <a:rPr sz="1500" b="0">
                          <a:solidFill>
                            <a:srgbClr val="2B3139"/>
                          </a:solidFill>
                          <a:latin typeface="Geist"/>
                          <a:ea typeface="Geist"/>
                          <a:cs typeface="Geist"/>
                        </a:rPr>
                        <a:t>3 requests</a:t>
                      </a:r>
                    </a:p>
                  </a:txBody>
                  <a:tcPr anchor="ctr">
                    <a:solidFill>
                      <a:srgbClr val="FFFFFF"/>
                    </a:solidFill>
                  </a:tcPr>
                </a:tc>
              </a:tr>
              <a:tr h="585216">
                <a:tc>
                  <a:txBody>
                    <a:bodyPr/>
                    <a:lstStyle/>
                    <a:p>
                      <a:r>
                        <a:rPr sz="1500" b="0">
                          <a:solidFill>
                            <a:srgbClr val="2B3139"/>
                          </a:solidFill>
                          <a:latin typeface="Geist"/>
                          <a:ea typeface="Geist"/>
                          <a:cs typeface="Geist"/>
                        </a:rPr>
                        <a:t>GPT-OSS / each task</a:t>
                      </a:r>
                    </a:p>
                  </a:txBody>
                  <a:tcPr anchor="ctr">
                    <a:solidFill>
                      <a:srgbClr val="FAF7F0"/>
                    </a:solidFill>
                  </a:tcPr>
                </a:tc>
                <a:tc>
                  <a:txBody>
                    <a:bodyPr/>
                    <a:lstStyle/>
                    <a:p>
                      <a:r>
                        <a:rPr sz="1500" b="0">
                          <a:solidFill>
                            <a:srgbClr val="2B3139"/>
                          </a:solidFill>
                          <a:latin typeface="Geist"/>
                          <a:ea typeface="Geist"/>
                          <a:cs typeface="Geist"/>
                        </a:rPr>
                        <a:t>0.00%</a:t>
                      </a:r>
                    </a:p>
                  </a:txBody>
                  <a:tcPr anchor="ctr">
                    <a:solidFill>
                      <a:srgbClr val="FAF7F0"/>
                    </a:solidFill>
                  </a:tcPr>
                </a:tc>
                <a:tc>
                  <a:txBody>
                    <a:bodyPr/>
                    <a:lstStyle/>
                    <a:p>
                      <a:r>
                        <a:rPr sz="1500" b="0">
                          <a:solidFill>
                            <a:srgbClr val="2B3139"/>
                          </a:solidFill>
                          <a:latin typeface="Geist"/>
                          <a:ea typeface="Geist"/>
                          <a:cs typeface="Geist"/>
                        </a:rPr>
                        <a:t>0.00%</a:t>
                      </a:r>
                    </a:p>
                  </a:txBody>
                  <a:tcPr anchor="ctr">
                    <a:solidFill>
                      <a:srgbClr val="FAF7F0"/>
                    </a:solidFill>
                  </a:tcPr>
                </a:tc>
                <a:tc>
                  <a:txBody>
                    <a:bodyPr/>
                    <a:lstStyle/>
                    <a:p>
                      <a:r>
                        <a:rPr sz="1500" b="0">
                          <a:solidFill>
                            <a:srgbClr val="2B3139"/>
                          </a:solidFill>
                          <a:latin typeface="Geist"/>
                          <a:ea typeface="Geist"/>
                          <a:cs typeface="Geist"/>
                        </a:rPr>
                        <a:t>3 requests/task</a:t>
                      </a:r>
                    </a:p>
                  </a:txBody>
                  <a:tcPr anchor="ctr">
                    <a:solidFill>
                      <a:srgbClr val="FAF7F0"/>
                    </a:solidFill>
                  </a:tcPr>
                </a:tc>
              </a:tr>
              <a:tr h="585216">
                <a:tc>
                  <a:txBody>
                    <a:bodyPr/>
                    <a:lstStyle/>
                    <a:p>
                      <a:r>
                        <a:rPr sz="1500" b="0">
                          <a:solidFill>
                            <a:srgbClr val="2B3139"/>
                          </a:solidFill>
                          <a:latin typeface="Geist"/>
                          <a:ea typeface="Geist"/>
                          <a:cs typeface="Geist"/>
                        </a:rPr>
                        <a:t>Gemma / all tasks</a:t>
                      </a:r>
                    </a:p>
                  </a:txBody>
                  <a:tcPr anchor="ctr">
                    <a:solidFill>
                      <a:srgbClr val="FFFFFF"/>
                    </a:solidFill>
                  </a:tcPr>
                </a:tc>
                <a:tc>
                  <a:txBody>
                    <a:bodyPr/>
                    <a:lstStyle/>
                    <a:p>
                      <a:r>
                        <a:rPr sz="1500" b="0">
                          <a:solidFill>
                            <a:srgbClr val="2B3139"/>
                          </a:solidFill>
                          <a:latin typeface="Geist"/>
                          <a:ea typeface="Geist"/>
                          <a:cs typeface="Geist"/>
                        </a:rPr>
                        <a:t>0.46%</a:t>
                      </a:r>
                    </a:p>
                  </a:txBody>
                  <a:tcPr anchor="ctr">
                    <a:solidFill>
                      <a:srgbClr val="FFFFFF"/>
                    </a:solidFill>
                  </a:tcPr>
                </a:tc>
                <a:tc>
                  <a:txBody>
                    <a:bodyPr/>
                    <a:lstStyle/>
                    <a:p>
                      <a:r>
                        <a:rPr sz="1500" b="0">
                          <a:solidFill>
                            <a:srgbClr val="2B3139"/>
                          </a:solidFill>
                          <a:latin typeface="Geist"/>
                          <a:ea typeface="Geist"/>
                          <a:cs typeface="Geist"/>
                        </a:rPr>
                        <a:t>-9.51%</a:t>
                      </a:r>
                    </a:p>
                  </a:txBody>
                  <a:tcPr anchor="ctr">
                    <a:solidFill>
                      <a:srgbClr val="FFFFFF"/>
                    </a:solidFill>
                  </a:tcPr>
                </a:tc>
                <a:tc>
                  <a:txBody>
                    <a:bodyPr/>
                    <a:lstStyle/>
                    <a:p>
                      <a:r>
                        <a:rPr sz="1500" b="0">
                          <a:solidFill>
                            <a:srgbClr val="2B3139"/>
                          </a:solidFill>
                          <a:latin typeface="Geist"/>
                          <a:ea typeface="Geist"/>
                          <a:cs typeface="Geist"/>
                        </a:rPr>
                        <a:t>9 requests</a:t>
                      </a:r>
                    </a:p>
                  </a:txBody>
                  <a:tcPr anchor="ctr">
                    <a:solidFill>
                      <a:srgbClr val="FFFFFF"/>
                    </a:solidFill>
                  </a:tcPr>
                </a:tc>
              </a:tr>
            </a:tbl>
          </a:graphicData>
        </a:graphic>
      </p:graphicFrame>
      <p:sp>
        <p:nvSpPr>
          <p:cNvPr id="7" name="Latency: ms/token in eager m">
            <a:extLst>
              <a:ext uri="{FF2B5EF4-FFF2-40B4-BE49-F238E27FC236}">
                <a16:creationId id="{34C07ED5-EDE9-455C-96B5-4AC1B6FCA4AA}"/>
              </a:ext>
            </a:extLst>
          </p:cNvPr>
          <p:cNvSpPr>
            <a:spLocks noGrp="1"/>
          </p:cNvSpPr>
          <p:nvPr/>
        </p:nvSpPr>
        <p:spPr>
          <a:xfrm>
            <a:off x="457200" y="5376672"/>
            <a:ext cx="11277295" cy="365760"/>
          </a:xfrm>
          <a:prstGeom prst="rect">
            <a:avLst/>
          </a:prstGeom>
          <a:noFill/>
          <a:ln w="0">
            <a:noFill/>
          </a:ln>
        </p:spPr>
        <p:txBody>
          <a:bodyPr wrap="square" lIns="0" tIns="0" rIns="0" bIns="0" anchor="t">
            <a:noAutofit/>
          </a:bodyPr>
          <a:lstStyle/>
          <a:p>
            <a:pPr algn="l">
              <a:defRPr sz="1350" b="0">
                <a:solidFill>
                  <a:srgbClr val="4A5B70"/>
                </a:solidFill>
                <a:latin typeface="Geist"/>
                <a:ea typeface="Geist"/>
                <a:cs typeface="Geist"/>
              </a:defRPr>
            </a:pPr>
            <a:r>
              <a:rPr sz="1350" b="0">
                <a:solidFill>
                  <a:srgbClr val="4A5B70"/>
                </a:solidFill>
                <a:latin typeface="Geist"/>
                <a:ea typeface="Geist"/>
                <a:cs typeface="Geist"/>
              </a:rPr>
              <a:t>Relative reduction in missing experts/event under cold calibrated-hybrid R replay. Negative = more misses.</a:t>
            </a:r>
          </a:p>
        </p:txBody>
      </p:sp>
      <p:sp>
        <p:nvSpPr>
          <p:cNvPr id="8"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9"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10"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Replay scope</a:t>
            </a:r>
          </a:p>
        </p:txBody>
      </p:sp>
      <p:sp>
        <p:nvSpPr>
          <p:cNvPr id="11"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R reroutes at recorded original hidden states. These are demand estimates; latency was not measured.</a:t>
            </a:r>
          </a:p>
        </p:txBody>
      </p:sp>
    </p:spTree>
    <p:extLst>
      <p:ext uri="{BB962C8B-B14F-4D97-AF65-F5344CB8AC3E}">
        <ns4:creationId val="800000"/>
      </p:ext>
    </p:extLst>
  </p:cSld>
  <p:clrMapOvr>
    <a:masterClrMapping/>
  </p:clrMapOvr>
</p:sld>
</file>

<file path=ppt/slides/slide28.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
        <p:nvSpPr>
          <p:cNvPr id="3" name="Text 0">
            <a:extLst>
              <a:ext uri="{FF2B5EF4-FFF2-40B4-BE49-F238E27FC236}">
                <a16:creationId id="{177745CE-3933-4233-BB72-16A268E1390F}"/>
              </a:ext>
            </a:extLst>
          </p:cNvPr>
          <p:cNvSpPr>
            <a:spLocks noGrp="1"/>
          </p:cNvSpPr>
          <p:nvPr/>
        </p:nvSpPr>
        <p:spPr>
          <a:xfrm>
            <a:off x="457189" y="457200"/>
            <a:ext cx="11734506" cy="182563"/>
          </a:xfrm>
          <a:prstGeom prst="rect">
            <a:avLst/>
          </a:prstGeom>
          <a:noFill/>
        </p:spPr>
        <p:txBody>
          <a:bodyPr wrap="none" lIns="0" tIns="0" rIns="0" bIns="0" anchor="t"/>
          <a:lstStyle/>
          <a:p>
            <a:pPr marL="0" indent="0" algn="l">
              <a:lnSpc>
                <a:spcPct val="104000"/>
              </a:lnSpc>
              <a:buNone/>
            </a:pPr>
            <a:r>
              <a:rPr sz="1150" spc="92">
                <a:solidFill>
                  <a:srgbClr val="4A5B70"/>
                </a:solidFill>
                <a:latin typeface="Geist SemiBold"/>
                <a:ea typeface="Geist SemiBold"/>
                <a:cs typeface="Geist SemiBold"/>
              </a:rPr>
              <a:t>STATIC PRUNING · DECISION AND NEXT STEP</a:t>
            </a:r>
          </a:p>
        </p:txBody>
      </p:sp>
      <p:sp>
        <p:nvSpPr>
          <p:cNvPr id="4" name="Text 1">
            <a:extLst>
              <a:ext uri="{FF2B5EF4-FFF2-40B4-BE49-F238E27FC236}">
                <a16:creationId id="{D8EE28E8-2CD0-4D08-A836-A1C22A291B51}"/>
              </a:ext>
            </a:extLst>
          </p:cNvPr>
          <p:cNvSpPr>
            <a:spLocks noGrp="1"/>
          </p:cNvSpPr>
          <p:nvPr/>
        </p:nvSpPr>
        <p:spPr>
          <a:xfrm>
            <a:off x="457189" y="731837"/>
            <a:ext cx="11277318" cy="432991"/>
          </a:xfrm>
          <a:prstGeom prst="rect">
            <a:avLst/>
          </a:prstGeom>
          <a:noFill/>
        </p:spPr>
        <p:txBody>
          <a:bodyPr wrap="none" lIns="0" tIns="0" rIns="0" bIns="0" anchor="t"/>
          <a:lstStyle/>
          <a:p>
            <a:pPr marL="0" indent="0" algn="l">
              <a:lnSpc>
                <a:spcPct val="92000"/>
              </a:lnSpc>
              <a:buNone/>
            </a:pPr>
            <a:r>
              <a:rPr sz="3100" spc="-31">
                <a:solidFill>
                  <a:srgbClr val="1B2638"/>
                </a:solidFill>
                <a:latin typeface="Newsreader Medium"/>
                <a:ea typeface="Newsreader Medium"/>
                <a:cs typeface="Newsreader Medium"/>
              </a:rPr>
              <a:t>No checkpoint passed every static activation check</a:t>
            </a:r>
          </a:p>
        </p:txBody>
      </p:sp>
      <p:sp>
        <p:nvSpPr>
          <p:cNvPr id="5" name="Shape 2">
            <a:extLst>
              <a:ext uri="{FF2B5EF4-FFF2-40B4-BE49-F238E27FC236}">
                <a16:creationId id="{0CDC242D-7860-433F-A3ED-5D5A41E0C2A2}"/>
              </a:ext>
            </a:extLst>
          </p:cNvPr>
          <p:cNvSpPr>
            <a:spLocks noGrp="1"/>
          </p:cNvSpPr>
          <p:nvPr/>
        </p:nvSpPr>
        <p:spPr>
          <a:xfrm>
            <a:off x="457189" y="1439466"/>
            <a:ext cx="11277318" cy="31651"/>
          </a:xfrm>
          <a:prstGeom prst="roundRect">
            <a:avLst>
              <a:gd name="adj" fmla="val 49998"/>
            </a:avLst>
          </a:prstGeom>
          <a:solidFill>
            <a:srgbClr val="4A5B70"/>
          </a:solidFill>
        </p:spPr>
        <p:txBody>
          <a:bodyPr/>
          <a:lstStyle/>
          <a:p>
            <a:endParaRPr/>
          </a:p>
        </p:txBody>
      </p:sp>
      <p:sp>
        <p:nvSpPr>
          <p:cNvPr id="6" name="Reproduction complete">
            <a:extLst>
              <a:ext uri="{FF2B5EF4-FFF2-40B4-BE49-F238E27FC236}">
                <a16:creationId id="{4ECA6FF7-A24A-48F4-9470-401E23849A37}"/>
              </a:ext>
            </a:extLst>
          </p:cNvPr>
          <p:cNvSpPr>
            <a:spLocks noGrp="1"/>
          </p:cNvSpPr>
          <p:nvPr/>
        </p:nvSpPr>
        <p:spPr>
          <a:xfrm>
            <a:off x="457200" y="1810512"/>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Coverage and stability answer different questions</a:t>
            </a:r>
          </a:p>
        </p:txBody>
      </p:sp>
      <p:sp>
        <p:nvSpPr>
          <p:cNvPr id="7" name="Read the paper, reproduced t">
            <a:extLst>
              <a:ext uri="{FF2B5EF4-FFF2-40B4-BE49-F238E27FC236}">
                <a16:creationId id="{7BC0B933-8CCA-43FF-98D1-732B75D8B253}"/>
              </a:ext>
            </a:extLst>
          </p:cNvPr>
          <p:cNvSpPr>
            <a:spLocks noGrp="1"/>
          </p:cNvSpPr>
          <p:nvPr/>
        </p:nvSpPr>
        <p:spPr>
          <a:xfrm>
            <a:off x="457200" y="2173529"/>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Require access-CI lower bound &gt;= 98%, retained-weight-CI lower bound &gt;= 99%, and protection for weak requests, layers and 64-token windows. Ranking stability passed.</a:t>
            </a:r>
          </a:p>
        </p:txBody>
      </p:sp>
      <p:sp>
        <p:nvSpPr>
          <p:cNvPr id="8" name="Reproduction complete">
            <a:extLst>
              <a:ext uri="{FF2B5EF4-FFF2-40B4-BE49-F238E27FC236}">
                <a16:creationId id="{4ECA6FF7-A24A-48F4-9470-401E23849A37}"/>
              </a:ext>
            </a:extLst>
          </p:cNvPr>
          <p:cNvSpPr>
            <a:spLocks noGrp="1"/>
          </p:cNvSpPr>
          <p:nvPr/>
        </p:nvSpPr>
        <p:spPr>
          <a:xfrm>
            <a:off x="457200" y="2971800"/>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The systems screen also failed</a:t>
            </a:r>
          </a:p>
        </p:txBody>
      </p:sp>
      <p:sp>
        <p:nvSpPr>
          <p:cNvPr id="9" name="Read the paper, reproduced t">
            <a:extLst>
              <a:ext uri="{FF2B5EF4-FFF2-40B4-BE49-F238E27FC236}">
                <a16:creationId id="{7BC0B933-8CCA-43FF-98D1-732B75D8B253}"/>
              </a:ext>
            </a:extLst>
          </p:cNvPr>
          <p:cNvSpPr>
            <a:spLocks noGrp="1"/>
          </p:cNvSpPr>
          <p:nvPr/>
        </p:nvSpPr>
        <p:spPr>
          <a:xfrm>
            <a:off x="457200" y="3334817"/>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Native R replay needed at least 5% fixed-cache miss reduction in every workload. Qwen reached 0.87-2.24%; GPT-OSS 0%; repaired Gemma averaged 0.46%.</a:t>
            </a:r>
          </a:p>
        </p:txBody>
      </p:sp>
      <p:sp>
        <p:nvSpPr>
          <p:cNvPr id="10" name="Reproduction complete">
            <a:extLst>
              <a:ext uri="{FF2B5EF4-FFF2-40B4-BE49-F238E27FC236}">
                <a16:creationId id="{4ECA6FF7-A24A-48F4-9470-401E23849A37}"/>
              </a:ext>
            </a:extLst>
          </p:cNvPr>
          <p:cNvSpPr>
            <a:spLocks noGrp="1"/>
          </p:cNvSpPr>
          <p:nvPr/>
        </p:nvSpPr>
        <p:spPr>
          <a:xfrm>
            <a:off x="457200" y="4133088"/>
            <a:ext cx="11277295" cy="304770"/>
          </a:xfrm>
          <a:prstGeom prst="rect">
            <a:avLst/>
          </a:prstGeom>
          <a:noFill/>
          <a:ln w="0">
            <a:noFill/>
          </a:ln>
        </p:spPr>
        <p:txBody>
          <a:bodyPr wrap="square" lIns="0" tIns="0" rIns="0" bIns="0" anchor="t">
            <a:noAutofit/>
          </a:bodyPr>
          <a:lstStyle/>
          <a:p>
            <a:pPr algn="l">
              <a:defRPr sz="1650" b="1">
                <a:solidFill>
                  <a:srgbClr val="2B3139"/>
                </a:solidFill>
                <a:latin typeface="Geist"/>
                <a:ea typeface="Geist"/>
                <a:cs typeface="Geist"/>
              </a:defRPr>
            </a:pPr>
            <a:r>
              <a:rPr sz="1650" b="1">
                <a:solidFill>
                  <a:srgbClr val="2B3139"/>
                </a:solidFill>
                <a:latin typeface="Geist"/>
                <a:ea typeface="Geist"/>
                <a:cs typeface="Geist"/>
              </a:rPr>
              <a:t>Next: actual inference with 25% of experts excluded</a:t>
            </a:r>
          </a:p>
        </p:txBody>
      </p:sp>
      <p:sp>
        <p:nvSpPr>
          <p:cNvPr id="11" name="Read the paper, reproduced t">
            <a:extLst>
              <a:ext uri="{FF2B5EF4-FFF2-40B4-BE49-F238E27FC236}">
                <a16:creationId id="{7BC0B933-8CCA-43FF-98D1-732B75D8B253}"/>
              </a:ext>
            </a:extLst>
          </p:cNvPr>
          <p:cNvSpPr>
            <a:spLocks noGrp="1"/>
          </p:cNvSpPr>
          <p:nvPr/>
        </p:nvSpPr>
        <p:spPr>
          <a:xfrm>
            <a:off x="457200" y="4496105"/>
            <a:ext cx="11277295" cy="640080"/>
          </a:xfrm>
          <a:prstGeom prst="rect">
            <a:avLst/>
          </a:prstGeom>
          <a:noFill/>
          <a:ln w="0">
            <a:noFill/>
          </a:ln>
        </p:spPr>
        <p:txBody>
          <a:bodyPr wrap="square" lIns="0" tIns="0" rIns="0" bIns="0" anchor="t">
            <a:noAutofit/>
          </a:bodyPr>
          <a:lstStyle/>
          <a:p>
            <a:pPr algn="l">
              <a:defRPr sz="1600" b="0">
                <a:solidFill>
                  <a:srgbClr val="2B3139"/>
                </a:solidFill>
                <a:latin typeface="Geist"/>
                <a:ea typeface="Geist"/>
                <a:cs typeface="Geist"/>
              </a:defRPr>
            </a:pPr>
            <a:r>
              <a:rPr sz="1600" b="0">
                <a:solidFill>
                  <a:srgbClr val="2B3139"/>
                </a:solidFill>
                <a:latin typeface="Geist"/>
                <a:ea typeface="Geist"/>
                <a:cs typeface="Geist"/>
              </a:rPr>
              <a:t>A separate autoregressive 75%-retention study is evaluating task quality and serving performance despite the failed static screens. The 60% and 50% ablations follow later.</a:t>
            </a:r>
          </a:p>
        </p:txBody>
      </p:sp>
      <p:sp>
        <p:nvSpPr>
          <p:cNvPr id="12" name="Rectangle 22">
            <a:extLst>
              <a:ext uri="{FF2B5EF4-FFF2-40B4-BE49-F238E27FC236}">
                <a16:creationId id="{164B2D1F-C6DE-4423-B35A-71C2B445D8A6}"/>
              </a:ext>
            </a:extLst>
          </p:cNvPr>
          <p:cNvSpPr>
            <a:spLocks noGrp="1"/>
          </p:cNvSpPr>
          <p:nvPr/>
        </p:nvSpPr>
        <p:spPr>
          <a:xfrm>
            <a:off x="457200" y="6096000"/>
            <a:ext cx="11277600" cy="523875"/>
          </a:xfrm>
          <a:prstGeom prst="rect">
            <a:avLst/>
          </a:prstGeom>
          <a:solidFill>
            <a:srgbClr val="EFEAE0"/>
          </a:solidFill>
          <a:ln w="0">
            <a:noFill/>
          </a:ln>
        </p:spPr>
        <p:txBody>
          <a:bodyPr wrap="square" lIns="0" tIns="0" rIns="0" bIns="0" anchor="t">
            <a:noAutofit/>
          </a:bodyPr>
          <a:lstStyle/>
          <a:p>
            <a:endParaRPr/>
          </a:p>
        </p:txBody>
      </p:sp>
      <p:sp>
        <p:nvSpPr>
          <p:cNvPr id="13" name="Rectangle 23">
            <a:extLst>
              <a:ext uri="{FF2B5EF4-FFF2-40B4-BE49-F238E27FC236}">
                <a16:creationId id="{55DA9B5D-12E2-4697-87A4-8C097B0E0BBD}"/>
              </a:ext>
            </a:extLst>
          </p:cNvPr>
          <p:cNvSpPr>
            <a:spLocks noGrp="1"/>
          </p:cNvSpPr>
          <p:nvPr/>
        </p:nvSpPr>
        <p:spPr>
          <a:xfrm>
            <a:off x="457200" y="6096000"/>
            <a:ext cx="28575" cy="523875"/>
          </a:xfrm>
          <a:prstGeom prst="rect">
            <a:avLst/>
          </a:prstGeom>
          <a:solidFill>
            <a:srgbClr val="7A2331"/>
          </a:solidFill>
          <a:ln w="0">
            <a:noFill/>
          </a:ln>
        </p:spPr>
        <p:txBody>
          <a:bodyPr wrap="square" lIns="0" tIns="0" rIns="0" bIns="0" anchor="t">
            <a:noAutofit/>
          </a:bodyPr>
          <a:lstStyle/>
          <a:p>
            <a:endParaRPr/>
          </a:p>
        </p:txBody>
      </p:sp>
      <p:sp>
        <p:nvSpPr>
          <p:cNvPr id="14" name="Validation scope">
            <a:extLst>
              <a:ext uri="{FF2B5EF4-FFF2-40B4-BE49-F238E27FC236}">
                <a16:creationId id="{2F05233B-BCDD-418E-B732-EBA457128754}"/>
              </a:ext>
            </a:extLst>
          </p:cNvPr>
          <p:cNvSpPr>
            <a:spLocks noGrp="1"/>
          </p:cNvSpPr>
          <p:nvPr/>
        </p:nvSpPr>
        <p:spPr>
          <a:xfrm>
            <a:off x="647700" y="6219825"/>
            <a:ext cx="1428750" cy="381000"/>
          </a:xfrm>
          <a:prstGeom prst="rect">
            <a:avLst/>
          </a:prstGeom>
          <a:noFill/>
          <a:ln w="0">
            <a:noFill/>
          </a:ln>
        </p:spPr>
        <p:txBody>
          <a:bodyPr wrap="square" lIns="0" tIns="0" rIns="0" bIns="0" anchor="t">
            <a:noAutofit/>
          </a:bodyPr>
          <a:lstStyle/>
          <a:p>
            <a:pPr algn="l">
              <a:defRPr sz="1425" b="1">
                <a:solidFill>
                  <a:srgbClr val="7A2331"/>
                </a:solidFill>
                <a:latin typeface="Geist"/>
                <a:ea typeface="Geist"/>
                <a:cs typeface="Geist"/>
              </a:defRPr>
            </a:pPr>
            <a:r>
              <a:rPr sz="1425" b="1">
                <a:solidFill>
                  <a:srgbClr val="7A2331"/>
                </a:solidFill>
                <a:latin typeface="Geist"/>
                <a:ea typeface="Geist"/>
                <a:cs typeface="Geist"/>
              </a:rPr>
              <a:t>Conclusion</a:t>
            </a:r>
          </a:p>
        </p:txBody>
      </p:sp>
      <p:sp>
        <p:nvSpPr>
          <p:cNvPr id="15" name="gpt-oss-20b, RTX 4070 + Ryze">
            <a:extLst>
              <a:ext uri="{FF2B5EF4-FFF2-40B4-BE49-F238E27FC236}">
                <a16:creationId id="{223D033E-85FD-4673-A605-205777992A9E}"/>
              </a:ext>
            </a:extLst>
          </p:cNvPr>
          <p:cNvSpPr>
            <a:spLocks noGrp="1"/>
          </p:cNvSpPr>
          <p:nvPr/>
        </p:nvSpPr>
        <p:spPr>
          <a:xfrm>
            <a:off x="2076450" y="6219825"/>
            <a:ext cx="9458325" cy="381000"/>
          </a:xfrm>
          <a:prstGeom prst="rect">
            <a:avLst/>
          </a:prstGeom>
          <a:noFill/>
          <a:ln w="0">
            <a:noFill/>
          </a:ln>
        </p:spPr>
        <p:txBody>
          <a:bodyPr wrap="square" lIns="0" tIns="0" rIns="0" bIns="0" anchor="t">
            <a:noAutofit/>
          </a:bodyPr>
          <a:lstStyle/>
          <a:p>
            <a:pPr algn="l">
              <a:defRPr sz="1425" b="0">
                <a:solidFill>
                  <a:srgbClr val="2B3139"/>
                </a:solidFill>
                <a:latin typeface="Geist"/>
                <a:ea typeface="Geist"/>
                <a:cs typeface="Geist"/>
              </a:defRPr>
            </a:pPr>
            <a:r>
              <a:rPr sz="1425" b="0">
                <a:solidFill>
                  <a:srgbClr val="2B3139"/>
                </a:solidFill>
                <a:latin typeface="Geist"/>
                <a:ea typeface="Geist"/>
                <a:cs typeface="Geist"/>
              </a:rPr>
              <a:t>Static routing evidence did not qualify deployment. The current inference study has its own evaluation.</a:t>
            </a:r>
          </a:p>
        </p:txBody>
      </p:sp>
    </p:spTree>
    <p:extLst>
      <p:ext uri="{BB962C8B-B14F-4D97-AF65-F5344CB8AC3E}">
        <ns4:creationId val="800000"/>
      </p:ext>
    </p:extLst>
  </p:cSld>
  <p:clrMapOvr>
    <a:masterClrMapping/>
  </p:clrMapOvr>
</p:sld>
</file>

<file path=ppt/slides/slide29.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ns3:creationId val="800000"/>
      </p:ext>
    </p:extLst>
  </p:cSld>
  <p:clrMapOvr>
    <a:masterClrMapping/>
  </p:clrMapOvr>
</p:sld>
</file>

<file path=ppt/slides/slide30.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Picture 17"/>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ns3:creationId val="8000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ns0:Properties xmlns:ns0="http://schemas.openxmlformats.org/officeDocument/2006/extended-properties" xmlns:ns1="http://schemas.openxmlformats.org/officeDocument/2006/docPropsVTypes">
  <ns0:TotalTime>0</ns0:TotalTime>
  <ns0:Words>4587</ns0:Words>
  <ns0:Application>Microsoft Office PowerPoint</ns0:Application>
  <ns0:DocSecurity>0</ns0:DocSecurity>
  <ns0:PresentationFormat>Widescreen</ns0:PresentationFormat>
  <ns0:Paragraphs>323</ns0:Paragraphs>
  <ns0:Slides>30</ns0:Slides>
  <ns0:Notes>30</ns0:Notes>
  <ns0:HiddenSlides>0</ns0:HiddenSlides>
  <ns0:MMClips>0</ns0:MMClips>
  <ns0:ScaleCrop>false</ns0:ScaleCrop>
  <ns0:HeadingPairs>
    <ns1:vector size="6" baseType="variant">
      <ns1:variant>
        <ns1:lpstr>Fonts Used</ns1:lpstr>
      </ns1:variant>
      <ns1:variant>
        <ns1:i4>6</ns1:i4>
      </ns1:variant>
      <ns1:variant>
        <ns1:lpstr>Theme</ns1:lpstr>
      </ns1:variant>
      <ns1:variant>
        <ns1:i4>1</ns1:i4>
      </ns1:variant>
      <ns1:variant>
        <ns1:lpstr>Slide Titles</ns1:lpstr>
      </ns1:variant>
      <ns1:variant>
        <ns1:i4>30</ns1:i4>
      </ns1:variant>
    </ns1:vector>
  </ns0:HeadingPairs>
  <ns0:TitlesOfParts>
    <ns1:vector size="37" baseType="lpstr">
      <ns1:lpstr>Geist</ns1:lpstr>
      <ns1:lpstr>Calibri</ns1:lpstr>
      <ns1:lpstr>Geist SemiBold</ns1:lpstr>
      <ns1:lpstr>Newsreader</ns1:lpstr>
      <ns1:lpstr>Newsreader Medium</ns1:lpstr>
      <ns1:lpstr>Arial</ns1:lpstr>
      <ns1:lpstr>Office Theme</ns1:lpstr>
      <ns1:lpstr>FreeToken reproduction and experimental context</ns1:lpstr>
      <ns1:lpstr>Two objectives for this week</ns1:lpstr>
      <ns1:lpstr>Can a fixed expert set reduce missing work?</ns1:lpstr>
      <ns1:lpstr>Three supported MoE configurations on one device</ns1:lpstr>
      <ns1:lpstr>Task-specific masks preserve most decode accesses</ns1:lpstr>
      <ns1:lpstr>A task-specific mask can lose coverage on another task</ns1:lpstr>
      <ns1:lpstr>Decode rankings transfer poorly to prefill</ns1:lpstr>
      <ns1:lpstr>Stable rankings can still omit important routes</ns1:lpstr>
      <ns1:lpstr>Rerouting gives little benefit at the fixed cache budget</ns1:lpstr>
      <ns1:lpstr>No checkpoint passed every static activation check</ns1:lpstr>
      <ns1:lpstr/>
      <ns1:lpstr/>
      <ns1:lpstr>A broader policy for choosing q</ns1:lpstr>
      <ns1:lpstr>Predict cost for context x and candidate q</ns1:lpstr>
      <ns1:lpstr>Features describing current execution cost</ns1:lpstr>
      <ns1:lpstr>Features describing cache value and runtime state</ns1:lpstr>
      <ns1:lpstr>Record the context, action and measured outcome</ns1:lpstr>
      <ns1:lpstr>The cost target must include later cache effects</ns1:lpstr>
      <ns1:lpstr>Linear, Ridge and ANN cost models</ns1:lpstr>
      <ns1:lpstr>How the trained model selects q at runtime</ns1:lpstr>
      <ns1:lpstr>Contextual bandits and measured policy quality</ns1:lpstr>
      <ns1:lpstr>Cache residency provided the decisive signal</ns1:lpstr>
      <ns1:lpstr>Fetching is a cost now with a possible payoff later</ns1:lpstr>
      <ns1:lpstr>Immediate cost comes from the slower branch</ns1:lpstr>
      <ns1:lpstr>Future benefit depends on reuse and residency</ns1:lpstr>
      <ns1:lpstr>The final rule compares benefit with marginal cost</ns1:lpstr>
      <ns1:lpstr>Reuse-Aware improved sustained decode on this setup</ns1:lpstr>
      <ns1:lpstr>Most runtime-aware policies beat q*; ANN and GBM did not</ns1:lpstr>
      <ns1:lpstr>Reuse-Aware variants stay closest to the best policy</ns1:lpstr>
      <ns1:lpstr>Reuse-Aware generalised; Ridge and Linear did not</ns1:lpstr>
    </ns1:vector>
  </ns0:TitlesOfParts>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APPANA SAKETH</cp:lastModifiedBy>
  <cp:revision>1</cp:revision>
  <dcterms:created xsi:type="dcterms:W3CDTF">2026-10-08T03:33:13Z</dcterms:created>
  <dcterms:modified xsi:type="dcterms:W3CDTF">2026-10-08T03:50:34Z</dcterms:modified>
</cp:coreProperties>
</file>